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311" r:id="rId7"/>
    <p:sldId id="310" r:id="rId8"/>
    <p:sldId id="294" r:id="rId9"/>
    <p:sldId id="312" r:id="rId10"/>
    <p:sldId id="314" r:id="rId11"/>
    <p:sldId id="313" r:id="rId12"/>
    <p:sldId id="315" r:id="rId13"/>
    <p:sldId id="319" r:id="rId14"/>
    <p:sldId id="316" r:id="rId15"/>
    <p:sldId id="320" r:id="rId16"/>
    <p:sldId id="321" r:id="rId17"/>
    <p:sldId id="322" r:id="rId18"/>
    <p:sldId id="324" r:id="rId19"/>
    <p:sldId id="323" r:id="rId20"/>
    <p:sldId id="325" r:id="rId21"/>
    <p:sldId id="326" r:id="rId22"/>
    <p:sldId id="327" r:id="rId23"/>
    <p:sldId id="297" r:id="rId24"/>
    <p:sldId id="329" r:id="rId25"/>
    <p:sldId id="330" r:id="rId26"/>
    <p:sldId id="331" r:id="rId27"/>
    <p:sldId id="332" r:id="rId28"/>
    <p:sldId id="333" r:id="rId29"/>
    <p:sldId id="298" r:id="rId30"/>
    <p:sldId id="299" r:id="rId31"/>
    <p:sldId id="300" r:id="rId32"/>
    <p:sldId id="301" r:id="rId33"/>
    <p:sldId id="302" r:id="rId34"/>
    <p:sldId id="304" r:id="rId35"/>
    <p:sldId id="303" r:id="rId36"/>
    <p:sldId id="305" r:id="rId37"/>
    <p:sldId id="309" r:id="rId38"/>
    <p:sldId id="277" r:id="rId3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1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5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1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3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5.xml"/><Relationship Id="rId2" Type="http://schemas.openxmlformats.org/officeDocument/2006/relationships/image" Target="../media/image4.png"/><Relationship Id="rId1" Type="http://schemas.openxmlformats.org/officeDocument/2006/relationships/tags" Target="../tags/tag36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7.xml"/><Relationship Id="rId1" Type="http://schemas.openxmlformats.org/officeDocument/2006/relationships/tags" Target="../tags/tag3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71.xml"/><Relationship Id="rId1" Type="http://schemas.openxmlformats.org/officeDocument/2006/relationships/tags" Target="../tags/tag37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73.xml"/><Relationship Id="rId1" Type="http://schemas.openxmlformats.org/officeDocument/2006/relationships/tags" Target="../tags/tag37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75.xml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77.xml"/><Relationship Id="rId1" Type="http://schemas.openxmlformats.org/officeDocument/2006/relationships/tags" Target="../tags/tag37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9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78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8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380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8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8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5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384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tags" Target="../tags/tag38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9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tags" Target="../tags/tag388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9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390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93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tags" Target="../tags/tag39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" Type="http://schemas.openxmlformats.org/officeDocument/2006/relationships/tags" Target="../tags/tag3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026.03.18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03675"/>
            <a:ext cx="117557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4780" y="39008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如何求出</a:t>
            </a:r>
            <a:r>
              <a:rPr lang="en-US" altLang="zh-CN"/>
              <a:t>x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因为后面需要进行</a:t>
            </a:r>
            <a:r>
              <a:rPr lang="zh-CN" altLang="en-US">
                <a:solidFill>
                  <a:srgbClr val="2177F9"/>
                </a:solidFill>
              </a:rPr>
              <a:t>针对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的查表</a:t>
            </a:r>
            <a:r>
              <a:rPr lang="zh-CN" altLang="en-US"/>
              <a:t>操作，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zh-CN" altLang="en-US">
                <a:solidFill>
                  <a:srgbClr val="FF0000"/>
                </a:solidFill>
              </a:rPr>
              <a:t>对表进行</a:t>
            </a:r>
            <a:r>
              <a:rPr lang="en-US" altLang="zh-CN">
                <a:solidFill>
                  <a:srgbClr val="FF0000"/>
                </a:solidFill>
              </a:rPr>
              <a:t>flush and reload</a:t>
            </a:r>
            <a:r>
              <a:rPr lang="zh-CN" altLang="en-US">
                <a:solidFill>
                  <a:srgbClr val="FF0000"/>
                </a:solidFill>
              </a:rPr>
              <a:t>监测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进而</a:t>
            </a:r>
            <a:r>
              <a:rPr lang="zh-CN" altLang="en-US">
                <a:solidFill>
                  <a:srgbClr val="2177F9"/>
                </a:solidFill>
              </a:rPr>
              <a:t>泄露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的值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密钥预处理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128</a:t>
            </a:r>
            <a:r>
              <a:rPr lang="zh-CN" altLang="en-US">
                <a:ln>
                  <a:noFill/>
                </a:ln>
              </a:rPr>
              <a:t>位种子密钥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按列填充到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的矩阵中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密钥扩展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扩展出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11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个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 128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位的子密钥</a:t>
            </a:r>
            <a:r>
              <a:rPr lang="zh-CN" altLang="en-US">
                <a:ln>
                  <a:noFill/>
                </a:ln>
              </a:rPr>
              <a:t>，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</a:rPr>
              <a:t>                   </a:t>
            </a:r>
            <a:r>
              <a:rPr lang="zh-CN" altLang="en-US">
                <a:ln>
                  <a:noFill/>
                </a:ln>
              </a:rPr>
              <a:t>每个子密钥也是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的字节矩阵。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明文处理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   </a:t>
            </a:r>
            <a:r>
              <a:rPr lang="zh-CN" altLang="en-US">
                <a:ln>
                  <a:noFill/>
                </a:ln>
              </a:rPr>
              <a:t>取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>
                <a:ln>
                  <a:noFill/>
                </a:ln>
              </a:rPr>
              <a:t>明文（分组加密）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经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11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</a:t>
            </a:r>
            <a:r>
              <a:rPr lang="zh-CN" altLang="en-US">
                <a:ln>
                  <a:noFill/>
                </a:ln>
              </a:rPr>
              <a:t>加密：</a:t>
            </a:r>
            <a:endParaRPr lang="en-US" altLang="zh-CN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初始轮</a:t>
            </a:r>
            <a:r>
              <a:rPr lang="zh-CN" altLang="en-US">
                <a:ln>
                  <a:noFill/>
                </a:ln>
              </a:rPr>
              <a:t>：仅进行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（与第</a:t>
            </a:r>
            <a:r>
              <a:rPr lang="en-US" altLang="zh-CN">
                <a:ln>
                  <a:noFill/>
                </a:ln>
              </a:rPr>
              <a:t> 0 </a:t>
            </a:r>
            <a:r>
              <a:rPr lang="zh-CN" altLang="en-US">
                <a:ln>
                  <a:noFill/>
                </a:ln>
              </a:rPr>
              <a:t>轮密钥异或）。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轮标准轮</a:t>
            </a:r>
            <a:r>
              <a:rPr lang="zh-CN" altLang="en-US">
                <a:ln>
                  <a:noFill/>
                </a:ln>
              </a:rPr>
              <a:t>：每轮依次执行</a:t>
            </a:r>
            <a:r>
              <a:rPr lang="en-US" altLang="zh-CN">
                <a:ln>
                  <a:noFill/>
                </a:ln>
              </a:rPr>
              <a:t>            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最终轮</a:t>
            </a:r>
            <a:r>
              <a:rPr lang="zh-CN" altLang="en-US">
                <a:ln>
                  <a:noFill/>
                </a:ln>
              </a:rPr>
              <a:t>：依次执行</a:t>
            </a:r>
            <a:r>
              <a:rPr lang="en-US" altLang="zh-CN">
                <a:ln>
                  <a:noFill/>
                </a:ln>
              </a:rPr>
              <a:t>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（没有</a:t>
            </a:r>
            <a:r>
              <a:rPr lang="en-US" altLang="zh-CN">
                <a:ln>
                  <a:noFill/>
                </a:ln>
              </a:rPr>
              <a:t> MixColumns</a:t>
            </a:r>
            <a:r>
              <a:rPr lang="zh-CN" altLang="en-US">
                <a:ln>
                  <a:noFill/>
                </a:ln>
              </a:rPr>
              <a:t>）。</a:t>
            </a:r>
            <a:endParaRPr lang="zh-CN" altLang="en-US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可以预先计算</a:t>
            </a:r>
            <a:r>
              <a:rPr lang="en-US" altLang="zh-CN">
                <a:ln>
                  <a:noFill/>
                </a:ln>
                <a:sym typeface="+mn-ea"/>
              </a:rPr>
              <a:t>SubBytes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ShiftRows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MixColumns</a:t>
            </a:r>
            <a:r>
              <a:rPr lang="zh-CN" altLang="en-US">
                <a:ln>
                  <a:noFill/>
                </a:ln>
                <a:sym typeface="+mn-ea"/>
              </a:rPr>
              <a:t>，得到</a:t>
            </a:r>
            <a:r>
              <a:rPr lang="en-US" altLang="zh-CN">
                <a:ln>
                  <a:noFill/>
                </a:ln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ym typeface="+mn-ea"/>
              </a:rPr>
              <a:t>张</a:t>
            </a:r>
            <a:r>
              <a:rPr lang="en-US" altLang="zh-CN">
                <a:ln>
                  <a:noFill/>
                </a:ln>
                <a:sym typeface="+mn-ea"/>
              </a:rPr>
              <a:t>256</a:t>
            </a:r>
            <a:r>
              <a:rPr lang="zh-CN" altLang="en-US">
                <a:ln>
                  <a:noFill/>
                </a:ln>
                <a:sym typeface="+mn-ea"/>
              </a:rPr>
              <a:t>×</a:t>
            </a:r>
            <a:r>
              <a:rPr lang="en-US" altLang="zh-CN">
                <a:ln>
                  <a:noFill/>
                </a:ln>
                <a:sym typeface="+mn-ea"/>
              </a:rPr>
              <a:t>32bit</a:t>
            </a:r>
            <a:r>
              <a:rPr lang="zh-CN" altLang="en-US">
                <a:ln>
                  <a:noFill/>
                </a:ln>
                <a:sym typeface="+mn-ea"/>
              </a:rPr>
              <a:t>的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表（</a:t>
            </a:r>
            <a:r>
              <a:rPr lang="en-US" altLang="zh-CN">
                <a:ln>
                  <a:noFill/>
                </a:ln>
                <a:sym typeface="+mn-ea"/>
              </a:rPr>
              <a:t>Te0~Te3</a:t>
            </a:r>
            <a:r>
              <a:rPr lang="zh-CN" altLang="en-US">
                <a:ln>
                  <a:noFill/>
                </a:ln>
                <a:sym typeface="+mn-ea"/>
              </a:rPr>
              <a:t>）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en-US" altLang="zh-CN">
                <a:ln>
                  <a:noFill/>
                </a:ln>
                <a:sym typeface="+mn-ea"/>
              </a:rPr>
              <a:t>9</a:t>
            </a:r>
            <a:r>
              <a:rPr lang="zh-CN" altLang="en-US">
                <a:ln>
                  <a:noFill/>
                </a:ln>
                <a:sym typeface="+mn-ea"/>
              </a:rPr>
              <a:t>轮标准轮：每轮输入状态直接通过查询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表得到结果，然后与轮密钥异或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最终轮：仍然使用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表，但只提取其包含的</a:t>
            </a:r>
            <a:r>
              <a:rPr lang="en-US" altLang="zh-CN">
                <a:ln>
                  <a:noFill/>
                </a:ln>
                <a:sym typeface="+mn-ea"/>
              </a:rPr>
              <a:t>S</a:t>
            </a:r>
            <a:r>
              <a:rPr lang="zh-CN" altLang="en-US">
                <a:ln>
                  <a:noFill/>
                </a:ln>
                <a:sym typeface="+mn-ea"/>
              </a:rPr>
              <a:t>盒结果的那些字节（因为不进行列混淆），然后与轮密钥异或</a:t>
            </a:r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117975" y="2373630"/>
            <a:ext cx="1482725" cy="33528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046470" y="2382520"/>
            <a:ext cx="4465955" cy="3257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2880" y="288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轮密钥加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5939790" y="171831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- T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5899150"/>
            <a:ext cx="766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攻击方法：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flush and reload +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排除法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54190" y="4418330"/>
            <a:ext cx="5034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这样，通过多次加密不同样本，正确密钥值被排除的次数极少，而错误候选被大量排除，最终选择</a:t>
            </a:r>
            <a:r>
              <a:rPr lang="zh-CN" altLang="en-US">
                <a:solidFill>
                  <a:srgbClr val="FF0000"/>
                </a:solidFill>
              </a:rPr>
              <a:t>被排除次数最少的候选作为恢复的密钥字节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35775" y="4403725"/>
            <a:ext cx="5074920" cy="98869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2.5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攻击原理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概率论视角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0965" y="1137920"/>
            <a:ext cx="11884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每个</a:t>
            </a:r>
            <a:r>
              <a:rPr lang="en-US" altLang="zh-CN">
                <a:solidFill>
                  <a:srgbClr val="2177F9"/>
                </a:solidFill>
              </a:rPr>
              <a:t> T </a:t>
            </a:r>
            <a:r>
              <a:rPr lang="zh-CN" altLang="en-US">
                <a:solidFill>
                  <a:srgbClr val="2177F9"/>
                </a:solidFill>
              </a:rPr>
              <a:t>表在一次加密中被访问</a:t>
            </a:r>
            <a:r>
              <a:rPr lang="en-US" altLang="zh-CN">
                <a:solidFill>
                  <a:srgbClr val="2177F9"/>
                </a:solidFill>
              </a:rPr>
              <a:t> 40 </a:t>
            </a:r>
            <a:r>
              <a:rPr lang="zh-CN" altLang="en-US">
                <a:solidFill>
                  <a:srgbClr val="2177F9"/>
                </a:solidFill>
              </a:rPr>
              <a:t>次</a:t>
            </a:r>
            <a:r>
              <a:rPr lang="zh-CN" altLang="en-US"/>
              <a:t>（</a:t>
            </a:r>
            <a:r>
              <a:rPr lang="en-US" altLang="zh-CN"/>
              <a:t>10 </a:t>
            </a:r>
            <a:r>
              <a:rPr lang="zh-CN" altLang="en-US"/>
              <a:t>轮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每轮</a:t>
            </a:r>
            <a:r>
              <a:rPr lang="en-US" altLang="zh-CN"/>
              <a:t> 4 </a:t>
            </a:r>
            <a:r>
              <a:rPr lang="zh-CN" altLang="en-US"/>
              <a:t>次）。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每次访问的输入字节均匀随机，落在监控范围 0~15 的概率为 16/256 = 1/16，不落在的概率为 15/16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2177F9"/>
                </a:solidFill>
              </a:rPr>
              <a:t>每个 T 表在单次加密中未被访问的概率为 p = (15/16)^40 ≈ 0.0756</a:t>
            </a:r>
            <a:r>
              <a:rPr lang="zh-CN" altLang="en-US"/>
              <a:t>。由于有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T </a:t>
            </a:r>
            <a:r>
              <a:rPr lang="zh-CN" altLang="en-US"/>
              <a:t>表，且每个表未命中时会影响该表负责的</a:t>
            </a:r>
            <a:r>
              <a:rPr lang="en-US" altLang="zh-CN"/>
              <a:t> 4 </a:t>
            </a:r>
            <a:r>
              <a:rPr lang="zh-CN" altLang="en-US"/>
              <a:t>个密钥字节（每个字节排除</a:t>
            </a:r>
            <a:r>
              <a:rPr lang="en-US" altLang="zh-CN"/>
              <a:t> 16 </a:t>
            </a:r>
            <a:r>
              <a:rPr lang="zh-CN" altLang="en-US"/>
              <a:t>个候选值），因此</a:t>
            </a:r>
            <a:r>
              <a:rPr lang="zh-CN" altLang="en-US">
                <a:solidFill>
                  <a:srgbClr val="2177F9"/>
                </a:solidFill>
              </a:rPr>
              <a:t>一次加密中期望排除的候选总次数为：4 × p × 4 × 16 = 256p ≈ 256 × 0.0756 ≈ 19.35 次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/>
          </a:p>
          <a:p>
            <a:r>
              <a:rPr lang="zh-CN" altLang="en-US"/>
              <a:t>这表示平均每次加密会在所有</a:t>
            </a:r>
            <a:r>
              <a:rPr lang="en-US" altLang="zh-CN"/>
              <a:t> 16 </a:t>
            </a:r>
            <a:r>
              <a:rPr lang="zh-CN" altLang="en-US"/>
              <a:t>个密钥字节上累计增加约</a:t>
            </a:r>
            <a:r>
              <a:rPr lang="en-US" altLang="zh-CN"/>
              <a:t> 19.35 </a:t>
            </a:r>
            <a:r>
              <a:rPr lang="zh-CN" altLang="en-US"/>
              <a:t>次排除计数。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对于某个具体的密钥字节，它只受一个 T 表影响，因此该字节上的某个固定错误候选值被排除的概率为</a:t>
            </a:r>
            <a:r>
              <a:rPr lang="en-US" altLang="zh-CN">
                <a:solidFill>
                  <a:srgbClr val="2177F9"/>
                </a:solidFill>
              </a:rPr>
              <a:t> p </a:t>
            </a:r>
            <a:r>
              <a:rPr lang="en-US" altLang="en-US">
                <a:solidFill>
                  <a:srgbClr val="2177F9"/>
                </a:solidFill>
              </a:rPr>
              <a:t>×</a:t>
            </a:r>
            <a:r>
              <a:rPr lang="en-US" altLang="zh-CN">
                <a:solidFill>
                  <a:srgbClr val="2177F9"/>
                </a:solidFill>
              </a:rPr>
              <a:t> 16/256 = p/16 ≈ 0.004725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经过 N 次加密，该错误候选被排除的期望次数为 N · p/16</a:t>
            </a:r>
            <a:r>
              <a:rPr lang="zh-CN" altLang="en-US"/>
              <a:t>，而正确候选的排除次数理论上为</a:t>
            </a:r>
            <a:r>
              <a:rPr lang="en-US" altLang="zh-CN"/>
              <a:t> 0</a:t>
            </a:r>
            <a:r>
              <a:rPr lang="zh-CN" altLang="en-US"/>
              <a:t>。</a:t>
            </a:r>
            <a:r>
              <a:rPr lang="zh-CN" altLang="en-US">
                <a:solidFill>
                  <a:srgbClr val="2177F9"/>
                </a:solidFill>
              </a:rPr>
              <a:t>当 N =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时，期望排除次数约为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× 0.004725 ≈ </a:t>
            </a:r>
            <a:r>
              <a:rPr lang="en-US" altLang="zh-CN">
                <a:solidFill>
                  <a:srgbClr val="2177F9"/>
                </a:solidFill>
              </a:rPr>
              <a:t>23.625</a:t>
            </a:r>
            <a:r>
              <a:rPr lang="zh-CN" altLang="en-US">
                <a:solidFill>
                  <a:srgbClr val="2177F9"/>
                </a:solidFill>
              </a:rPr>
              <a:t> 次</a:t>
            </a:r>
            <a:r>
              <a:rPr lang="zh-CN" altLang="en-US"/>
              <a:t>，此时正确候选的计数期望</a:t>
            </a:r>
            <a:r>
              <a:rPr lang="en-US" altLang="zh-CN"/>
              <a:t> 0 </a:t>
            </a:r>
            <a:r>
              <a:rPr lang="zh-CN" altLang="en-US"/>
              <a:t>远小于所有错误候选的计数，因此分界非常明显。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CFLAGS = -O0 -g -march=native -Wall -fno-stack-protector -Iinclude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-fno-stack-protector</a:t>
            </a:r>
            <a:r>
              <a:rPr lang="en-US" altLang="zh-CN"/>
              <a:t>: </a:t>
            </a:r>
            <a:r>
              <a:rPr lang="zh-CN" altLang="en-US"/>
              <a:t>避免栈保护代码干扰缓存行为</a:t>
            </a:r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初始化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des.c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7780" y="1005840"/>
            <a:ext cx="12209145" cy="585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3.2 </a:t>
            </a:r>
            <a:r>
              <a:rPr lang="zh-CN" altLang="en-US">
                <a:solidFill>
                  <a:srgbClr val="FF0000"/>
                </a:solidFill>
              </a:rPr>
              <a:t>构建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加密共享库</a:t>
            </a:r>
            <a:r>
              <a:rPr lang="zh-CN" altLang="en-US"/>
              <a:t>：根据</a:t>
            </a:r>
            <a:r>
              <a:rPr lang="en-US" altLang="zh-CN"/>
              <a:t>FIPS</a:t>
            </a:r>
            <a:r>
              <a:rPr lang="zh-CN" altLang="en-US"/>
              <a:t>标准构建了</a:t>
            </a:r>
            <a:r>
              <a:rPr lang="en-US" altLang="zh-CN"/>
              <a:t>DES</a:t>
            </a:r>
            <a:r>
              <a:rPr lang="zh-CN" altLang="en-US"/>
              <a:t>加密算法源文件</a:t>
            </a:r>
            <a:r>
              <a:rPr lang="en-US" altLang="zh-CN">
                <a:solidFill>
                  <a:srgbClr val="FF0000"/>
                </a:solidFill>
              </a:rPr>
              <a:t>des.c</a:t>
            </a:r>
            <a:r>
              <a:rPr lang="zh-CN" altLang="en-US"/>
              <a:t>，编译生成</a:t>
            </a:r>
            <a:r>
              <a:rPr lang="en-US" altLang="zh-CN"/>
              <a:t> DES </a:t>
            </a:r>
            <a:r>
              <a:rPr lang="zh-CN" altLang="en-US"/>
              <a:t>加密共享库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libdes.so</a:t>
            </a:r>
            <a:endParaRPr lang="en-US" altLang="zh-CN">
              <a:solidFill>
                <a:srgbClr val="2177F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00" y="1956435"/>
            <a:ext cx="4164965" cy="840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" y="1680210"/>
            <a:ext cx="3709670" cy="4503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680210"/>
            <a:ext cx="3683635" cy="4503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1415" y="1376045"/>
            <a:ext cx="4553585" cy="535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为了满足实验需求，需要对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SBox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结构定义进行修改：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设计目的</a:t>
            </a:r>
            <a:r>
              <a:rPr lang="zh-CN" altLang="en-US">
                <a:sym typeface="+mn-ea"/>
              </a:rPr>
              <a:t>：使每个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条目占用独立的缓存行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内存布局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  <a:sym typeface="+mn-ea"/>
              </a:rPr>
              <a:t>data[64][16]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64 </a:t>
            </a:r>
            <a:r>
              <a:rPr lang="zh-CN" altLang="en-US">
                <a:sym typeface="+mn-ea"/>
              </a:rPr>
              <a:t>个条目，每个条目包含</a:t>
            </a:r>
            <a:r>
              <a:rPr lang="en-US" altLang="zh-CN">
                <a:sym typeface="+mn-ea"/>
              </a:rPr>
              <a:t> 16 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 uint32_t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每个条目实际大小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16 * 4 = 64 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 = 1 </a:t>
            </a:r>
            <a:r>
              <a:rPr lang="zh-CN" altLang="en-US">
                <a:sym typeface="+mn-ea"/>
              </a:rPr>
              <a:t>个缓存行</a:t>
            </a:r>
            <a:endParaRPr lang="zh-CN" altLang="en-US"/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实际只使用</a:t>
            </a:r>
            <a:r>
              <a:rPr lang="en-US" altLang="zh-CN">
                <a:sym typeface="+mn-ea"/>
              </a:rPr>
              <a:t> data[i][0]</a:t>
            </a:r>
            <a:r>
              <a:rPr lang="zh-CN" altLang="en-US">
                <a:sym typeface="+mn-ea"/>
              </a:rPr>
              <a:t>，其余</a:t>
            </a:r>
            <a:r>
              <a:rPr lang="en-US" altLang="zh-CN">
                <a:sym typeface="+mn-ea"/>
              </a:rPr>
              <a:t> 15 </a:t>
            </a:r>
            <a:r>
              <a:rPr lang="zh-CN" altLang="en-US">
                <a:sym typeface="+mn-ea"/>
              </a:rPr>
              <a:t>个元素用于填充对齐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__attribute__((aligned(4096)))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编译器属性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zh-CN" altLang="en-US">
                <a:sym typeface="+mn-ea"/>
              </a:rPr>
              <a:t>将整个</a:t>
            </a:r>
            <a:r>
              <a:rPr lang="en-US" altLang="zh-CN">
                <a:sym typeface="+mn-ea"/>
              </a:rPr>
              <a:t> SBox </a:t>
            </a:r>
            <a:r>
              <a:rPr lang="zh-CN" altLang="en-US">
                <a:sym typeface="+mn-ea"/>
              </a:rPr>
              <a:t>结构按</a:t>
            </a:r>
            <a:r>
              <a:rPr lang="en-US" altLang="zh-CN">
                <a:sym typeface="+mn-ea"/>
              </a:rPr>
              <a:t> 4KB </a:t>
            </a:r>
            <a:r>
              <a:rPr lang="zh-CN" altLang="en-US">
                <a:sym typeface="+mn-ea"/>
              </a:rPr>
              <a:t>页边界对齐</a:t>
            </a:r>
            <a:endParaRPr lang="zh-CN" altLang="en-US"/>
          </a:p>
          <a:p>
            <a:r>
              <a:rPr lang="zh-CN" altLang="en-US">
                <a:sym typeface="+mn-ea"/>
              </a:rPr>
              <a:t>确保不同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之间不会共享同一页，避免页表干扰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动态链接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共享库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40" y="986790"/>
            <a:ext cx="12075795" cy="587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 </a:t>
            </a:r>
            <a:r>
              <a:rPr lang="zh-CN" altLang="en-US"/>
              <a:t>构建</a:t>
            </a:r>
            <a:r>
              <a:rPr lang="en-US" altLang="zh-CN">
                <a:solidFill>
                  <a:srgbClr val="FF0000"/>
                </a:solidFill>
              </a:rPr>
              <a:t>spy.c</a:t>
            </a:r>
            <a:r>
              <a:rPr lang="zh-CN" altLang="en-US"/>
              <a:t>代码</a:t>
            </a:r>
            <a:r>
              <a:rPr lang="zh-CN" altLang="en-US"/>
              <a:t>文件，执行攻击流程。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3.3.1 </a:t>
            </a:r>
            <a:r>
              <a:rPr lang="zh-CN" altLang="en-US"/>
              <a:t>首先使用</a:t>
            </a:r>
            <a:r>
              <a:rPr lang="en-US" altLang="zh-CN"/>
              <a:t> load_des_library() </a:t>
            </a:r>
            <a:r>
              <a:rPr lang="zh-CN" altLang="en-US"/>
              <a:t>通过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动态链接技术</a:t>
            </a:r>
            <a:r>
              <a:rPr lang="en-US" altLang="zh-CN"/>
              <a:t> </a:t>
            </a:r>
            <a:r>
              <a:rPr lang="zh-CN" altLang="en-US"/>
              <a:t>实现了</a:t>
            </a:r>
            <a:r>
              <a:rPr lang="en-US" altLang="zh-CN"/>
              <a:t> DES </a:t>
            </a:r>
            <a:r>
              <a:rPr lang="zh-CN" altLang="en-US"/>
              <a:t>共享库的加载和函数解析。</a:t>
            </a:r>
            <a:endParaRPr lang="zh-CN" altLang="en-US"/>
          </a:p>
          <a:p>
            <a:r>
              <a:rPr lang="zh-CN" altLang="en-US"/>
              <a:t>流程：</a:t>
            </a:r>
            <a:endParaRPr lang="en-US" altLang="zh-CN"/>
          </a:p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zh-CN" altLang="en-US"/>
              <a:t>定义了三个</a:t>
            </a:r>
            <a:r>
              <a:rPr lang="zh-CN" altLang="en-US">
                <a:solidFill>
                  <a:srgbClr val="2177F9"/>
                </a:solidFill>
              </a:rPr>
              <a:t>函数指针</a:t>
            </a:r>
            <a:r>
              <a:rPr lang="zh-CN" altLang="en-US"/>
              <a:t>类型，</a:t>
            </a:r>
            <a:r>
              <a:rPr lang="zh-CN" altLang="en-US"/>
              <a:t>确定了从共享</a:t>
            </a:r>
            <a:endParaRPr lang="zh-CN" altLang="en-US"/>
          </a:p>
          <a:p>
            <a:r>
              <a:rPr lang="zh-CN" altLang="en-US"/>
              <a:t>库中加载的函数的签名</a:t>
            </a:r>
            <a:r>
              <a:rPr lang="en-US" altLang="zh-CN"/>
              <a:t> </a:t>
            </a:r>
            <a:r>
              <a:rPr lang="zh-CN" altLang="en-US"/>
              <a:t>，确保类型安全。</a:t>
            </a:r>
            <a:endParaRPr lang="zh-CN" altLang="en-US"/>
          </a:p>
          <a:p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>
                <a:solidFill>
                  <a:srgbClr val="2177F9"/>
                </a:solidFill>
              </a:rPr>
              <a:t>dlopen</a:t>
            </a:r>
            <a:r>
              <a:rPr lang="zh-CN" altLang="en-US"/>
              <a:t>系统调用打开</a:t>
            </a:r>
            <a:r>
              <a:rPr lang="zh-CN" altLang="en-US"/>
              <a:t>共享库</a:t>
            </a:r>
            <a:endParaRPr lang="zh-CN" altLang="en-US"/>
          </a:p>
          <a:p>
            <a:r>
              <a:rPr lang="zh-CN" altLang="en-US"/>
              <a:t>③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>
                <a:solidFill>
                  <a:srgbClr val="2177F9"/>
                </a:solidFill>
              </a:rPr>
              <a:t>dlsym</a:t>
            </a:r>
            <a:r>
              <a:rPr lang="zh-CN" altLang="en-US"/>
              <a:t>系统调用从已加载的共享库</a:t>
            </a:r>
            <a:r>
              <a:rPr lang="zh-CN" altLang="en-US"/>
              <a:t>中</a:t>
            </a:r>
            <a:endParaRPr lang="zh-CN" altLang="en-US"/>
          </a:p>
          <a:p>
            <a:r>
              <a:rPr lang="zh-CN" altLang="en-US"/>
              <a:t>获取符号地址并返回其</a:t>
            </a:r>
            <a:r>
              <a:rPr lang="zh-CN" altLang="en-US"/>
              <a:t>函数指针。</a:t>
            </a:r>
            <a:endParaRPr lang="zh-CN" altLang="en-US"/>
          </a:p>
          <a:p>
            <a:r>
              <a:rPr lang="zh-CN" altLang="en-US"/>
              <a:t>其中；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des_encrypt_first_round</a:t>
            </a:r>
            <a:r>
              <a:rPr lang="en-US" altLang="zh-CN"/>
              <a:t> : DES </a:t>
            </a:r>
            <a:r>
              <a:rPr lang="zh-CN" altLang="en-US"/>
              <a:t>第一轮加密（攻击目标）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des_encrypt_full</a:t>
            </a:r>
            <a:r>
              <a:rPr lang="en-US" altLang="zh-CN"/>
              <a:t> : </a:t>
            </a:r>
            <a:r>
              <a:rPr lang="zh-CN" altLang="en-US"/>
              <a:t>完整</a:t>
            </a:r>
            <a:r>
              <a:rPr lang="en-US" altLang="zh-CN"/>
              <a:t> DES </a:t>
            </a:r>
            <a:r>
              <a:rPr lang="zh-CN" altLang="en-US"/>
              <a:t>加密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get_sboxes</a:t>
            </a:r>
            <a:r>
              <a:rPr lang="en-US" altLang="zh-CN"/>
              <a:t> : </a:t>
            </a:r>
            <a:r>
              <a:rPr lang="zh-CN" altLang="en-US"/>
              <a:t>获取</a:t>
            </a:r>
            <a:r>
              <a:rPr lang="en-US" altLang="zh-CN"/>
              <a:t> S-box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zh-CN" altLang="en-US"/>
              <a:t>例如：可以通过</a:t>
            </a:r>
            <a:r>
              <a:rPr lang="en-US" altLang="zh-CN"/>
              <a:t>get_sboxes()</a:t>
            </a:r>
            <a:r>
              <a:rPr lang="zh-CN" altLang="en-US"/>
              <a:t>获取</a:t>
            </a:r>
            <a:r>
              <a:rPr lang="en-US" altLang="zh-CN"/>
              <a:t>DES</a:t>
            </a:r>
            <a:r>
              <a:rPr lang="zh-CN" altLang="en-US"/>
              <a:t>加密使用的</a:t>
            </a:r>
            <a:r>
              <a:rPr lang="en-US" altLang="zh-CN"/>
              <a:t>S</a:t>
            </a:r>
            <a:r>
              <a:rPr lang="zh-CN" altLang="en-US"/>
              <a:t>盒。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25" y="2005330"/>
            <a:ext cx="7362825" cy="66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722245"/>
            <a:ext cx="4486275" cy="219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50" y="2973070"/>
            <a:ext cx="7376795" cy="619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4612640"/>
            <a:ext cx="1457325" cy="2476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动态校准缓存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阈值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48690"/>
            <a:ext cx="5522595" cy="2279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3.3.2 </a:t>
            </a:r>
            <a:r>
              <a:rPr lang="en-US" altLang="zh-CN">
                <a:sym typeface="+mn-ea"/>
              </a:rPr>
              <a:t>calibrate_threshold() -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动态校准缓存阈值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功能</a:t>
            </a:r>
            <a:r>
              <a:rPr lang="zh-CN" altLang="en-US"/>
              <a:t>：测量缓存命中和未命中的时间，确定区分阈值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原理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 1. </a:t>
            </a:r>
            <a:r>
              <a:rPr lang="zh-CN" altLang="en-US"/>
              <a:t>分配对齐的内存</a:t>
            </a:r>
            <a:endParaRPr lang="zh-CN" altLang="en-US"/>
          </a:p>
          <a:p>
            <a:r>
              <a:rPr lang="en-US" altLang="zh-CN"/>
              <a:t> 2. </a:t>
            </a:r>
            <a:r>
              <a:rPr lang="zh-CN" altLang="en-US"/>
              <a:t>多次访问使其在缓存中（命中）</a:t>
            </a:r>
            <a:endParaRPr lang="zh-CN" altLang="en-US"/>
          </a:p>
          <a:p>
            <a:r>
              <a:rPr lang="en-US" altLang="zh-CN"/>
              <a:t> 3. </a:t>
            </a:r>
            <a:r>
              <a:rPr lang="zh-CN" altLang="en-US"/>
              <a:t>使用</a:t>
            </a:r>
            <a:r>
              <a:rPr lang="en-US" altLang="zh-CN"/>
              <a:t> CLFLUSH </a:t>
            </a:r>
            <a:r>
              <a:rPr lang="zh-CN" altLang="en-US"/>
              <a:t>驱逐后访问（未命中）</a:t>
            </a:r>
            <a:endParaRPr lang="zh-CN" altLang="en-US"/>
          </a:p>
          <a:p>
            <a:r>
              <a:rPr lang="en-US" altLang="zh-CN"/>
              <a:t> 4. </a:t>
            </a:r>
            <a:r>
              <a:rPr lang="zh-CN" altLang="en-US"/>
              <a:t>计算中位数，取</a:t>
            </a:r>
            <a:r>
              <a:rPr lang="en-US" altLang="zh-CN">
                <a:sym typeface="+mn-ea"/>
              </a:rPr>
              <a:t>20%</a:t>
            </a:r>
            <a:r>
              <a:rPr lang="zh-CN" altLang="en-US"/>
              <a:t>偏向命中侧作为</a:t>
            </a:r>
            <a:r>
              <a:rPr lang="zh-CN" altLang="en-US"/>
              <a:t>阈值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即：</a:t>
            </a:r>
            <a:r>
              <a:rPr lang="zh-CN" altLang="en-US">
                <a:solidFill>
                  <a:srgbClr val="FF0000"/>
                </a:solidFill>
              </a:rPr>
              <a:t>阈值</a:t>
            </a:r>
            <a:r>
              <a:rPr lang="en-US" altLang="zh-CN">
                <a:solidFill>
                  <a:srgbClr val="FF0000"/>
                </a:solidFill>
              </a:rPr>
              <a:t> = </a:t>
            </a:r>
            <a:r>
              <a:rPr lang="zh-CN" altLang="en-US">
                <a:solidFill>
                  <a:srgbClr val="FF0000"/>
                </a:solidFill>
              </a:rPr>
              <a:t>命中时间</a:t>
            </a:r>
            <a:r>
              <a:rPr lang="en-US" altLang="zh-CN">
                <a:solidFill>
                  <a:srgbClr val="FF0000"/>
                </a:solidFill>
              </a:rPr>
              <a:t> + (</a:t>
            </a:r>
            <a:r>
              <a:rPr lang="zh-CN" altLang="en-US">
                <a:solidFill>
                  <a:srgbClr val="FF0000"/>
                </a:solidFill>
              </a:rPr>
              <a:t>未命中</a:t>
            </a:r>
            <a:r>
              <a:rPr lang="en-US" altLang="zh-CN">
                <a:solidFill>
                  <a:srgbClr val="FF0000"/>
                </a:solidFill>
              </a:rPr>
              <a:t> - </a:t>
            </a:r>
            <a:r>
              <a:rPr lang="zh-CN" altLang="en-US">
                <a:solidFill>
                  <a:srgbClr val="FF0000"/>
                </a:solidFill>
              </a:rPr>
              <a:t>命中</a:t>
            </a:r>
            <a:r>
              <a:rPr lang="en-US" altLang="zh-CN">
                <a:solidFill>
                  <a:srgbClr val="FF0000"/>
                </a:solidFill>
              </a:rPr>
              <a:t>) / 5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30" y="3228340"/>
            <a:ext cx="4815205" cy="3639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005" y="1035050"/>
            <a:ext cx="4471035" cy="808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005" y="1913255"/>
            <a:ext cx="4474210" cy="124523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V="1">
            <a:off x="3511550" y="1499870"/>
            <a:ext cx="2894330" cy="73787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189730" y="2461895"/>
            <a:ext cx="2272665" cy="6159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" y="3227705"/>
            <a:ext cx="6321425" cy="36309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</a:rPr>
              <a:t>计算</a:t>
            </a:r>
            <a:r>
              <a:rPr lang="en-US" altLang="zh-CN">
                <a:solidFill>
                  <a:schemeClr val="bg1"/>
                </a:solidFill>
              </a:rPr>
              <a:t> R0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 E(R0)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555" y="1280160"/>
            <a:ext cx="5438775" cy="2933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235" y="4559300"/>
            <a:ext cx="7258050" cy="1400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940" y="976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S-box访问的条目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25" y="986155"/>
            <a:ext cx="1218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3.3.4 </a:t>
            </a:r>
            <a:r>
              <a:rPr lang="zh-CN" altLang="en-US"/>
              <a:t>执行多次第一轮攻击，并通过</a:t>
            </a:r>
            <a:r>
              <a:rPr lang="en-US" altLang="zh-CN">
                <a:solidFill>
                  <a:srgbClr val="FF0000"/>
                </a:solidFill>
              </a:rPr>
              <a:t> flush and reload </a:t>
            </a:r>
            <a:r>
              <a:rPr lang="zh-CN" altLang="en-US"/>
              <a:t>分别检测每个</a:t>
            </a:r>
            <a:r>
              <a:rPr lang="en-US" altLang="zh-CN"/>
              <a:t> S-box </a:t>
            </a:r>
            <a:r>
              <a:rPr lang="zh-CN" altLang="en-US"/>
              <a:t>访问的条目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414780"/>
            <a:ext cx="5562600" cy="51530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090" y="1414780"/>
            <a:ext cx="4391025" cy="2228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选择最可靠的 K1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986155"/>
            <a:ext cx="6877050" cy="914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25" y="986155"/>
            <a:ext cx="5431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3.3.4 </a:t>
            </a:r>
            <a:r>
              <a:rPr lang="zh-CN" altLang="en-US"/>
              <a:t>采用多轮投票机制，重复攻击</a:t>
            </a:r>
            <a:r>
              <a:rPr lang="en-US" altLang="zh-CN"/>
              <a:t> 7 </a:t>
            </a:r>
            <a:r>
              <a:rPr lang="zh-CN" altLang="en-US"/>
              <a:t>轮，从多轮结果中选择最可靠的</a:t>
            </a:r>
            <a:r>
              <a:rPr lang="en-US" altLang="zh-CN"/>
              <a:t> K1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1981835"/>
            <a:ext cx="6870700" cy="4715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" y="1631315"/>
            <a:ext cx="5158105" cy="50660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恢复完整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密钥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890" y="948690"/>
            <a:ext cx="12200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3.3.5 </a:t>
            </a:r>
            <a:r>
              <a:rPr lang="zh-CN" altLang="en-US">
                <a:solidFill>
                  <a:srgbClr val="FF0000"/>
                </a:solidFill>
              </a:rPr>
              <a:t>暴力搜索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zh-CN" altLang="en-US"/>
              <a:t>从</a:t>
            </a:r>
            <a:r>
              <a:rPr lang="en-US" altLang="zh-CN"/>
              <a:t>48</a:t>
            </a:r>
            <a:r>
              <a:rPr lang="zh-CN" altLang="en-US"/>
              <a:t>位的</a:t>
            </a:r>
            <a:r>
              <a:rPr lang="en-US" altLang="zh-CN"/>
              <a:t>K1</a:t>
            </a:r>
            <a:r>
              <a:rPr lang="zh-CN" altLang="en-US"/>
              <a:t>恢复</a:t>
            </a:r>
            <a:r>
              <a:rPr lang="en-US" altLang="zh-CN"/>
              <a:t> 64 </a:t>
            </a:r>
            <a:r>
              <a:rPr lang="zh-CN" altLang="en-US"/>
              <a:t>位密钥：需要枚举</a:t>
            </a:r>
            <a:r>
              <a:rPr lang="en-US" altLang="zh-CN"/>
              <a:t> 8 </a:t>
            </a:r>
            <a:r>
              <a:rPr lang="zh-CN" altLang="en-US"/>
              <a:t>个未知位（</a:t>
            </a:r>
            <a:r>
              <a:rPr lang="en-US" altLang="zh-CN"/>
              <a:t>PC-2 </a:t>
            </a:r>
            <a:r>
              <a:rPr lang="zh-CN" altLang="en-US"/>
              <a:t>未选中的位），共</a:t>
            </a:r>
            <a:r>
              <a:rPr lang="en-US" altLang="zh-CN"/>
              <a:t> 2^8 = 256 </a:t>
            </a:r>
            <a:r>
              <a:rPr lang="zh-CN" altLang="en-US"/>
              <a:t>种可能</a:t>
            </a:r>
            <a:r>
              <a:rPr lang="en-US" altLang="zh-CN"/>
              <a:t> 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" y="1492885"/>
            <a:ext cx="6600825" cy="4210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95" y="1392555"/>
            <a:ext cx="5205730" cy="5369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结果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890" y="94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3.3.6 </a:t>
            </a:r>
            <a:r>
              <a:rPr lang="zh-CN" altLang="en-US"/>
              <a:t>输出最终结果并卸载共享库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230" y="1492885"/>
            <a:ext cx="4333875" cy="137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" y="1492885"/>
            <a:ext cx="6943725" cy="2238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缓解验证的</a:t>
            </a:r>
            <a:r>
              <a:rPr lang="zh-CN" altLang="en-US">
                <a:solidFill>
                  <a:srgbClr val="FF0000"/>
                </a:solidFill>
              </a:rPr>
              <a:t>对照测试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验证常见缓解措施（隔离策略、缓存冲洗、编译器或内核参数、微码与固件更新）的效果，对比前后差异；</a:t>
            </a:r>
            <a:r>
              <a:rPr lang="zh-CN" altLang="en-US"/>
              <a:t>开启</a:t>
            </a:r>
            <a:r>
              <a:rPr lang="en-US" altLang="zh-CN"/>
              <a:t>/</a:t>
            </a:r>
            <a:r>
              <a:rPr lang="zh-CN" altLang="en-US"/>
              <a:t>关闭若干常见缓解措施进行对比，例如进程亲和绑定、缓存刷新指令的使用方式变化，或系统提供的相关隔离选项，观察统计结果变化并给出解释。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整理</a:t>
            </a:r>
            <a:r>
              <a:rPr lang="zh-CN" altLang="en-US">
                <a:solidFill>
                  <a:srgbClr val="FF0000"/>
                </a:solidFill>
              </a:rPr>
              <a:t>主要指标</a:t>
            </a:r>
            <a:r>
              <a:rPr lang="zh-CN" altLang="en-US"/>
              <a:t>与</a:t>
            </a:r>
            <a:r>
              <a:rPr lang="zh-CN" altLang="en-US">
                <a:solidFill>
                  <a:srgbClr val="FF0000"/>
                </a:solidFill>
              </a:rPr>
              <a:t>技术参数</a:t>
            </a:r>
            <a:r>
              <a:rPr lang="zh-CN" altLang="en-US"/>
              <a:t>，</a:t>
            </a:r>
            <a:r>
              <a:rPr lang="zh-CN" altLang="en-US"/>
              <a:t>包括时间测量的统计指标，例如平均值、标准差与分位数，并统计样本数量与重复次数。</a:t>
            </a:r>
            <a:r>
              <a:rPr lang="zh-CN" altLang="en-US"/>
              <a:t>统计命中与未命中两类访问的时间分布差异或可区分度指标。明确</a:t>
            </a:r>
            <a:r>
              <a:rPr lang="en-US" altLang="zh-CN"/>
              <a:t> CPU </a:t>
            </a:r>
            <a:r>
              <a:rPr lang="zh-CN" altLang="en-US"/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</a:t>
            </a:r>
            <a:r>
              <a:rPr lang="zh-CN" altLang="en-US"/>
              <a:t>完成原始数据与绘图结果、</a:t>
            </a:r>
            <a:r>
              <a:rPr lang="zh-CN" altLang="en-US">
                <a:sym typeface="+mn-ea"/>
              </a:rPr>
              <a:t>输出图表与统计摘要，</a:t>
            </a:r>
            <a:r>
              <a:rPr lang="zh-CN" altLang="en-US">
                <a:sym typeface="+mn-ea"/>
              </a:rPr>
              <a:t>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</a:t>
            </a:r>
            <a:r>
              <a:rPr lang="zh-CN" altLang="en-US"/>
              <a:t>测试流程</a:t>
            </a:r>
            <a:r>
              <a:rPr lang="zh-CN" altLang="en-US">
                <a:solidFill>
                  <a:srgbClr val="FF0000"/>
                </a:solidFill>
              </a:rPr>
              <a:t>文档</a:t>
            </a:r>
            <a:r>
              <a:rPr lang="zh-CN" altLang="en-US"/>
              <a:t>与总结</a:t>
            </a:r>
            <a:r>
              <a:rPr lang="zh-CN" altLang="en-US">
                <a:solidFill>
                  <a:srgbClr val="FF0000"/>
                </a:solidFill>
              </a:rPr>
              <a:t>报告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2026.03.18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9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99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400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6788</Words>
  <Application>WPS 演示</Application>
  <PresentationFormat>宽屏</PresentationFormat>
  <Paragraphs>317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AES算法Cache计时攻击</vt:lpstr>
      <vt:lpstr>1.1 AES128算法加密</vt:lpstr>
      <vt:lpstr>1.1 AES128算法加密</vt:lpstr>
      <vt:lpstr>1.2 带查表加速的AES128算法加密</vt:lpstr>
      <vt:lpstr>2.1 攻击思想 - 最终轮 </vt:lpstr>
      <vt:lpstr>2.2 加密细节 - 最终轮 </vt:lpstr>
      <vt:lpstr>2.2 加密细节 - 最终轮 </vt:lpstr>
      <vt:lpstr>1.2 带查表加速的AES128算法加密</vt:lpstr>
      <vt:lpstr>1.2 带查表加速的AES128算法加密</vt:lpstr>
      <vt:lpstr>2.2 加密细节 - 最终轮 </vt:lpstr>
      <vt:lpstr>2.2 加密细节 - 最终轮 </vt:lpstr>
      <vt:lpstr>2.2 加密细节 - 最终轮 </vt:lpstr>
      <vt:lpstr>2.3 攻击切入点 - 最终轮 - T表 </vt:lpstr>
      <vt:lpstr>2.3 攻击切入点 - 最终轮 - T表</vt:lpstr>
      <vt:lpstr>2.3 攻击切入点 - 最终轮 - T表</vt:lpstr>
      <vt:lpstr>2.4 攻击：flush and reload + 排除法</vt:lpstr>
      <vt:lpstr>2.4 攻击：flush and reload + 排除法</vt:lpstr>
      <vt:lpstr>2.4 攻击：flush and reload + 排除法</vt:lpstr>
      <vt:lpstr>2.5 攻击原理 - 概率论视角</vt:lpstr>
      <vt:lpstr>3.1 实验过程 - 实验环境</vt:lpstr>
      <vt:lpstr>3.2 </vt:lpstr>
      <vt:lpstr>3.2 实验过程 -  </vt:lpstr>
      <vt:lpstr>3.2 实验过程 -  </vt:lpstr>
      <vt:lpstr>3.2 实验过程 -  </vt:lpstr>
      <vt:lpstr>3.2 实验过程 -  </vt:lpstr>
      <vt:lpstr>3. 实验过程 - des.c</vt:lpstr>
      <vt:lpstr>3. 实验过程 - spy.c - 动态链接共享库</vt:lpstr>
      <vt:lpstr>3. 实验过程 - spy.c - 动态校准缓存阈值</vt:lpstr>
      <vt:lpstr>3. 实验过程 - spy.c - 计算 R0 和 E(R0)</vt:lpstr>
      <vt:lpstr>3. 实验过程 - spy.c - S-box访问的条目</vt:lpstr>
      <vt:lpstr>3. 实验过程 - spy.c - 选择最可靠的 K1</vt:lpstr>
      <vt:lpstr>3. 实验过程 - spy.c - 恢复完整密钥</vt:lpstr>
      <vt:lpstr>3. 实验过程 - spy.c - 最终结果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64</cp:revision>
  <dcterms:created xsi:type="dcterms:W3CDTF">2026-01-21T07:12:00Z</dcterms:created>
  <dcterms:modified xsi:type="dcterms:W3CDTF">2026-03-18T04:41:50Z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