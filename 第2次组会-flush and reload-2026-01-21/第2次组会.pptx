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60" r:id="rId4"/>
    <p:sldId id="279" r:id="rId6"/>
    <p:sldId id="261" r:id="rId7"/>
    <p:sldId id="283" r:id="rId8"/>
    <p:sldId id="282" r:id="rId9"/>
    <p:sldId id="290" r:id="rId10"/>
    <p:sldId id="295" r:id="rId11"/>
    <p:sldId id="296" r:id="rId12"/>
    <p:sldId id="291" r:id="rId13"/>
    <p:sldId id="292" r:id="rId14"/>
    <p:sldId id="293" r:id="rId15"/>
    <p:sldId id="294" r:id="rId16"/>
    <p:sldId id="277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31.xml"/><Relationship Id="rId2" Type="http://schemas.openxmlformats.org/officeDocument/2006/relationships/image" Target="../media/image4.png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2" Type="http://schemas.openxmlformats.org/officeDocument/2006/relationships/notesSlide" Target="../notesSlides/notesSlide2.xml"/><Relationship Id="rId41" Type="http://schemas.openxmlformats.org/officeDocument/2006/relationships/slideLayout" Target="../slideLayouts/slideLayout19.xml"/><Relationship Id="rId40" Type="http://schemas.openxmlformats.org/officeDocument/2006/relationships/tags" Target="../tags/tag370.xml"/><Relationship Id="rId4" Type="http://schemas.openxmlformats.org/officeDocument/2006/relationships/tags" Target="../tags/tag335.xml"/><Relationship Id="rId39" Type="http://schemas.openxmlformats.org/officeDocument/2006/relationships/tags" Target="../tags/tag369.xml"/><Relationship Id="rId38" Type="http://schemas.openxmlformats.org/officeDocument/2006/relationships/tags" Target="../tags/tag368.xml"/><Relationship Id="rId37" Type="http://schemas.openxmlformats.org/officeDocument/2006/relationships/tags" Target="../tags/tag367.xml"/><Relationship Id="rId36" Type="http://schemas.openxmlformats.org/officeDocument/2006/relationships/tags" Target="../tags/tag366.xml"/><Relationship Id="rId35" Type="http://schemas.openxmlformats.org/officeDocument/2006/relationships/tags" Target="../tags/tag365.xml"/><Relationship Id="rId34" Type="http://schemas.openxmlformats.org/officeDocument/2006/relationships/tags" Target="../tags/tag364.xml"/><Relationship Id="rId33" Type="http://schemas.openxmlformats.org/officeDocument/2006/relationships/tags" Target="../tags/tag363.xml"/><Relationship Id="rId32" Type="http://schemas.openxmlformats.org/officeDocument/2006/relationships/tags" Target="../tags/tag362.xml"/><Relationship Id="rId31" Type="http://schemas.openxmlformats.org/officeDocument/2006/relationships/tags" Target="../tags/tag361.xml"/><Relationship Id="rId30" Type="http://schemas.openxmlformats.org/officeDocument/2006/relationships/tags" Target="../tags/tag360.xml"/><Relationship Id="rId3" Type="http://schemas.openxmlformats.org/officeDocument/2006/relationships/tags" Target="../tags/tag334.xml"/><Relationship Id="rId29" Type="http://schemas.openxmlformats.org/officeDocument/2006/relationships/tags" Target="../tags/tag359.xml"/><Relationship Id="rId28" Type="http://schemas.openxmlformats.org/officeDocument/2006/relationships/tags" Target="../tags/tag358.xml"/><Relationship Id="rId27" Type="http://schemas.openxmlformats.org/officeDocument/2006/relationships/tags" Target="../tags/tag357.xml"/><Relationship Id="rId26" Type="http://schemas.openxmlformats.org/officeDocument/2006/relationships/tags" Target="../tags/tag356.xml"/><Relationship Id="rId25" Type="http://schemas.openxmlformats.org/officeDocument/2006/relationships/tags" Target="../tags/tag355.xml"/><Relationship Id="rId24" Type="http://schemas.openxmlformats.org/officeDocument/2006/relationships/image" Target="../media/image5.jpeg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7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37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74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3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76.xml"/><Relationship Id="rId2" Type="http://schemas.openxmlformats.org/officeDocument/2006/relationships/image" Target="../media/image12.png"/><Relationship Id="rId1" Type="http://schemas.openxmlformats.org/officeDocument/2006/relationships/tags" Target="../tags/tag37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7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37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80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379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38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84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tags" Target="../tags/tag38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86.xml"/><Relationship Id="rId2" Type="http://schemas.openxmlformats.org/officeDocument/2006/relationships/image" Target="../media/image25.png"/><Relationship Id="rId1" Type="http://schemas.openxmlformats.org/officeDocument/2006/relationships/tags" Target="../tags/tag38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88.xml"/><Relationship Id="rId1" Type="http://schemas.openxmlformats.org/officeDocument/2006/relationships/tags" Target="../tags/tag387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93.xml"/><Relationship Id="rId4" Type="http://schemas.openxmlformats.org/officeDocument/2006/relationships/tags" Target="../tags/tag392.xml"/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" Type="http://schemas.openxmlformats.org/officeDocument/2006/relationships/tags" Target="../tags/tag3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3961" y="1495990"/>
            <a:ext cx="9144000" cy="1260058"/>
          </a:xfrm>
        </p:spPr>
        <p:txBody>
          <a:bodyPr>
            <a:normAutofit/>
          </a:bodyPr>
          <a:lstStyle/>
          <a:p>
            <a:r>
              <a:rPr lang="en-US" altLang="zh-CN" sz="3900" dirty="0">
                <a:solidFill>
                  <a:schemeClr val="bg1"/>
                </a:solidFill>
              </a:rPr>
              <a:t>FLUSH</a:t>
            </a:r>
            <a:r>
              <a:rPr lang="zh-CN" altLang="en-US" sz="3900" dirty="0">
                <a:solidFill>
                  <a:schemeClr val="bg1"/>
                </a:solidFill>
              </a:rPr>
              <a:t> </a:t>
            </a:r>
            <a:r>
              <a:rPr lang="en-US" altLang="zh-CN" sz="3900" dirty="0">
                <a:solidFill>
                  <a:schemeClr val="bg1"/>
                </a:solidFill>
              </a:rPr>
              <a:t>AND</a:t>
            </a:r>
            <a:r>
              <a:rPr lang="zh-CN" altLang="en-US" sz="3900" dirty="0">
                <a:solidFill>
                  <a:schemeClr val="bg1"/>
                </a:solidFill>
              </a:rPr>
              <a:t> </a:t>
            </a:r>
            <a:r>
              <a:rPr lang="en-US" altLang="zh-CN" sz="3900" dirty="0">
                <a:solidFill>
                  <a:schemeClr val="bg1"/>
                </a:solidFill>
              </a:rPr>
              <a:t>RELOAD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026.01.21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flush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and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reload</a:t>
            </a:r>
            <a:r>
              <a:rPr lang="zh-CN" altLang="en-US">
                <a:solidFill>
                  <a:schemeClr val="bg1"/>
                </a:solidFill>
              </a:rPr>
              <a:t> 代码分析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1272540"/>
            <a:ext cx="11778615" cy="1917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>
                <a:cs typeface="Arial" panose="020B0604020202020204" pitchFamily="34" charset="0"/>
              </a:rPr>
              <a:t>位于</a:t>
            </a:r>
            <a:r>
              <a:rPr lang="en-US" altLang="zh-CN" sz="2800"/>
              <a:t>vmscape</a:t>
            </a:r>
            <a:r>
              <a:rPr lang="zh-CN" altLang="en-US" sz="2800"/>
              <a:t>代码仓</a:t>
            </a:r>
            <a:endParaRPr lang="zh-CN" altLang="en-US" sz="2800"/>
          </a:p>
          <a:p>
            <a:r>
              <a:rPr lang="en-US" altLang="zh-CN" sz="2800"/>
              <a:t>uARF/src/flush_reload.c</a:t>
            </a:r>
            <a:r>
              <a:rPr lang="zh-CN" altLang="en-US" sz="2800"/>
              <a:t>路径下</a:t>
            </a:r>
            <a:r>
              <a:rPr lang="zh-CN" altLang="en-US" sz="2800"/>
              <a:t>的</a:t>
            </a:r>
            <a:endParaRPr lang="zh-CN" altLang="en-US" sz="2800"/>
          </a:p>
          <a:p>
            <a:r>
              <a:rPr lang="en-US" altLang="zh-CN" sz="2800">
                <a:sym typeface="+mn-ea"/>
              </a:rPr>
              <a:t>flush_reload.c</a:t>
            </a:r>
            <a:r>
              <a:rPr lang="zh-CN" altLang="en-US" sz="2800">
                <a:sym typeface="+mn-ea"/>
              </a:rPr>
              <a:t>文件分为</a:t>
            </a:r>
            <a:r>
              <a:rPr lang="en-US" altLang="zh-CN" sz="2800">
                <a:sym typeface="+mn-ea"/>
              </a:rPr>
              <a:t>7</a:t>
            </a:r>
            <a:r>
              <a:rPr lang="zh-CN" altLang="en-US" sz="2800">
                <a:sym typeface="+mn-ea"/>
              </a:rPr>
              <a:t>个部分：</a:t>
            </a:r>
            <a:endParaRPr lang="zh-CN" altLang="en-US" sz="2800"/>
          </a:p>
          <a:p>
            <a:endParaRPr lang="zh-CN" altLang="en-US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955" y="943610"/>
            <a:ext cx="6583045" cy="59143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>
            <p:custDataLst>
              <p:tags r:id="rId1"/>
            </p:custDataLst>
          </p:nvPr>
        </p:nvGrpSpPr>
        <p:grpSpPr>
          <a:xfrm>
            <a:off x="5878985" y="400173"/>
            <a:ext cx="4486275" cy="657225"/>
            <a:chOff x="5681662" y="1235075"/>
            <a:chExt cx="4486275" cy="657225"/>
          </a:xfrm>
        </p:grpSpPr>
        <p:grpSp>
          <p:nvGrpSpPr>
            <p:cNvPr id="77" name="组合 76"/>
            <p:cNvGrpSpPr/>
            <p:nvPr/>
          </p:nvGrpSpPr>
          <p:grpSpPr>
            <a:xfrm>
              <a:off x="5681662" y="1235075"/>
              <a:ext cx="4486275" cy="657225"/>
              <a:chOff x="5681662" y="1235075"/>
              <a:chExt cx="4486275" cy="657225"/>
            </a:xfrm>
          </p:grpSpPr>
          <p:sp>
            <p:nvSpPr>
              <p:cNvPr id="80" name="矩形: 圆角 79"/>
              <p:cNvSpPr/>
              <p:nvPr>
                <p:custDataLst>
                  <p:tags r:id="rId2"/>
                </p:custDataLst>
              </p:nvPr>
            </p:nvSpPr>
            <p:spPr>
              <a:xfrm>
                <a:off x="5681662" y="1235075"/>
                <a:ext cx="4486275" cy="657225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81" name="直接连接符 80"/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6567487" y="1235075"/>
                <a:ext cx="0" cy="65722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5986462" y="1302077"/>
              <a:ext cx="885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dirty="0">
                  <a:solidFill>
                    <a:schemeClr val="bg1"/>
                  </a:solidFill>
                  <a:latin typeface="+mn-ea"/>
                </a:rPr>
                <a:t>1</a:t>
              </a:r>
              <a:endParaRPr lang="en-US" altLang="zh-CN" sz="2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79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6648450" y="1302077"/>
              <a:ext cx="2781300" cy="521970"/>
            </a:xfrm>
            <a:prstGeom prst="rect">
              <a:avLst/>
            </a:prstGeom>
            <a:noFill/>
          </p:spPr>
          <p:txBody>
            <a:bodyPr wrap="square" rtlCol="0">
              <a:normAutofit fontScale="9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chemeClr val="bg1"/>
                  </a:solidFill>
                  <a:latin typeface="+mn-ea"/>
                  <a:sym typeface="+mn-ea"/>
                </a:rPr>
                <a:t>初始化实现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53" name="组合 52"/>
          <p:cNvGrpSpPr/>
          <p:nvPr>
            <p:custDataLst>
              <p:tags r:id="rId6"/>
            </p:custDataLst>
          </p:nvPr>
        </p:nvGrpSpPr>
        <p:grpSpPr>
          <a:xfrm>
            <a:off x="5878949" y="1292594"/>
            <a:ext cx="4486275" cy="657225"/>
            <a:chOff x="5681662" y="1235075"/>
            <a:chExt cx="4486275" cy="657225"/>
          </a:xfrm>
        </p:grpSpPr>
        <p:grpSp>
          <p:nvGrpSpPr>
            <p:cNvPr id="72" name="组合 71"/>
            <p:cNvGrpSpPr/>
            <p:nvPr/>
          </p:nvGrpSpPr>
          <p:grpSpPr>
            <a:xfrm>
              <a:off x="5681662" y="1235075"/>
              <a:ext cx="4486275" cy="657225"/>
              <a:chOff x="5681662" y="1235075"/>
              <a:chExt cx="4486275" cy="657225"/>
            </a:xfrm>
          </p:grpSpPr>
          <p:sp>
            <p:nvSpPr>
              <p:cNvPr id="75" name="矩形: 圆角 74"/>
              <p:cNvSpPr/>
              <p:nvPr>
                <p:custDataLst>
                  <p:tags r:id="rId7"/>
                </p:custDataLst>
              </p:nvPr>
            </p:nvSpPr>
            <p:spPr>
              <a:xfrm>
                <a:off x="5681662" y="1235075"/>
                <a:ext cx="4486275" cy="657225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6" name="直接连接符 75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6567487" y="1235075"/>
                <a:ext cx="0" cy="65722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9"/>
            <p:cNvSpPr txBox="1"/>
            <p:nvPr>
              <p:custDataLst>
                <p:tags r:id="rId9"/>
              </p:custDataLst>
            </p:nvPr>
          </p:nvSpPr>
          <p:spPr>
            <a:xfrm>
              <a:off x="5986462" y="1302077"/>
              <a:ext cx="885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dirty="0">
                  <a:solidFill>
                    <a:schemeClr val="bg1"/>
                  </a:solidFill>
                  <a:latin typeface="+mn-ea"/>
                </a:rPr>
                <a:t>2</a:t>
              </a:r>
              <a:endParaRPr lang="en-US" altLang="zh-CN" sz="2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74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6648450" y="1302077"/>
              <a:ext cx="2781300" cy="521970"/>
            </a:xfrm>
            <a:prstGeom prst="rect">
              <a:avLst/>
            </a:prstGeom>
            <a:noFill/>
          </p:spPr>
          <p:txBody>
            <a:bodyPr wrap="square" rtlCol="0">
              <a:normAutofit fontScale="9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+mn-ea"/>
                  <a:sym typeface="+mn-ea"/>
                </a:rPr>
                <a:t>Flush</a:t>
              </a:r>
              <a:r>
                <a:rPr lang="zh-CN" altLang="en-US" sz="2800" dirty="0">
                  <a:solidFill>
                    <a:schemeClr val="bg1"/>
                  </a:solidFill>
                  <a:latin typeface="+mn-ea"/>
                  <a:sym typeface="+mn-ea"/>
                </a:rPr>
                <a:t>阶段实现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54" name="组合 53"/>
          <p:cNvGrpSpPr/>
          <p:nvPr>
            <p:custDataLst>
              <p:tags r:id="rId11"/>
            </p:custDataLst>
          </p:nvPr>
        </p:nvGrpSpPr>
        <p:grpSpPr>
          <a:xfrm>
            <a:off x="5878949" y="2184211"/>
            <a:ext cx="4486275" cy="657225"/>
            <a:chOff x="5681662" y="1235075"/>
            <a:chExt cx="4486275" cy="657225"/>
          </a:xfrm>
        </p:grpSpPr>
        <p:grpSp>
          <p:nvGrpSpPr>
            <p:cNvPr id="67" name="组合 66"/>
            <p:cNvGrpSpPr/>
            <p:nvPr/>
          </p:nvGrpSpPr>
          <p:grpSpPr>
            <a:xfrm>
              <a:off x="5681662" y="1235075"/>
              <a:ext cx="4486275" cy="657225"/>
              <a:chOff x="5681662" y="1235075"/>
              <a:chExt cx="4486275" cy="657225"/>
            </a:xfrm>
          </p:grpSpPr>
          <p:sp>
            <p:nvSpPr>
              <p:cNvPr id="70" name="矩形: 圆角 69"/>
              <p:cNvSpPr/>
              <p:nvPr>
                <p:custDataLst>
                  <p:tags r:id="rId12"/>
                </p:custDataLst>
              </p:nvPr>
            </p:nvSpPr>
            <p:spPr>
              <a:xfrm>
                <a:off x="5681662" y="1235075"/>
                <a:ext cx="4486275" cy="657225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1" name="直接连接符 70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6567487" y="1235075"/>
                <a:ext cx="0" cy="65722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文本框 15"/>
            <p:cNvSpPr txBox="1"/>
            <p:nvPr>
              <p:custDataLst>
                <p:tags r:id="rId14"/>
              </p:custDataLst>
            </p:nvPr>
          </p:nvSpPr>
          <p:spPr>
            <a:xfrm>
              <a:off x="5986462" y="1302077"/>
              <a:ext cx="885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dirty="0">
                  <a:solidFill>
                    <a:schemeClr val="bg1"/>
                  </a:solidFill>
                  <a:latin typeface="+mn-ea"/>
                </a:rPr>
                <a:t>3</a:t>
              </a:r>
              <a:endParaRPr lang="en-US" altLang="zh-CN" sz="2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9" name="文本框 16"/>
            <p:cNvSpPr txBox="1"/>
            <p:nvPr>
              <p:custDataLst>
                <p:tags r:id="rId15"/>
              </p:custDataLst>
            </p:nvPr>
          </p:nvSpPr>
          <p:spPr>
            <a:xfrm>
              <a:off x="6648450" y="1302077"/>
              <a:ext cx="2781300" cy="521970"/>
            </a:xfrm>
            <a:prstGeom prst="rect">
              <a:avLst/>
            </a:prstGeom>
            <a:noFill/>
          </p:spPr>
          <p:txBody>
            <a:bodyPr wrap="square" rtlCol="0">
              <a:normAutofit fontScale="9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chemeClr val="bg1"/>
                  </a:solidFill>
                  <a:latin typeface="+mn-ea"/>
                </a:rPr>
                <a:t>分箱辅助</a:t>
              </a:r>
              <a:r>
                <a:rPr lang="zh-CN" altLang="en-US" sz="2800" dirty="0">
                  <a:solidFill>
                    <a:schemeClr val="bg1"/>
                  </a:solidFill>
                  <a:latin typeface="+mn-ea"/>
                </a:rPr>
                <a:t>函数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16"/>
            </p:custDataLst>
          </p:nvPr>
        </p:nvGrpSpPr>
        <p:grpSpPr>
          <a:xfrm>
            <a:off x="5878949" y="3075828"/>
            <a:ext cx="4486275" cy="657225"/>
            <a:chOff x="5681662" y="1235075"/>
            <a:chExt cx="4486275" cy="657225"/>
          </a:xfrm>
        </p:grpSpPr>
        <p:grpSp>
          <p:nvGrpSpPr>
            <p:cNvPr id="62" name="组合 61"/>
            <p:cNvGrpSpPr/>
            <p:nvPr/>
          </p:nvGrpSpPr>
          <p:grpSpPr>
            <a:xfrm>
              <a:off x="5681662" y="1235075"/>
              <a:ext cx="4486275" cy="657225"/>
              <a:chOff x="5681662" y="1235075"/>
              <a:chExt cx="4486275" cy="657225"/>
            </a:xfrm>
          </p:grpSpPr>
          <p:sp>
            <p:nvSpPr>
              <p:cNvPr id="65" name="矩形: 圆角 64"/>
              <p:cNvSpPr/>
              <p:nvPr>
                <p:custDataLst>
                  <p:tags r:id="rId17"/>
                </p:custDataLst>
              </p:nvPr>
            </p:nvSpPr>
            <p:spPr>
              <a:xfrm>
                <a:off x="5681662" y="1235075"/>
                <a:ext cx="4486275" cy="657225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66" name="直接连接符 65"/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6567487" y="1235075"/>
                <a:ext cx="0" cy="65722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21"/>
            <p:cNvSpPr txBox="1"/>
            <p:nvPr>
              <p:custDataLst>
                <p:tags r:id="rId19"/>
              </p:custDataLst>
            </p:nvPr>
          </p:nvSpPr>
          <p:spPr>
            <a:xfrm>
              <a:off x="5986462" y="1302077"/>
              <a:ext cx="885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dirty="0">
                  <a:solidFill>
                    <a:schemeClr val="bg1"/>
                  </a:solidFill>
                  <a:latin typeface="+mn-ea"/>
                </a:rPr>
                <a:t>4</a:t>
              </a:r>
              <a:endParaRPr lang="en-US" altLang="zh-CN" sz="2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4" name="文本框 22"/>
            <p:cNvSpPr txBox="1"/>
            <p:nvPr>
              <p:custDataLst>
                <p:tags r:id="rId20"/>
              </p:custDataLst>
            </p:nvPr>
          </p:nvSpPr>
          <p:spPr>
            <a:xfrm>
              <a:off x="6648450" y="1302077"/>
              <a:ext cx="2781300" cy="521970"/>
            </a:xfrm>
            <a:prstGeom prst="rect">
              <a:avLst/>
            </a:prstGeom>
            <a:noFill/>
          </p:spPr>
          <p:txBody>
            <a:bodyPr wrap="square" rtlCol="0">
              <a:normAutofit fontScale="9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chemeClr val="bg1"/>
                  </a:solidFill>
                  <a:latin typeface="+mn-ea"/>
                  <a:sym typeface="+mn-ea"/>
                </a:rPr>
                <a:t>Reload阶段实现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85" name="直接连接符 84"/>
          <p:cNvCxnSpPr/>
          <p:nvPr>
            <p:custDataLst>
              <p:tags r:id="rId21"/>
            </p:custDataLst>
          </p:nvPr>
        </p:nvCxnSpPr>
        <p:spPr>
          <a:xfrm>
            <a:off x="4126831" y="0"/>
            <a:ext cx="0" cy="6858000"/>
          </a:xfrm>
          <a:prstGeom prst="line">
            <a:avLst/>
          </a:prstGeom>
          <a:ln w="20002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3" name="文本框 82"/>
          <p:cNvSpPr txBox="1"/>
          <p:nvPr>
            <p:custDataLst>
              <p:tags r:id="rId22"/>
            </p:custDataLst>
          </p:nvPr>
        </p:nvSpPr>
        <p:spPr>
          <a:xfrm>
            <a:off x="3891785" y="505326"/>
            <a:ext cx="492443" cy="2489406"/>
          </a:xfrm>
          <a:prstGeom prst="rect">
            <a:avLst/>
          </a:prstGeom>
        </p:spPr>
        <p:txBody>
          <a:bodyPr vert="eaVert" wrap="square" lIns="0" tIns="0" rIns="0" bIns="0" rtlCol="0">
            <a:normAutofit fontScale="90000"/>
          </a:bodyPr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sym typeface="Arial" panose="020B0604020202020204" pitchFamily="34" charset="0"/>
              </a:rPr>
              <a:t>代码内容</a:t>
            </a:r>
            <a:endParaRPr lang="zh-CN" altLang="en-US" sz="3200" dirty="0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86" name="矩形 85"/>
          <p:cNvSpPr/>
          <p:nvPr>
            <p:custDataLst>
              <p:tags r:id="rId23"/>
            </p:custDataLst>
          </p:nvPr>
        </p:nvSpPr>
        <p:spPr>
          <a:xfrm>
            <a:off x="-8774" y="-17294"/>
            <a:ext cx="3862133" cy="6858000"/>
          </a:xfrm>
          <a:prstGeom prst="rect">
            <a:avLst/>
          </a:prstGeom>
          <a:blipFill dpi="0" rotWithShape="1">
            <a:blip r:embed="rId2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600" dirty="0"/>
          </a:p>
        </p:txBody>
      </p:sp>
      <p:grpSp>
        <p:nvGrpSpPr>
          <p:cNvPr id="2" name="组合 1"/>
          <p:cNvGrpSpPr/>
          <p:nvPr>
            <p:custDataLst>
              <p:tags r:id="rId25"/>
            </p:custDataLst>
          </p:nvPr>
        </p:nvGrpSpPr>
        <p:grpSpPr>
          <a:xfrm>
            <a:off x="5878985" y="3969893"/>
            <a:ext cx="4486275" cy="657225"/>
            <a:chOff x="5681662" y="1235075"/>
            <a:chExt cx="4486275" cy="657225"/>
          </a:xfrm>
        </p:grpSpPr>
        <p:grpSp>
          <p:nvGrpSpPr>
            <p:cNvPr id="3" name="组合 2"/>
            <p:cNvGrpSpPr/>
            <p:nvPr/>
          </p:nvGrpSpPr>
          <p:grpSpPr>
            <a:xfrm>
              <a:off x="5681662" y="1235075"/>
              <a:ext cx="4486275" cy="657225"/>
              <a:chOff x="5681662" y="1235075"/>
              <a:chExt cx="4486275" cy="657225"/>
            </a:xfrm>
          </p:grpSpPr>
          <p:sp>
            <p:nvSpPr>
              <p:cNvPr id="4" name="矩形: 圆角 79"/>
              <p:cNvSpPr/>
              <p:nvPr>
                <p:custDataLst>
                  <p:tags r:id="rId26"/>
                </p:custDataLst>
              </p:nvPr>
            </p:nvSpPr>
            <p:spPr>
              <a:xfrm>
                <a:off x="5681662" y="1235075"/>
                <a:ext cx="4486275" cy="657225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5" name="直接连接符 4"/>
              <p:cNvCxnSpPr/>
              <p:nvPr>
                <p:custDataLst>
                  <p:tags r:id="rId27"/>
                </p:custDataLst>
              </p:nvPr>
            </p:nvCxnSpPr>
            <p:spPr>
              <a:xfrm>
                <a:off x="6567487" y="1235075"/>
                <a:ext cx="0" cy="65722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4"/>
            <p:cNvSpPr txBox="1"/>
            <p:nvPr>
              <p:custDataLst>
                <p:tags r:id="rId28"/>
              </p:custDataLst>
            </p:nvPr>
          </p:nvSpPr>
          <p:spPr>
            <a:xfrm>
              <a:off x="5986462" y="1302077"/>
              <a:ext cx="885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en-US" altLang="zh-CN" sz="2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7" name="文本框 5"/>
            <p:cNvSpPr txBox="1"/>
            <p:nvPr>
              <p:custDataLst>
                <p:tags r:id="rId29"/>
              </p:custDataLst>
            </p:nvPr>
          </p:nvSpPr>
          <p:spPr>
            <a:xfrm>
              <a:off x="6648450" y="1302077"/>
              <a:ext cx="2781300" cy="521970"/>
            </a:xfrm>
            <a:prstGeom prst="rect">
              <a:avLst/>
            </a:prstGeom>
            <a:noFill/>
          </p:spPr>
          <p:txBody>
            <a:bodyPr wrap="square" rtlCol="0">
              <a:normAutofit fontScale="9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chemeClr val="bg1"/>
                  </a:solidFill>
                  <a:latin typeface="+mn-ea"/>
                  <a:sym typeface="+mn-ea"/>
                </a:rPr>
                <a:t>结果统计实现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30"/>
            </p:custDataLst>
          </p:nvPr>
        </p:nvGrpSpPr>
        <p:grpSpPr>
          <a:xfrm>
            <a:off x="5878985" y="4863957"/>
            <a:ext cx="4486275" cy="657225"/>
            <a:chOff x="5681662" y="1235075"/>
            <a:chExt cx="4486275" cy="657225"/>
          </a:xfrm>
        </p:grpSpPr>
        <p:grpSp>
          <p:nvGrpSpPr>
            <p:cNvPr id="9" name="组合 8"/>
            <p:cNvGrpSpPr/>
            <p:nvPr/>
          </p:nvGrpSpPr>
          <p:grpSpPr>
            <a:xfrm>
              <a:off x="5681662" y="1235075"/>
              <a:ext cx="4486275" cy="657225"/>
              <a:chOff x="5681662" y="1235075"/>
              <a:chExt cx="4486275" cy="657225"/>
            </a:xfrm>
          </p:grpSpPr>
          <p:sp>
            <p:nvSpPr>
              <p:cNvPr id="10" name="矩形: 圆角 74"/>
              <p:cNvSpPr/>
              <p:nvPr>
                <p:custDataLst>
                  <p:tags r:id="rId31"/>
                </p:custDataLst>
              </p:nvPr>
            </p:nvSpPr>
            <p:spPr>
              <a:xfrm>
                <a:off x="5681662" y="1235075"/>
                <a:ext cx="4486275" cy="657225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1" name="直接连接符 10"/>
              <p:cNvCxnSpPr/>
              <p:nvPr>
                <p:custDataLst>
                  <p:tags r:id="rId32"/>
                </p:custDataLst>
              </p:nvPr>
            </p:nvCxnSpPr>
            <p:spPr>
              <a:xfrm>
                <a:off x="6567487" y="1235075"/>
                <a:ext cx="0" cy="65722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9"/>
            <p:cNvSpPr txBox="1"/>
            <p:nvPr>
              <p:custDataLst>
                <p:tags r:id="rId33"/>
              </p:custDataLst>
            </p:nvPr>
          </p:nvSpPr>
          <p:spPr>
            <a:xfrm>
              <a:off x="5986462" y="1302077"/>
              <a:ext cx="885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dirty="0">
                  <a:solidFill>
                    <a:schemeClr val="bg1"/>
                  </a:solidFill>
                  <a:latin typeface="+mn-ea"/>
                </a:rPr>
                <a:t>6</a:t>
              </a:r>
              <a:endParaRPr lang="en-US" altLang="zh-CN" sz="2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3" name="文本框 10"/>
            <p:cNvSpPr txBox="1"/>
            <p:nvPr>
              <p:custDataLst>
                <p:tags r:id="rId34"/>
              </p:custDataLst>
            </p:nvPr>
          </p:nvSpPr>
          <p:spPr>
            <a:xfrm>
              <a:off x="6648450" y="1302077"/>
              <a:ext cx="2781300" cy="521970"/>
            </a:xfrm>
            <a:prstGeom prst="rect">
              <a:avLst/>
            </a:prstGeom>
            <a:noFill/>
          </p:spPr>
          <p:txBody>
            <a:bodyPr wrap="square" rtlCol="0">
              <a:normAutofit fontScale="9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chemeClr val="bg1"/>
                  </a:solidFill>
                  <a:latin typeface="+mn-ea"/>
                  <a:sym typeface="+mn-ea"/>
                </a:rPr>
                <a:t>结果打印实现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35"/>
            </p:custDataLst>
          </p:nvPr>
        </p:nvGrpSpPr>
        <p:grpSpPr>
          <a:xfrm>
            <a:off x="5878985" y="5758022"/>
            <a:ext cx="4486275" cy="657225"/>
            <a:chOff x="5681662" y="1235075"/>
            <a:chExt cx="4486275" cy="657225"/>
          </a:xfrm>
        </p:grpSpPr>
        <p:grpSp>
          <p:nvGrpSpPr>
            <p:cNvPr id="15" name="组合 14"/>
            <p:cNvGrpSpPr/>
            <p:nvPr/>
          </p:nvGrpSpPr>
          <p:grpSpPr>
            <a:xfrm>
              <a:off x="5681662" y="1235075"/>
              <a:ext cx="4486275" cy="657225"/>
              <a:chOff x="5681662" y="1235075"/>
              <a:chExt cx="4486275" cy="657225"/>
            </a:xfrm>
          </p:grpSpPr>
          <p:sp>
            <p:nvSpPr>
              <p:cNvPr id="16" name="矩形: 圆角 69"/>
              <p:cNvSpPr/>
              <p:nvPr>
                <p:custDataLst>
                  <p:tags r:id="rId36"/>
                </p:custDataLst>
              </p:nvPr>
            </p:nvSpPr>
            <p:spPr>
              <a:xfrm>
                <a:off x="5681662" y="1235075"/>
                <a:ext cx="4486275" cy="657225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7" name="直接连接符 16"/>
              <p:cNvCxnSpPr/>
              <p:nvPr>
                <p:custDataLst>
                  <p:tags r:id="rId37"/>
                </p:custDataLst>
              </p:nvPr>
            </p:nvCxnSpPr>
            <p:spPr>
              <a:xfrm>
                <a:off x="6567487" y="1235075"/>
                <a:ext cx="0" cy="65722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文本框 15"/>
            <p:cNvSpPr txBox="1"/>
            <p:nvPr>
              <p:custDataLst>
                <p:tags r:id="rId38"/>
              </p:custDataLst>
            </p:nvPr>
          </p:nvSpPr>
          <p:spPr>
            <a:xfrm>
              <a:off x="5986462" y="1302077"/>
              <a:ext cx="885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dirty="0">
                  <a:solidFill>
                    <a:schemeClr val="bg1"/>
                  </a:solidFill>
                  <a:latin typeface="+mn-ea"/>
                </a:rPr>
                <a:t>7</a:t>
              </a:r>
              <a:endParaRPr lang="en-US" altLang="zh-CN" sz="2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9" name="文本框 16"/>
            <p:cNvSpPr txBox="1"/>
            <p:nvPr>
              <p:custDataLst>
                <p:tags r:id="rId39"/>
              </p:custDataLst>
            </p:nvPr>
          </p:nvSpPr>
          <p:spPr>
            <a:xfrm>
              <a:off x="6648450" y="1302077"/>
              <a:ext cx="2781300" cy="521970"/>
            </a:xfrm>
            <a:prstGeom prst="rect">
              <a:avLst/>
            </a:prstGeom>
            <a:noFill/>
          </p:spPr>
          <p:txBody>
            <a:bodyPr wrap="square" rtlCol="0">
              <a:normAutofit fontScale="9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chemeClr val="bg1"/>
                  </a:solidFill>
                  <a:latin typeface="+mn-ea"/>
                </a:rPr>
                <a:t>资源释放</a:t>
              </a:r>
              <a:r>
                <a:rPr lang="zh-CN" altLang="en-US" sz="2800" dirty="0">
                  <a:solidFill>
                    <a:schemeClr val="bg1"/>
                  </a:solidFill>
                  <a:latin typeface="+mn-ea"/>
                </a:rPr>
                <a:t>实现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custDataLst>
      <p:tags r:id="rId4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 </a:t>
            </a:r>
            <a:r>
              <a:rPr lang="zh-CN" altLang="en-US">
                <a:solidFill>
                  <a:schemeClr val="bg1"/>
                </a:solidFill>
              </a:rPr>
              <a:t>初始化 - </a:t>
            </a:r>
            <a:r>
              <a:rPr lang="en-US" altLang="zh-CN">
                <a:solidFill>
                  <a:schemeClr val="bg1"/>
                </a:solidFill>
              </a:rPr>
              <a:t>uarf_fr_init</a:t>
            </a:r>
            <a:r>
              <a:rPr lang="zh-CN" altLang="en-US">
                <a:solidFill>
                  <a:schemeClr val="bg1"/>
                </a:solidFill>
              </a:rPr>
              <a:t>（）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6" name="图片 5" descr="post_object_image_17460589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350"/>
            <a:ext cx="5167630" cy="5962650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167630" y="895350"/>
            <a:ext cx="7025005" cy="5448300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/>
              <a:t>1. </a:t>
            </a:r>
            <a:r>
              <a:rPr lang="zh-CN" altLang="en-US" b="1"/>
              <a:t>槽位数</a:t>
            </a:r>
            <a:r>
              <a:rPr lang="en-US" altLang="zh-CN" b="1"/>
              <a:t>num_slots</a:t>
            </a:r>
            <a:r>
              <a:rPr lang="zh-CN" altLang="en-US"/>
              <a:t>：表示攻击者创建的共享内存数组的大小，必须是</a:t>
            </a:r>
            <a:r>
              <a:rPr lang="en-US" altLang="zh-CN"/>
              <a:t>2</a:t>
            </a:r>
            <a:r>
              <a:rPr lang="zh-CN" altLang="en-US"/>
              <a:t>的幂，因为后续使用位运算优化来计算槽位索引。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endParaRPr lang="zh-CN" altLang="en-US"/>
          </a:p>
          <a:p>
            <a:pPr algn="l"/>
            <a:endParaRPr lang="zh-CN" altLang="en-US"/>
          </a:p>
          <a:p>
            <a:pPr algn="l"/>
            <a:endParaRPr lang="en-US" altLang="zh-CN"/>
          </a:p>
          <a:p>
            <a:pPr algn="l"/>
            <a:r>
              <a:rPr lang="en-US" altLang="zh-CN"/>
              <a:t>2. </a:t>
            </a:r>
            <a:r>
              <a:rPr lang="zh-CN" altLang="en-US" b="1">
                <a:sym typeface="+mn-ea"/>
              </a:rPr>
              <a:t>映射数组</a:t>
            </a:r>
            <a:r>
              <a:rPr lang="en-US" altLang="zh-CN" b="1">
                <a:sym typeface="+mn-ea"/>
              </a:rPr>
              <a:t>bin_map</a:t>
            </a:r>
            <a:r>
              <a:rPr lang="zh-CN" altLang="en-US">
                <a:sym typeface="+mn-ea"/>
              </a:rPr>
              <a:t>：迭代次数到分箱的映射，决定每个分箱包含的迭代次数范围。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    </a:t>
            </a:r>
            <a:r>
              <a:rPr lang="zh-CN" altLang="en-US" b="1"/>
              <a:t>分箱数</a:t>
            </a:r>
            <a:r>
              <a:rPr lang="en-US" altLang="zh-CN" b="1"/>
              <a:t>num_bins</a:t>
            </a:r>
            <a:r>
              <a:rPr lang="zh-CN" altLang="en-US"/>
              <a:t>：表示将多次攻击迭代的结果分成多少个</a:t>
            </a:r>
            <a:r>
              <a:rPr lang="zh-CN" altLang="en-US"/>
              <a:t>箱，每个分箱存储一段时间内的攻击结果。</a:t>
            </a:r>
            <a:endParaRPr lang="zh-CN" altLang="en-US"/>
          </a:p>
          <a:p>
            <a:pPr algn="l"/>
            <a:r>
              <a:rPr lang="en-US" altLang="zh-CN"/>
              <a:t>3.</a:t>
            </a:r>
            <a:r>
              <a:rPr lang="zh-CN" altLang="en-US"/>
              <a:t> </a:t>
            </a:r>
            <a:r>
              <a:rPr lang="zh-CN" altLang="en-US" b="1"/>
              <a:t>大页内存映射</a:t>
            </a:r>
            <a:r>
              <a:rPr lang="zh-CN" altLang="en-US"/>
              <a:t>：使用</a:t>
            </a:r>
            <a:r>
              <a:rPr lang="en-US" altLang="zh-CN"/>
              <a:t>Linux</a:t>
            </a:r>
            <a:r>
              <a:rPr lang="zh-CN" altLang="en-US"/>
              <a:t>内核提供的</a:t>
            </a:r>
            <a:r>
              <a:rPr lang="zh-CN" altLang="en-US">
                <a:sym typeface="+mn-ea"/>
              </a:rPr>
              <a:t>透明大页</a:t>
            </a:r>
            <a:r>
              <a:rPr lang="zh-CN" altLang="en-US"/>
              <a:t>技术，</a:t>
            </a:r>
            <a:r>
              <a:rPr lang="zh-CN" altLang="en-US"/>
              <a:t>增大页面，减少</a:t>
            </a:r>
            <a:r>
              <a:rPr lang="en-US" altLang="zh-CN"/>
              <a:t>TLB</a:t>
            </a:r>
            <a:r>
              <a:rPr lang="zh-CN" altLang="en-US"/>
              <a:t>条目数量，降低未命中概率，避免</a:t>
            </a:r>
            <a:r>
              <a:rPr lang="en-US" altLang="zh-CN"/>
              <a:t>TLB</a:t>
            </a:r>
            <a:r>
              <a:rPr lang="zh-CN" altLang="en-US"/>
              <a:t>未命中的时间干扰，确保测量结果只反映缓存状态。</a:t>
            </a:r>
            <a:endParaRPr lang="zh-CN" altLang="en-US"/>
          </a:p>
          <a:p>
            <a:pPr algn="l"/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/>
              <a:t>4.</a:t>
            </a:r>
            <a:r>
              <a:rPr lang="zh-CN" altLang="en-US"/>
              <a:t> </a:t>
            </a:r>
            <a:r>
              <a:rPr lang="zh-CN" altLang="en-US" b="1"/>
              <a:t>避免零页后备</a:t>
            </a:r>
            <a:r>
              <a:rPr lang="zh-CN" altLang="en-US"/>
              <a:t>：</a:t>
            </a:r>
            <a:r>
              <a:rPr lang="zh-CN" altLang="en-US" sz="1600"/>
              <a:t>零页后备是操作系统通过共享全零页来节省内存的机制，写时复制会在首次写入时产生额外开销。在</a:t>
            </a:r>
            <a:r>
              <a:rPr lang="en-US" altLang="zh-CN" sz="1600"/>
              <a:t>Flush and Reload</a:t>
            </a:r>
            <a:r>
              <a:rPr lang="zh-CN" altLang="en-US" sz="1600"/>
              <a:t>中，这种开销会干扰时间测量。</a:t>
            </a:r>
            <a:endParaRPr lang="zh-CN" altLang="en-US" sz="1600"/>
          </a:p>
          <a:p>
            <a:pPr algn="l"/>
            <a:r>
              <a:rPr lang="zh-CN" altLang="en-US" sz="1600"/>
              <a:t>通过</a:t>
            </a:r>
            <a:r>
              <a:rPr lang="zh-CN" altLang="en-US" sz="1600"/>
              <a:t>在初始化时填充非零内容，强制操作系统分配实际物理内存，避免了写时复制的时间干扰，确保测量结果只反映缓存状态，提高攻击准确性。</a:t>
            </a:r>
            <a:endParaRPr lang="zh-CN" altLang="en-US" sz="1600"/>
          </a:p>
        </p:txBody>
      </p:sp>
      <p:pic>
        <p:nvPicPr>
          <p:cNvPr id="9" name="图片 8" descr="post_object_image_25798079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610" y="1536700"/>
            <a:ext cx="6550025" cy="979805"/>
          </a:xfrm>
          <a:prstGeom prst="rect">
            <a:avLst/>
          </a:prstGeom>
        </p:spPr>
      </p:pic>
      <p:pic>
        <p:nvPicPr>
          <p:cNvPr id="10" name="图片 9" descr="post_object_image_38515213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610" y="4533265"/>
            <a:ext cx="4970780" cy="513080"/>
          </a:xfrm>
          <a:prstGeom prst="rect">
            <a:avLst/>
          </a:prstGeom>
        </p:spPr>
      </p:pic>
      <p:pic>
        <p:nvPicPr>
          <p:cNvPr id="11" name="图片 10" descr="post_object_image_280602987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1610" y="6296025"/>
            <a:ext cx="5903595" cy="55308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 FLUSH</a:t>
            </a:r>
            <a:r>
              <a:rPr lang="zh-CN" altLang="en-US">
                <a:solidFill>
                  <a:schemeClr val="bg1"/>
                </a:solidFill>
              </a:rPr>
              <a:t>阶段 - </a:t>
            </a:r>
            <a:r>
              <a:rPr lang="en-US" altLang="zh-CN">
                <a:solidFill>
                  <a:schemeClr val="bg1"/>
                </a:solidFill>
              </a:rPr>
              <a:t>uarf_fr_flush</a:t>
            </a:r>
            <a:r>
              <a:rPr lang="zh-CN" altLang="en-US">
                <a:solidFill>
                  <a:schemeClr val="bg1"/>
                </a:solidFill>
              </a:rPr>
              <a:t>（）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11" name="图片 10" descr="post_object_image_31655663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9637"/>
            <a:ext cx="6386820" cy="4005263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6386830" y="909320"/>
            <a:ext cx="5907405" cy="3220720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/>
              <a:t>1. </a:t>
            </a:r>
            <a:r>
              <a:rPr lang="zh-CN" altLang="en-US" b="1"/>
              <a:t>多重内存屏障</a:t>
            </a:r>
            <a:r>
              <a:rPr lang="zh-CN" altLang="en-US"/>
              <a:t>：</a:t>
            </a:r>
            <a:r>
              <a:rPr lang="en-US" altLang="zh-CN"/>
              <a:t>uarf_mfence(); uarf_sfence(); uarf_lfence(); </a:t>
            </a:r>
            <a:r>
              <a:rPr lang="zh-CN" altLang="en-US"/>
              <a:t>防止</a:t>
            </a:r>
            <a:r>
              <a:rPr lang="en-US" altLang="zh-CN"/>
              <a:t>CPU</a:t>
            </a:r>
            <a:r>
              <a:rPr lang="zh-CN" altLang="en-US"/>
              <a:t>乱序执行内存操作，确保内存操作的顺序性和</a:t>
            </a:r>
            <a:r>
              <a:rPr lang="zh-CN" altLang="en-US"/>
              <a:t>可控性。</a:t>
            </a:r>
            <a:endParaRPr lang="zh-CN" altLang="en-US"/>
          </a:p>
          <a:p>
            <a:pPr algn="l"/>
            <a:r>
              <a:rPr lang="en-US" altLang="zh-CN"/>
              <a:t>2.</a:t>
            </a:r>
            <a:r>
              <a:rPr lang="zh-CN" altLang="en-US"/>
              <a:t> </a:t>
            </a:r>
            <a:r>
              <a:rPr lang="en-US" altLang="zh-CN" b="1"/>
              <a:t>clflush</a:t>
            </a:r>
            <a:r>
              <a:rPr lang="zh-CN" altLang="en-US" b="1"/>
              <a:t>指令</a:t>
            </a:r>
            <a:r>
              <a:rPr lang="zh-CN" altLang="en-US"/>
              <a:t>：遍历缓冲区中的所有槽位，执行</a:t>
            </a:r>
            <a:r>
              <a:rPr lang="en-US" altLang="zh-CN"/>
              <a:t>clflush</a:t>
            </a:r>
            <a:r>
              <a:rPr lang="zh-CN" altLang="en-US"/>
              <a:t>指令，清除该地址所在的整个缓存行。而</a:t>
            </a:r>
            <a:r>
              <a:rPr lang="en-US" altLang="zh-CN"/>
              <a:t>uarf_clflush()</a:t>
            </a:r>
            <a:r>
              <a:rPr lang="zh-CN" altLang="en-US"/>
              <a:t>的定义在</a:t>
            </a:r>
            <a:r>
              <a:rPr lang="en-US" altLang="zh-CN"/>
              <a:t>uARF\include\lib.h</a:t>
            </a:r>
            <a:r>
              <a:rPr lang="zh-CN" altLang="en-US"/>
              <a:t>文件中：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通过内联汇编封装</a:t>
            </a:r>
            <a:r>
              <a:rPr lang="en-US" altLang="zh-CN"/>
              <a:t>x86</a:t>
            </a:r>
            <a:r>
              <a:rPr lang="zh-CN" altLang="en-US"/>
              <a:t>架构的</a:t>
            </a:r>
            <a:r>
              <a:rPr lang="en-US" altLang="zh-CN"/>
              <a:t>clflush</a:t>
            </a:r>
            <a:r>
              <a:rPr lang="zh-CN" altLang="en-US"/>
              <a:t>指令，刷新特定内存地址的缓存行。</a:t>
            </a:r>
            <a:endParaRPr lang="zh-CN" altLang="en-US"/>
          </a:p>
        </p:txBody>
      </p:sp>
      <p:pic>
        <p:nvPicPr>
          <p:cNvPr id="13" name="图片 12" descr="post_object_image_28648962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523" y="2654937"/>
            <a:ext cx="5550218" cy="705164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 </a:t>
            </a:r>
            <a:r>
              <a:rPr lang="zh-CN" altLang="en-US">
                <a:solidFill>
                  <a:schemeClr val="bg1"/>
                </a:solidFill>
              </a:rPr>
              <a:t>分箱辅助函数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- </a:t>
            </a:r>
            <a:r>
              <a:rPr lang="en-US" altLang="zh-CN">
                <a:solidFill>
                  <a:schemeClr val="bg1"/>
                </a:solidFill>
              </a:rPr>
              <a:t>uarf_get_bin</a:t>
            </a:r>
            <a:r>
              <a:rPr lang="zh-CN" altLang="en-US">
                <a:solidFill>
                  <a:schemeClr val="bg1"/>
                </a:solidFill>
              </a:rPr>
              <a:t>（）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15087452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5372100" cy="2857500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5560695" y="1095375"/>
            <a:ext cx="6357620" cy="1476375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/>
              <a:t>功能：</a:t>
            </a:r>
            <a:endParaRPr lang="zh-CN" altLang="en-US" b="1"/>
          </a:p>
          <a:p>
            <a:pPr algn="l"/>
            <a:r>
              <a:rPr lang="zh-CN" altLang="en-US"/>
              <a:t>将多次迭代的结果</a:t>
            </a:r>
            <a:r>
              <a:rPr lang="zh-CN" altLang="en-US" b="1"/>
              <a:t>分组统计</a:t>
            </a:r>
            <a:r>
              <a:rPr lang="zh-CN" altLang="en-US"/>
              <a:t>，便于分析不同阶段的攻击效果，</a:t>
            </a:r>
            <a:endParaRPr lang="zh-CN" altLang="en-US"/>
          </a:p>
          <a:p>
            <a:pPr algn="l"/>
            <a:r>
              <a:rPr lang="zh-CN" altLang="en-US"/>
              <a:t>每个分箱对应一定范围的迭代次数，</a:t>
            </a:r>
            <a:endParaRPr lang="zh-CN" altLang="en-US"/>
          </a:p>
          <a:p>
            <a:pPr algn="l"/>
            <a:r>
              <a:rPr lang="zh-CN" altLang="en-US"/>
              <a:t>可以根据不同的攻击阶段调整统计粒度，</a:t>
            </a:r>
            <a:endParaRPr lang="zh-CN" altLang="en-US"/>
          </a:p>
          <a:p>
            <a:pPr algn="l"/>
            <a:r>
              <a:rPr lang="zh-CN" altLang="en-US"/>
              <a:t>支持按时间或迭代次数分析攻击效果的变化。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 Reload</a:t>
            </a:r>
            <a:r>
              <a:rPr lang="zh-CN" altLang="en-US">
                <a:solidFill>
                  <a:schemeClr val="bg1"/>
                </a:solidFill>
              </a:rPr>
              <a:t>阶段 - </a:t>
            </a:r>
            <a:r>
              <a:rPr lang="en-US" altLang="zh-CN">
                <a:solidFill>
                  <a:schemeClr val="bg1"/>
                </a:solidFill>
              </a:rPr>
              <a:t>uarf_fr_reload_binned</a:t>
            </a:r>
            <a:r>
              <a:rPr lang="zh-CN" altLang="en-US">
                <a:solidFill>
                  <a:schemeClr val="bg1"/>
                </a:solidFill>
              </a:rPr>
              <a:t>（）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18567283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9638"/>
            <a:ext cx="5440863" cy="5948362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5440839" y="909638"/>
            <a:ext cx="6751184" cy="594836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1. </a:t>
            </a:r>
            <a:r>
              <a:rPr lang="zh-CN" altLang="en-US" b="1"/>
              <a:t>重新加载</a:t>
            </a:r>
            <a:r>
              <a:rPr lang="en-US" altLang="zh-CN" b="1"/>
              <a:t>TLB</a:t>
            </a:r>
            <a:r>
              <a:rPr lang="zh-CN" altLang="en-US"/>
              <a:t>：遍历所有槽位，触发</a:t>
            </a:r>
            <a:r>
              <a:rPr lang="en-US" altLang="zh-CN"/>
              <a:t>TLB</a:t>
            </a:r>
            <a:r>
              <a:rPr lang="zh-CN" altLang="en-US"/>
              <a:t>加载，确保 </a:t>
            </a:r>
            <a:r>
              <a:rPr lang="en-US" altLang="zh-CN"/>
              <a:t>TLB </a:t>
            </a:r>
            <a:r>
              <a:rPr lang="zh-CN" altLang="en-US"/>
              <a:t>中存</a:t>
            </a:r>
            <a:endParaRPr lang="zh-CN" altLang="en-US"/>
          </a:p>
          <a:p>
            <a:r>
              <a:rPr lang="zh-CN" altLang="en-US"/>
              <a:t>在对应的条目，减少 </a:t>
            </a:r>
            <a:r>
              <a:rPr lang="en-US" altLang="zh-CN"/>
              <a:t>TLB </a:t>
            </a:r>
            <a:r>
              <a:rPr lang="zh-CN" altLang="en-US"/>
              <a:t>未命中对测量时间的影响，提高攻击</a:t>
            </a:r>
            <a:endParaRPr lang="zh-CN" altLang="en-US"/>
          </a:p>
          <a:p>
            <a:r>
              <a:rPr lang="zh-CN" altLang="en-US"/>
              <a:t>的准确性。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 </a:t>
            </a:r>
            <a:r>
              <a:rPr lang="zh-CN" altLang="en-US" b="1"/>
              <a:t>对抗缓存预取器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①</a:t>
            </a:r>
            <a:r>
              <a:rPr lang="zh-CN" altLang="en-US" b="1"/>
              <a:t>循环展开</a:t>
            </a:r>
            <a:endParaRPr lang="zh-CN" altLang="en-US" b="1"/>
          </a:p>
          <a:p>
            <a:r>
              <a:rPr lang="zh-CN" altLang="en-US"/>
              <a:t>循环展开是一种编译器优化技术，将循环体中的迭代展开为多个重复的代码块，减少分支预测，编译器可以进行指令重排序打乱访问顺序，从而影响指令流水线的执行顺序，</a:t>
            </a:r>
            <a:r>
              <a:rPr lang="zh-CN" altLang="en-US">
                <a:sym typeface="+mn-ea"/>
              </a:rPr>
              <a:t>打破规律性，</a:t>
            </a:r>
            <a:r>
              <a:rPr lang="zh-CN" altLang="en-US"/>
              <a:t>确保测量的时间反映真实的缓存状态，而非预取器的干扰。</a:t>
            </a:r>
            <a:endParaRPr lang="zh-CN" altLang="en-US"/>
          </a:p>
          <a:p>
            <a:r>
              <a:rPr lang="zh-CN" altLang="en-US"/>
              <a:t>展开因子：将循环展开成多少个独立的迭代块。</a:t>
            </a:r>
            <a:endParaRPr lang="zh-CN" altLang="en-US"/>
          </a:p>
          <a:p>
            <a:r>
              <a:rPr lang="zh-CN" altLang="en-US"/>
              <a:t>②</a:t>
            </a:r>
            <a:r>
              <a:rPr lang="zh-CN" altLang="en-US" b="1"/>
              <a:t>访问顺序打乱</a:t>
            </a:r>
            <a:endParaRPr lang="zh-CN" altLang="en-US" b="1"/>
          </a:p>
          <a:p>
            <a:r>
              <a:rPr lang="zh-CN" altLang="en-US"/>
              <a:t>使用哈希函数打乱访问顺序，防止空间局部性触发预取。</a:t>
            </a:r>
            <a:r>
              <a:rPr lang="en-US" altLang="zh-CN"/>
              <a:t>421</a:t>
            </a:r>
            <a:r>
              <a:rPr lang="zh-CN" altLang="en-US"/>
              <a:t>是一个质数，用于生成均匀分布的索引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r>
              <a:rPr lang="en-US" altLang="zh-CN"/>
              <a:t> &amp; (conf-&gt;num_slots - 1) </a:t>
            </a:r>
            <a:r>
              <a:rPr lang="zh-CN" altLang="en-US"/>
              <a:t>相当于取模运算，要求</a:t>
            </a:r>
            <a:r>
              <a:rPr lang="en-US" altLang="zh-CN"/>
              <a:t>conf-&gt;num_slots</a:t>
            </a:r>
            <a:r>
              <a:rPr lang="zh-CN" altLang="en-US"/>
              <a:t>是</a:t>
            </a:r>
            <a:r>
              <a:rPr lang="en-US" altLang="zh-CN"/>
              <a:t>2</a:t>
            </a:r>
            <a:r>
              <a:rPr lang="zh-CN" altLang="en-US"/>
              <a:t>的幂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r>
              <a:rPr lang="zh-CN" altLang="en-US"/>
              <a:t>这种方式可以有效防止</a:t>
            </a:r>
            <a:r>
              <a:rPr lang="en-US" altLang="zh-CN"/>
              <a:t>CPU</a:t>
            </a:r>
            <a:r>
              <a:rPr lang="zh-CN" altLang="en-US"/>
              <a:t>的预取器预测访问模式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 </a:t>
            </a:r>
            <a:r>
              <a:rPr lang="zh-CN" altLang="en-US" b="1"/>
              <a:t>确定要访问的具体内存地址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内存地址计算</a:t>
            </a:r>
            <a:r>
              <a:rPr lang="zh-CN" altLang="en-US"/>
              <a:t>公式：缓冲区基地址</a:t>
            </a:r>
            <a:r>
              <a:rPr lang="en-US" altLang="zh-CN"/>
              <a:t> </a:t>
            </a:r>
            <a:r>
              <a:rPr lang="zh-CN" altLang="en-US"/>
              <a:t>+ 槽位步长</a:t>
            </a:r>
            <a:r>
              <a:rPr lang="en-US" altLang="zh-CN"/>
              <a:t> </a:t>
            </a:r>
            <a:r>
              <a:rPr lang="zh-CN" altLang="en-US"/>
              <a:t>× 索引偏移 。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 </a:t>
            </a:r>
            <a:r>
              <a:rPr lang="zh-CN" altLang="en-US" b="1"/>
              <a:t>使用</a:t>
            </a:r>
            <a:r>
              <a:rPr lang="en-US" altLang="zh-CN" b="1"/>
              <a:t>rdtsc</a:t>
            </a:r>
            <a:r>
              <a:rPr lang="zh-CN" altLang="en-US" b="1"/>
              <a:t>指令测量访存时间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uarf_get_access_time </a:t>
            </a:r>
            <a:r>
              <a:rPr lang="zh-CN" altLang="en-US"/>
              <a:t>函数通过内联汇编实现的时间戳指令，结合内存屏障和实际内存访问，实现了高精度的内存访问时间测量。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6" name="图片 5" descr="post_object_image_40346066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089150"/>
            <a:ext cx="2280356" cy="203200"/>
          </a:xfrm>
          <a:prstGeom prst="rect">
            <a:avLst/>
          </a:prstGeom>
        </p:spPr>
      </p:pic>
      <p:pic>
        <p:nvPicPr>
          <p:cNvPr id="7" name="图片 6" descr="post_object_image_23179131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3726656"/>
            <a:ext cx="4726464" cy="238396"/>
          </a:xfrm>
          <a:prstGeom prst="rect">
            <a:avLst/>
          </a:prstGeom>
        </p:spPr>
      </p:pic>
      <p:pic>
        <p:nvPicPr>
          <p:cNvPr id="8" name="图片 7" descr="post_object_image_15540506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0" y="5094605"/>
            <a:ext cx="3524250" cy="233680"/>
          </a:xfrm>
          <a:prstGeom prst="rect">
            <a:avLst/>
          </a:prstGeom>
        </p:spPr>
      </p:pic>
      <p:pic>
        <p:nvPicPr>
          <p:cNvPr id="9" name="图片 8" descr="post_object_image_12303884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3955" y="5638800"/>
            <a:ext cx="3408045" cy="24638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 Reload</a:t>
            </a:r>
            <a:r>
              <a:rPr lang="zh-CN" altLang="en-US">
                <a:solidFill>
                  <a:schemeClr val="bg1"/>
                </a:solidFill>
              </a:rPr>
              <a:t>阶段 - </a:t>
            </a:r>
            <a:r>
              <a:rPr lang="en-US" altLang="zh-CN">
                <a:solidFill>
                  <a:schemeClr val="bg1"/>
                </a:solidFill>
              </a:rPr>
              <a:t>uarf_fr_reload_binned</a:t>
            </a:r>
            <a:r>
              <a:rPr lang="zh-CN" altLang="en-US">
                <a:solidFill>
                  <a:schemeClr val="bg1"/>
                </a:solidFill>
              </a:rPr>
              <a:t>（）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0" y="977900"/>
            <a:ext cx="12192000" cy="160210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进一步</a:t>
            </a:r>
            <a:r>
              <a:rPr lang="zh-CN" altLang="en-US">
                <a:cs typeface="Arial" panose="020B0604020202020204" pitchFamily="34" charset="0"/>
              </a:rPr>
              <a:t>分析：                                                                  </a:t>
            </a:r>
            <a:r>
              <a:rPr lang="en-US" altLang="zh-CN"/>
              <a:t>uarf_get_access_time </a:t>
            </a:r>
            <a:r>
              <a:rPr lang="zh-CN" altLang="en-US"/>
              <a:t>本身是一个内联函数，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lib.h</a:t>
            </a:r>
            <a:r>
              <a:rPr lang="zh-CN" altLang="en-US"/>
              <a:t>文件中发现，其内部调用了</a:t>
            </a:r>
            <a:r>
              <a:rPr lang="en-US" altLang="zh-CN"/>
              <a:t>uarf_rdtsc() </a:t>
            </a:r>
            <a:r>
              <a:rPr lang="zh-CN" altLang="en-US"/>
              <a:t>和 </a:t>
            </a:r>
            <a:r>
              <a:rPr lang="en-US" altLang="zh-CN"/>
              <a:t>uarf_rdtscp() </a:t>
            </a:r>
            <a:r>
              <a:rPr lang="zh-CN" altLang="en-US"/>
              <a:t>两个包含内联汇编的函数。</a:t>
            </a:r>
            <a:endParaRPr lang="zh-CN" altLang="en-US"/>
          </a:p>
        </p:txBody>
      </p:sp>
      <p:pic>
        <p:nvPicPr>
          <p:cNvPr id="11" name="图片 10" descr="post_object_image_12303884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1054735"/>
            <a:ext cx="4517390" cy="248920"/>
          </a:xfrm>
          <a:prstGeom prst="rect">
            <a:avLst/>
          </a:prstGeom>
        </p:spPr>
      </p:pic>
      <p:pic>
        <p:nvPicPr>
          <p:cNvPr id="12" name="图片 11" descr="post_object_image_5498200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7" y="1624541"/>
            <a:ext cx="6191250" cy="2905125"/>
          </a:xfrm>
          <a:prstGeom prst="rect">
            <a:avLst/>
          </a:prstGeom>
        </p:spPr>
      </p:pic>
      <p:pic>
        <p:nvPicPr>
          <p:cNvPr id="13" name="图片 12" descr="post_object_image_33715585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08" y="1624542"/>
            <a:ext cx="5625042" cy="290512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0" y="4741333"/>
            <a:ext cx="11995150" cy="1198880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r>
              <a:rPr lang="en-US" altLang="zh-CN"/>
              <a:t>rdtsc </a:t>
            </a:r>
            <a:r>
              <a:rPr lang="zh-CN" altLang="en-US"/>
              <a:t>和</a:t>
            </a:r>
            <a:r>
              <a:rPr lang="en-US" altLang="zh-CN"/>
              <a:t> rdtscp </a:t>
            </a:r>
            <a:r>
              <a:rPr lang="zh-CN" altLang="en-US"/>
              <a:t>是</a:t>
            </a:r>
            <a:r>
              <a:rPr lang="en-US" altLang="zh-CN"/>
              <a:t> x86 </a:t>
            </a:r>
            <a:r>
              <a:rPr lang="zh-CN" altLang="en-US"/>
              <a:t>架构处理器中用于读取时间戳计数器的指令，主要用于高精度计时和性能测量，是 </a:t>
            </a:r>
            <a:r>
              <a:rPr lang="en-US" altLang="zh-CN"/>
              <a:t>Flush and Reload </a:t>
            </a:r>
            <a:r>
              <a:rPr lang="zh-CN" altLang="en-US"/>
              <a:t>攻击中时间测量的基础，用于实现纳秒级的高精度时间测量。通过测量这个时间差，可以判断内存是否被其他进程访问过，从而实现侧信道攻击。</a:t>
            </a:r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026285" y="2508038"/>
            <a:ext cx="1111250" cy="254000"/>
          </a:xfrm>
          <a:prstGeom prst="rect">
            <a:avLst/>
          </a:prstGeom>
          <a:noFill/>
          <a:ln>
            <a:solidFill>
              <a:srgbClr val="FF0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327785" y="3397038"/>
            <a:ext cx="1111250" cy="254000"/>
          </a:xfrm>
          <a:prstGeom prst="rect">
            <a:avLst/>
          </a:prstGeom>
          <a:noFill/>
          <a:ln>
            <a:solidFill>
              <a:srgbClr val="FF0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8458200" y="3714538"/>
            <a:ext cx="701252" cy="254000"/>
          </a:xfrm>
          <a:prstGeom prst="rect">
            <a:avLst/>
          </a:prstGeom>
          <a:noFill/>
          <a:ln>
            <a:solidFill>
              <a:srgbClr val="FF0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8458200" y="2169371"/>
            <a:ext cx="624417" cy="254000"/>
          </a:xfrm>
          <a:prstGeom prst="rect">
            <a:avLst/>
          </a:prstGeom>
          <a:noFill/>
          <a:ln>
            <a:solidFill>
              <a:srgbClr val="FF0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19" name="直接箭头连接符 18"/>
          <p:cNvCxnSpPr/>
          <p:nvPr userDrawn="1"/>
        </p:nvCxnSpPr>
        <p:spPr>
          <a:xfrm flipV="1">
            <a:off x="3190875" y="2402205"/>
            <a:ext cx="5185410" cy="285750"/>
          </a:xfrm>
          <a:prstGeom prst="straightConnector1">
            <a:avLst/>
          </a:prstGeom>
          <a:ln w="19050">
            <a:solidFill>
              <a:srgbClr val="FF0000">
                <a:alpha val="10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 userDrawn="1"/>
        </p:nvCxnSpPr>
        <p:spPr>
          <a:xfrm>
            <a:off x="2481368" y="3418205"/>
            <a:ext cx="5915660" cy="306917"/>
          </a:xfrm>
          <a:prstGeom prst="straightConnector1">
            <a:avLst/>
          </a:prstGeom>
          <a:ln w="19050">
            <a:solidFill>
              <a:srgbClr val="FF0000">
                <a:alpha val="10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 </a:t>
            </a:r>
            <a:r>
              <a:rPr lang="zh-CN" altLang="en-US">
                <a:solidFill>
                  <a:schemeClr val="bg1"/>
                </a:solidFill>
              </a:rPr>
              <a:t>结果统计 - </a:t>
            </a:r>
            <a:r>
              <a:rPr lang="en-US" altLang="zh-CN">
                <a:solidFill>
                  <a:schemeClr val="bg1"/>
                </a:solidFill>
              </a:rPr>
              <a:t>uarf_fr_num_hits</a:t>
            </a:r>
            <a:r>
              <a:rPr lang="zh-CN" altLang="en-US">
                <a:solidFill>
                  <a:schemeClr val="bg1"/>
                </a:solidFill>
              </a:rPr>
              <a:t>（）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30463030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2283"/>
            <a:ext cx="5990282" cy="183091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0" y="3388360"/>
            <a:ext cx="6457950" cy="95207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/>
              <a:t>局限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目前仅支持</a:t>
            </a:r>
            <a:r>
              <a:rPr lang="en-US" altLang="zh-CN"/>
              <a:t>1</a:t>
            </a:r>
            <a:r>
              <a:rPr lang="zh-CN" altLang="en-US"/>
              <a:t>个分箱的情况</a:t>
            </a:r>
            <a:endParaRPr lang="zh-CN" altLang="en-US"/>
          </a:p>
          <a:p>
            <a:r>
              <a:rPr lang="zh-CN" altLang="en-US"/>
              <a:t>可以在</a:t>
            </a:r>
            <a:r>
              <a:rPr lang="en-US" altLang="zh-CN"/>
              <a:t>uARF/include/lib.h</a:t>
            </a:r>
            <a:r>
              <a:rPr lang="zh-CN" altLang="en-US"/>
              <a:t>文件中找到</a:t>
            </a:r>
            <a:r>
              <a:rPr lang="en-US" altLang="zh-CN"/>
              <a:t>uarf_assert</a:t>
            </a:r>
            <a:r>
              <a:rPr lang="zh-CN" altLang="en-US"/>
              <a:t>宏定义：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如果</a:t>
            </a:r>
            <a:r>
              <a:rPr lang="en-US" altLang="zh-CN"/>
              <a:t>bin !</a:t>
            </a:r>
            <a:r>
              <a:rPr lang="zh-CN" altLang="en-US"/>
              <a:t>= </a:t>
            </a:r>
            <a:r>
              <a:rPr lang="en-US" altLang="zh-CN"/>
              <a:t>1</a:t>
            </a:r>
            <a:r>
              <a:rPr lang="zh-CN" altLang="en-US"/>
              <a:t>，则传入为</a:t>
            </a:r>
            <a:r>
              <a:rPr lang="en-US" altLang="zh-CN"/>
              <a:t>false</a:t>
            </a:r>
            <a:r>
              <a:rPr lang="zh-CN" altLang="en-US"/>
              <a:t>，断言失败，程序终止。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2743200"/>
            <a:ext cx="7315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功能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遍历结果数组，累加所有槽位的命中次数，返回总命中次数。</a:t>
            </a:r>
            <a:endParaRPr lang="zh-CN" altLang="en-US"/>
          </a:p>
        </p:txBody>
      </p:sp>
      <p:pic>
        <p:nvPicPr>
          <p:cNvPr id="6" name="图片 5" descr="post_object_image_31414063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3" y="4394200"/>
            <a:ext cx="7810500" cy="1371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3556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6. </a:t>
            </a:r>
            <a:r>
              <a:rPr lang="zh-CN" altLang="en-US">
                <a:solidFill>
                  <a:schemeClr val="bg1"/>
                </a:solidFill>
              </a:rPr>
              <a:t>结果打印 - </a:t>
            </a:r>
            <a:r>
              <a:rPr lang="en-US" altLang="zh-CN">
                <a:solidFill>
                  <a:schemeClr val="bg1"/>
                </a:solidFill>
              </a:rPr>
              <a:t>uarf_fr_print</a:t>
            </a:r>
            <a:r>
              <a:rPr lang="zh-CN" altLang="en-US">
                <a:solidFill>
                  <a:schemeClr val="bg1"/>
                </a:solidFill>
              </a:rPr>
              <a:t>（）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0583" y="4209203"/>
            <a:ext cx="4126442" cy="175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颜色</a:t>
            </a:r>
            <a:r>
              <a:rPr lang="zh-CN" altLang="en-US">
                <a:cs typeface="Arial" panose="020B0604020202020204" pitchFamily="34" charset="0"/>
              </a:rPr>
              <a:t>规定</a:t>
            </a:r>
            <a:r>
              <a:rPr lang="zh-CN" altLang="en-US"/>
              <a:t>：有命中的</a:t>
            </a:r>
            <a:r>
              <a:rPr lang="en-US" altLang="zh-CN"/>
              <a:t>slot</a:t>
            </a:r>
            <a:r>
              <a:rPr lang="zh-CN" altLang="en-US"/>
              <a:t>用红色显示，无命中的用默认颜色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结果统计：显示每个分箱的结果和总结果，便于分析攻击效果随时间的变化</a:t>
            </a:r>
            <a:endParaRPr lang="zh-CN" altLang="en-US"/>
          </a:p>
        </p:txBody>
      </p:sp>
      <p:pic>
        <p:nvPicPr>
          <p:cNvPr id="4" name="图片 3" descr="post_object_image_38804064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341438"/>
            <a:ext cx="3914775" cy="1771650"/>
          </a:xfrm>
          <a:prstGeom prst="rect">
            <a:avLst/>
          </a:prstGeom>
        </p:spPr>
      </p:pic>
      <p:pic>
        <p:nvPicPr>
          <p:cNvPr id="5" name="图片 4" descr="post_object_image_28393064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442" y="1341437"/>
            <a:ext cx="4048125" cy="4800600"/>
          </a:xfrm>
          <a:prstGeom prst="rect">
            <a:avLst/>
          </a:prstGeom>
        </p:spPr>
      </p:pic>
      <p:pic>
        <p:nvPicPr>
          <p:cNvPr id="6" name="图片 5" descr="post_object_image_28926517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683" y="1341438"/>
            <a:ext cx="3771900" cy="3857625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95250" y="973138"/>
            <a:ext cx="1062418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单分箱</a:t>
            </a:r>
            <a:r>
              <a:rPr lang="zh-CN" altLang="en-US">
                <a:cs typeface="Arial" panose="020B0604020202020204" pitchFamily="34" charset="0"/>
              </a:rPr>
              <a:t>情况：                                      多分箱情况：                                         结果可视化打印：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7. </a:t>
            </a:r>
            <a:r>
              <a:rPr lang="zh-CN" altLang="en-US">
                <a:solidFill>
                  <a:schemeClr val="bg1"/>
                </a:solidFill>
              </a:rPr>
              <a:t>资源释放实现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- </a:t>
            </a:r>
            <a:r>
              <a:rPr lang="en-US" altLang="zh-CN">
                <a:solidFill>
                  <a:schemeClr val="bg1"/>
                </a:solidFill>
              </a:rPr>
              <a:t>uarf_fr_deinit</a:t>
            </a:r>
            <a:r>
              <a:rPr lang="zh-CN" altLang="en-US">
                <a:solidFill>
                  <a:schemeClr val="bg1"/>
                </a:solidFill>
              </a:rPr>
              <a:t>（）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6522111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8104"/>
            <a:ext cx="5795105" cy="184679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00750" y="1076854"/>
            <a:ext cx="73152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1. </a:t>
            </a:r>
            <a:r>
              <a:rPr lang="zh-CN" altLang="en-US"/>
              <a:t>释放主缓冲区的内存映射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释放辅助缓冲区的内存映射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释放结果数组的内存映射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8.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  <a:cs typeface="Arial" panose="020B0604020202020204" pitchFamily="34" charset="0"/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44992" y="1007533"/>
            <a:ext cx="5122545" cy="42989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2200"/>
              <a:t>分析 推测执行攻击 </a:t>
            </a:r>
            <a:r>
              <a:rPr lang="en-US" altLang="zh-CN" sz="2200"/>
              <a:t>Spectre</a:t>
            </a:r>
            <a:r>
              <a:rPr lang="zh-CN" altLang="en-US" sz="2200"/>
              <a:t>-</a:t>
            </a:r>
            <a:r>
              <a:rPr lang="en-US" altLang="zh-CN" sz="2200"/>
              <a:t>BTI </a:t>
            </a:r>
            <a:r>
              <a:rPr lang="zh-CN" altLang="en-US" sz="2200"/>
              <a:t>的代码</a:t>
            </a:r>
            <a:endParaRPr lang="zh-CN" altLang="en-US" sz="22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   谢谢！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2026.01.21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DIAGRAM_VIRTUALLY_FRAME" val="{&quot;height&quot;:473.627874015748,&quot;left&quot;:462.90937007874015,&quot;top&quot;:31.509685039370076,&quot;width&quot;:353.2528346456693}"/>
</p:tagLst>
</file>

<file path=ppt/tags/tag333.xml><?xml version="1.0" encoding="utf-8"?>
<p:tagLst xmlns:p="http://schemas.openxmlformats.org/presentationml/2006/main">
  <p:tag name="KSO_WM_UNIT_TYPE" val="l_h_i"/>
  <p:tag name="KSO_WM_UNIT_SUBTYPE" val="h"/>
  <p:tag name="KSO_WM_UNIT_INDEX" val="1_1_2"/>
  <p:tag name="KSO_WM_BEAUTIFY_FLAG" val="#wm#"/>
  <p:tag name="KSO_WM_TAG_VERSION" val="3.0"/>
  <p:tag name="KSO_WM_TEMPLATE_NEED_RESERVE" val="1"/>
  <p:tag name="KSO_WM_DIAGRAM_VERSION" val="3"/>
  <p:tag name="KSO_WM_UNIT_ISCONTENTSTITLE" val="1"/>
  <p:tag name="KSO_WM_TEMPLATE_INDEX" val="4"/>
  <p:tag name="KSO_WM_TEMPLATE_CATEGORY" val="custom"/>
  <p:tag name="KSO_WM_UNIT_ID" val="custom4_2*l_h_i*1_1_2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34.xml><?xml version="1.0" encoding="utf-8"?>
<p:tagLst xmlns:p="http://schemas.openxmlformats.org/presentationml/2006/main">
  <p:tag name="KSO_WM_UNIT_ISCONTENTSTITLE" val="1"/>
  <p:tag name="KSO_WM_TEMPLATE_INDEX" val="4"/>
  <p:tag name="KSO_WM_BEAUTIFY_FLAG" val="#wm#"/>
  <p:tag name="KSO_WM_TAG_VERSION" val="3.0"/>
  <p:tag name="KSO_WM_TEMPLATE_CATEGORY" val="custom"/>
  <p:tag name="KSO_WM_DIAGRAM_GROUP_CODE" val="l1-1"/>
  <p:tag name="KSO_WM_DIAGRAM_COLOR_TRICK" val="1"/>
  <p:tag name="KSO_WM_DIAGRAM_COLOR_TEXT_CAN_REMOVE" val="n"/>
  <p:tag name="KSO_WM_UNIT_ID" val="custom4_2**"/>
  <p:tag name="KSO_WM_UNIT_LAYERLEVEL" val="1"/>
</p:tagLst>
</file>

<file path=ppt/tags/tag335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TEMPLATE_NEED_RESERVE" val="1"/>
  <p:tag name="KSO_WM_DIAGRAM_VERSION" val="3"/>
  <p:tag name="KSO_WM_UNIT_PRESET_TEXT" val="1"/>
  <p:tag name="KSO_WM_UNIT_ISCONTENTSTITLE" val="1"/>
  <p:tag name="KSO_WM_TEMPLATE_INDEX" val="4"/>
  <p:tag name="KSO_WM_TEMPLATE_CATEGORY" val="custom"/>
  <p:tag name="KSO_WM_UNIT_ID" val="custom4_2*l_h_i*1_1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36.xml><?xml version="1.0" encoding="utf-8"?>
<p:tagLst xmlns:p="http://schemas.openxmlformats.org/presentationml/2006/main">
  <p:tag name="KSO_WM_UNIT_TYPE" val="l_h_f"/>
  <p:tag name="KSO_WM_UNIT_SUBTYPE" val="a"/>
  <p:tag name="KSO_WM_UNIT_INDEX" val="1_1_1"/>
  <p:tag name="KSO_WM_BEAUTIFY_FLAG" val="#wm#"/>
  <p:tag name="KSO_WM_TAG_VERSION" val="3.0"/>
  <p:tag name="KSO_WM_TEMPLATE_NEED_RESERVE" val="1"/>
  <p:tag name="KSO_WM_DIAGRAM_VERSION" val="3"/>
  <p:tag name="KSO_WM_UNIT_PRESET_TEXT" val="个人思想情况"/>
  <p:tag name="KSO_WM_UNIT_ISCONTENTSTITLE" val="1"/>
  <p:tag name="KSO_WM_TEMPLATE_INDEX" val="4"/>
  <p:tag name="KSO_WM_TEMPLATE_CATEGORY" val="custom"/>
  <p:tag name="KSO_WM_UNIT_ID" val="custom4_2*l_h_f*1_1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37.xml><?xml version="1.0" encoding="utf-8"?>
<p:tagLst xmlns:p="http://schemas.openxmlformats.org/presentationml/2006/main">
  <p:tag name="KSO_WM_DIAGRAM_VIRTUALLY_FRAME" val="{&quot;height&quot;:473.627874015748,&quot;left&quot;:462.90937007874015,&quot;top&quot;:31.509685039370076,&quot;width&quot;:353.2528346456693}"/>
</p:tagLst>
</file>

<file path=ppt/tags/tag338.xml><?xml version="1.0" encoding="utf-8"?>
<p:tagLst xmlns:p="http://schemas.openxmlformats.org/presentationml/2006/main">
  <p:tag name="KSO_WM_UNIT_TYPE" val="l_h_i"/>
  <p:tag name="KSO_WM_UNIT_SUBTYPE" val="h"/>
  <p:tag name="KSO_WM_UNIT_INDEX" val="1_2_2"/>
  <p:tag name="KSO_WM_BEAUTIFY_FLAG" val="#wm#"/>
  <p:tag name="KSO_WM_TAG_VERSION" val="3.0"/>
  <p:tag name="KSO_WM_TEMPLATE_NEED_RESERVE" val="1"/>
  <p:tag name="KSO_WM_DIAGRAM_VERSION" val="3"/>
  <p:tag name="KSO_WM_UNIT_ISCONTENTSTITLE" val="1"/>
  <p:tag name="KSO_WM_TEMPLATE_INDEX" val="4"/>
  <p:tag name="KSO_WM_TEMPLATE_CATEGORY" val="custom"/>
  <p:tag name="KSO_WM_UNIT_ID" val="custom4_2*l_h_i*1_2_2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39.xml><?xml version="1.0" encoding="utf-8"?>
<p:tagLst xmlns:p="http://schemas.openxmlformats.org/presentationml/2006/main">
  <p:tag name="KSO_WM_UNIT_ISCONTENTSTITLE" val="1"/>
  <p:tag name="KSO_WM_TEMPLATE_INDEX" val="4"/>
  <p:tag name="KSO_WM_BEAUTIFY_FLAG" val="#wm#"/>
  <p:tag name="KSO_WM_TAG_VERSION" val="3.0"/>
  <p:tag name="KSO_WM_TEMPLATE_CATEGORY" val="custom"/>
  <p:tag name="KSO_WM_DIAGRAM_GROUP_CODE" val="l1-1"/>
  <p:tag name="KSO_WM_DIAGRAM_COLOR_TRICK" val="1"/>
  <p:tag name="KSO_WM_DIAGRAM_COLOR_TEXT_CAN_REMOVE" val="n"/>
  <p:tag name="KSO_WM_UNIT_ID" val="custom4_2**"/>
  <p:tag name="KSO_WM_UNIT_LAYERLEVEL" val="1"/>
</p:tagLst>
</file>

<file path=ppt/tags/tag340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TEMPLATE_NEED_RESERVE" val="1"/>
  <p:tag name="KSO_WM_DIAGRAM_VERSION" val="3"/>
  <p:tag name="KSO_WM_UNIT_PRESET_TEXT" val="2"/>
  <p:tag name="KSO_WM_UNIT_ISCONTENTSTITLE" val="1"/>
  <p:tag name="KSO_WM_TEMPLATE_INDEX" val="4"/>
  <p:tag name="KSO_WM_TEMPLATE_CATEGORY" val="custom"/>
  <p:tag name="KSO_WM_UNIT_ID" val="custom4_2*l_h_i*1_2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41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BEAUTIFY_FLAG" val="#wm#"/>
  <p:tag name="KSO_WM_TAG_VERSION" val="3.0"/>
  <p:tag name="KSO_WM_TEMPLATE_NEED_RESERVE" val="1"/>
  <p:tag name="KSO_WM_DIAGRAM_VERSION" val="3"/>
  <p:tag name="KSO_WM_UNIT_PRESET_TEXT" val="学生工作"/>
  <p:tag name="KSO_WM_UNIT_ISCONTENTSTITLE" val="1"/>
  <p:tag name="KSO_WM_TEMPLATE_INDEX" val="4"/>
  <p:tag name="KSO_WM_TEMPLATE_CATEGORY" val="custom"/>
  <p:tag name="KSO_WM_UNIT_ID" val="custom4_2*l_h_f*1_2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42.xml><?xml version="1.0" encoding="utf-8"?>
<p:tagLst xmlns:p="http://schemas.openxmlformats.org/presentationml/2006/main">
  <p:tag name="KSO_WM_DIAGRAM_VIRTUALLY_FRAME" val="{&quot;height&quot;:473.627874015748,&quot;left&quot;:462.90937007874015,&quot;top&quot;:31.509685039370076,&quot;width&quot;:353.2528346456693}"/>
</p:tagLst>
</file>

<file path=ppt/tags/tag343.xml><?xml version="1.0" encoding="utf-8"?>
<p:tagLst xmlns:p="http://schemas.openxmlformats.org/presentationml/2006/main">
  <p:tag name="KSO_WM_UNIT_TYPE" val="l_h_i"/>
  <p:tag name="KSO_WM_UNIT_SUBTYPE" val="h"/>
  <p:tag name="KSO_WM_UNIT_INDEX" val="1_3_2"/>
  <p:tag name="KSO_WM_BEAUTIFY_FLAG" val="#wm#"/>
  <p:tag name="KSO_WM_TAG_VERSION" val="3.0"/>
  <p:tag name="KSO_WM_TEMPLATE_NEED_RESERVE" val="1"/>
  <p:tag name="KSO_WM_DIAGRAM_VERSION" val="3"/>
  <p:tag name="KSO_WM_UNIT_ISCONTENTSTITLE" val="1"/>
  <p:tag name="KSO_WM_TEMPLATE_INDEX" val="4"/>
  <p:tag name="KSO_WM_TEMPLATE_CATEGORY" val="custom"/>
  <p:tag name="KSO_WM_UNIT_ID" val="custom4_2*l_h_i*1_3_2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44.xml><?xml version="1.0" encoding="utf-8"?>
<p:tagLst xmlns:p="http://schemas.openxmlformats.org/presentationml/2006/main">
  <p:tag name="KSO_WM_UNIT_ISCONTENTSTITLE" val="1"/>
  <p:tag name="KSO_WM_TEMPLATE_INDEX" val="4"/>
  <p:tag name="KSO_WM_BEAUTIFY_FLAG" val="#wm#"/>
  <p:tag name="KSO_WM_TAG_VERSION" val="3.0"/>
  <p:tag name="KSO_WM_TEMPLATE_CATEGORY" val="custom"/>
  <p:tag name="KSO_WM_DIAGRAM_GROUP_CODE" val="l1-1"/>
  <p:tag name="KSO_WM_DIAGRAM_COLOR_TRICK" val="1"/>
  <p:tag name="KSO_WM_DIAGRAM_COLOR_TEXT_CAN_REMOVE" val="n"/>
  <p:tag name="KSO_WM_UNIT_ID" val="custom4_2**"/>
  <p:tag name="KSO_WM_UNIT_LAYERLEVEL" val="1"/>
</p:tagLst>
</file>

<file path=ppt/tags/tag345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TEMPLATE_NEED_RESERVE" val="1"/>
  <p:tag name="KSO_WM_DIAGRAM_VERSION" val="3"/>
  <p:tag name="KSO_WM_UNIT_PRESET_TEXT" val="3"/>
  <p:tag name="KSO_WM_UNIT_ISCONTENTSTITLE" val="1"/>
  <p:tag name="KSO_WM_TEMPLATE_INDEX" val="4"/>
  <p:tag name="KSO_WM_TEMPLATE_CATEGORY" val="custom"/>
  <p:tag name="KSO_WM_UNIT_ID" val="custom4_2*l_h_i*1_3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46.xml><?xml version="1.0" encoding="utf-8"?>
<p:tagLst xmlns:p="http://schemas.openxmlformats.org/presentationml/2006/main">
  <p:tag name="KSO_WM_UNIT_TYPE" val="l_h_f"/>
  <p:tag name="KSO_WM_UNIT_SUBTYPE" val="a"/>
  <p:tag name="KSO_WM_UNIT_INDEX" val="1_3_1"/>
  <p:tag name="KSO_WM_BEAUTIFY_FLAG" val="#wm#"/>
  <p:tag name="KSO_WM_TAG_VERSION" val="3.0"/>
  <p:tag name="KSO_WM_TEMPLATE_NEED_RESERVE" val="1"/>
  <p:tag name="KSO_WM_DIAGRAM_VERSION" val="3"/>
  <p:tag name="KSO_WM_UNIT_PRESET_TEXT" val="科研竞赛"/>
  <p:tag name="KSO_WM_UNIT_ISCONTENTSTITLE" val="1"/>
  <p:tag name="KSO_WM_TEMPLATE_INDEX" val="4"/>
  <p:tag name="KSO_WM_TEMPLATE_CATEGORY" val="custom"/>
  <p:tag name="KSO_WM_UNIT_ID" val="custom4_2*l_h_f*1_3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47.xml><?xml version="1.0" encoding="utf-8"?>
<p:tagLst xmlns:p="http://schemas.openxmlformats.org/presentationml/2006/main">
  <p:tag name="KSO_WM_DIAGRAM_VIRTUALLY_FRAME" val="{&quot;height&quot;:473.627874015748,&quot;left&quot;:462.90937007874015,&quot;top&quot;:31.509685039370076,&quot;width&quot;:353.2528346456693}"/>
</p:tagLst>
</file>

<file path=ppt/tags/tag348.xml><?xml version="1.0" encoding="utf-8"?>
<p:tagLst xmlns:p="http://schemas.openxmlformats.org/presentationml/2006/main">
  <p:tag name="KSO_WM_UNIT_TYPE" val="l_h_i"/>
  <p:tag name="KSO_WM_UNIT_SUBTYPE" val="h"/>
  <p:tag name="KSO_WM_UNIT_INDEX" val="1_4_2"/>
  <p:tag name="KSO_WM_BEAUTIFY_FLAG" val="#wm#"/>
  <p:tag name="KSO_WM_TAG_VERSION" val="3.0"/>
  <p:tag name="KSO_WM_TEMPLATE_NEED_RESERVE" val="1"/>
  <p:tag name="KSO_WM_DIAGRAM_VERSION" val="3"/>
  <p:tag name="KSO_WM_UNIT_ISCONTENTSTITLE" val="1"/>
  <p:tag name="KSO_WM_TEMPLATE_INDEX" val="4"/>
  <p:tag name="KSO_WM_TEMPLATE_CATEGORY" val="custom"/>
  <p:tag name="KSO_WM_UNIT_ID" val="custom4_2*l_h_i*1_4_2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49.xml><?xml version="1.0" encoding="utf-8"?>
<p:tagLst xmlns:p="http://schemas.openxmlformats.org/presentationml/2006/main">
  <p:tag name="KSO_WM_UNIT_ISCONTENTSTITLE" val="1"/>
  <p:tag name="KSO_WM_TEMPLATE_INDEX" val="4"/>
  <p:tag name="KSO_WM_BEAUTIFY_FLAG" val="#wm#"/>
  <p:tag name="KSO_WM_TAG_VERSION" val="3.0"/>
  <p:tag name="KSO_WM_TEMPLATE_CATEGORY" val="custom"/>
  <p:tag name="KSO_WM_DIAGRAM_GROUP_CODE" val="l1-1"/>
  <p:tag name="KSO_WM_DIAGRAM_COLOR_TRICK" val="1"/>
  <p:tag name="KSO_WM_DIAGRAM_COLOR_TEXT_CAN_REMOVE" val="n"/>
  <p:tag name="KSO_WM_UNIT_ID" val="custom4_2**"/>
  <p:tag name="KSO_WM_UNIT_LAYERLEVEL" val="1"/>
</p:tagLst>
</file>

<file path=ppt/tags/tag350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TEMPLATE_NEED_RESERVE" val="1"/>
  <p:tag name="KSO_WM_DIAGRAM_VERSION" val="3"/>
  <p:tag name="KSO_WM_UNIT_PRESET_TEXT" val="4"/>
  <p:tag name="KSO_WM_UNIT_ISCONTENTSTITLE" val="1"/>
  <p:tag name="KSO_WM_TEMPLATE_INDEX" val="4"/>
  <p:tag name="KSO_WM_TEMPLATE_CATEGORY" val="custom"/>
  <p:tag name="KSO_WM_UNIT_ID" val="custom4_2*l_h_i*1_4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51.xml><?xml version="1.0" encoding="utf-8"?>
<p:tagLst xmlns:p="http://schemas.openxmlformats.org/presentationml/2006/main">
  <p:tag name="KSO_WM_UNIT_TYPE" val="l_h_f"/>
  <p:tag name="KSO_WM_UNIT_SUBTYPE" val="a"/>
  <p:tag name="KSO_WM_UNIT_INDEX" val="1_4_1"/>
  <p:tag name="KSO_WM_BEAUTIFY_FLAG" val="#wm#"/>
  <p:tag name="KSO_WM_TAG_VERSION" val="3.0"/>
  <p:tag name="KSO_WM_TEMPLATE_NEED_RESERVE" val="1"/>
  <p:tag name="KSO_WM_DIAGRAM_VERSION" val="3"/>
  <p:tag name="KSO_WM_UNIT_PRESET_TEXT" val="实践公益"/>
  <p:tag name="KSO_WM_UNIT_ISCONTENTSTITLE" val="1"/>
  <p:tag name="KSO_WM_TEMPLATE_INDEX" val="4"/>
  <p:tag name="KSO_WM_TEMPLATE_CATEGORY" val="custom"/>
  <p:tag name="KSO_WM_UNIT_ID" val="custom4_2*l_h_f*1_4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52.xml><?xml version="1.0" encoding="utf-8"?>
<p:tagLst xmlns:p="http://schemas.openxmlformats.org/presentationml/2006/main">
  <p:tag name="KSO_WM_UNIT_ISCONTENTSTITLE" val="1"/>
  <p:tag name="KSO_WM_TEMPLATE_INDEX" val="4"/>
  <p:tag name="KSO_WM_BEAUTIFY_FLAG" val="#wm#"/>
  <p:tag name="KSO_WM_TAG_VERSION" val="3.0"/>
  <p:tag name="KSO_WM_TEMPLATE_CATEGORY" val="custom"/>
  <p:tag name="KSO_WM_DIAGRAM_GROUP_CODE" val="l1-1"/>
  <p:tag name="KSO_WM_DIAGRAM_COLOR_TRICK" val="1"/>
  <p:tag name="KSO_WM_DIAGRAM_COLOR_TEXT_CAN_REMOVE" val="n"/>
  <p:tag name="KSO_WM_UNIT_ID" val="custom4_2**"/>
  <p:tag name="KSO_WM_UNIT_LAYERLEVEL" val="1"/>
</p:tagLst>
</file>

<file path=ppt/tags/tag3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2*a*1"/>
  <p:tag name="KSO_WM_DIAGRAM_GROUP_CODE" val="l1-1"/>
  <p:tag name="KSO_WM_DIAGRAM_COLOR_TRICK" val="1"/>
  <p:tag name="KSO_WM_DIAGRAM_COLOR_TEXT_CAN_REMOVE" val="n"/>
  <p:tag name="KSO_WM_UNIT_ISCONTENTSTITLE" val="1"/>
  <p:tag name="KSO_WM_UNIT_LAYERLEVEL" val="1"/>
</p:tagLst>
</file>

<file path=ppt/tags/tag354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NEED_RESERVE" val="1"/>
  <p:tag name="KSO_WM_UNIT_ISCONTENTSTITLE" val="1"/>
  <p:tag name="KSO_WM_TEMPLATE_INDEX" val="4"/>
  <p:tag name="KSO_WM_TEMPLATE_CATEGORY" val="custom"/>
  <p:tag name="KSO_WM_UNIT_ID" val="custom4_2*d*1"/>
  <p:tag name="KSO_WM_DIAGRAM_GROUP_CODE" val="l1-1"/>
  <p:tag name="KSO_WM_DIAGRAM_COLOR_TRICK" val="1"/>
  <p:tag name="KSO_WM_DIAGRAM_COLOR_TEXT_CAN_REMOVE" val="n"/>
  <p:tag name="KSO_WM_UNIT_LAYERLEVEL" val="1"/>
</p:tagLst>
</file>

<file path=ppt/tags/tag355.xml><?xml version="1.0" encoding="utf-8"?>
<p:tagLst xmlns:p="http://schemas.openxmlformats.org/presentationml/2006/main">
  <p:tag name="KSO_WM_DIAGRAM_VIRTUALLY_FRAME" val="{&quot;height&quot;:473.627874015748,&quot;left&quot;:462.90937007874015,&quot;top&quot;:31.509685039370076,&quot;width&quot;:353.2528346456693}"/>
</p:tagLst>
</file>

<file path=ppt/tags/tag356.xml><?xml version="1.0" encoding="utf-8"?>
<p:tagLst xmlns:p="http://schemas.openxmlformats.org/presentationml/2006/main">
  <p:tag name="KSO_WM_UNIT_TYPE" val="l_h_i"/>
  <p:tag name="KSO_WM_UNIT_SUBTYPE" val="h"/>
  <p:tag name="KSO_WM_UNIT_INDEX" val="1_1_2"/>
  <p:tag name="KSO_WM_BEAUTIFY_FLAG" val="#wm#"/>
  <p:tag name="KSO_WM_TAG_VERSION" val="3.0"/>
  <p:tag name="KSO_WM_TEMPLATE_NEED_RESERVE" val="1"/>
  <p:tag name="KSO_WM_DIAGRAM_VERSION" val="3"/>
  <p:tag name="KSO_WM_UNIT_ISCONTENTSTITLE" val="1"/>
  <p:tag name="KSO_WM_TEMPLATE_INDEX" val="4"/>
  <p:tag name="KSO_WM_TEMPLATE_CATEGORY" val="custom"/>
  <p:tag name="KSO_WM_UNIT_ID" val="custom4_2*l_h_i*1_1_2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57.xml><?xml version="1.0" encoding="utf-8"?>
<p:tagLst xmlns:p="http://schemas.openxmlformats.org/presentationml/2006/main">
  <p:tag name="KSO_WM_UNIT_ISCONTENTSTITLE" val="1"/>
  <p:tag name="KSO_WM_TEMPLATE_INDEX" val="4"/>
  <p:tag name="KSO_WM_BEAUTIFY_FLAG" val="#wm#"/>
  <p:tag name="KSO_WM_TAG_VERSION" val="3.0"/>
  <p:tag name="KSO_WM_TEMPLATE_CATEGORY" val="custom"/>
  <p:tag name="KSO_WM_DIAGRAM_GROUP_CODE" val="l1-1"/>
  <p:tag name="KSO_WM_DIAGRAM_COLOR_TRICK" val="1"/>
  <p:tag name="KSO_WM_DIAGRAM_COLOR_TEXT_CAN_REMOVE" val="n"/>
  <p:tag name="KSO_WM_UNIT_ID" val="custom4_2**"/>
  <p:tag name="KSO_WM_UNIT_LAYERLEVEL" val="1"/>
</p:tagLst>
</file>

<file path=ppt/tags/tag358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TEMPLATE_NEED_RESERVE" val="1"/>
  <p:tag name="KSO_WM_DIAGRAM_VERSION" val="3"/>
  <p:tag name="KSO_WM_UNIT_PRESET_TEXT" val="1"/>
  <p:tag name="KSO_WM_UNIT_ISCONTENTSTITLE" val="1"/>
  <p:tag name="KSO_WM_TEMPLATE_INDEX" val="4"/>
  <p:tag name="KSO_WM_TEMPLATE_CATEGORY" val="custom"/>
  <p:tag name="KSO_WM_UNIT_ID" val="custom4_2*l_h_i*1_1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59.xml><?xml version="1.0" encoding="utf-8"?>
<p:tagLst xmlns:p="http://schemas.openxmlformats.org/presentationml/2006/main">
  <p:tag name="KSO_WM_UNIT_TYPE" val="l_h_f"/>
  <p:tag name="KSO_WM_UNIT_SUBTYPE" val="a"/>
  <p:tag name="KSO_WM_UNIT_INDEX" val="1_1_1"/>
  <p:tag name="KSO_WM_BEAUTIFY_FLAG" val="#wm#"/>
  <p:tag name="KSO_WM_TAG_VERSION" val="3.0"/>
  <p:tag name="KSO_WM_TEMPLATE_NEED_RESERVE" val="1"/>
  <p:tag name="KSO_WM_DIAGRAM_VERSION" val="3"/>
  <p:tag name="KSO_WM_UNIT_PRESET_TEXT" val="个人思想情况"/>
  <p:tag name="KSO_WM_UNIT_ISCONTENTSTITLE" val="1"/>
  <p:tag name="KSO_WM_TEMPLATE_INDEX" val="4"/>
  <p:tag name="KSO_WM_TEMPLATE_CATEGORY" val="custom"/>
  <p:tag name="KSO_WM_UNIT_ID" val="custom4_2*l_h_f*1_1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60.xml><?xml version="1.0" encoding="utf-8"?>
<p:tagLst xmlns:p="http://schemas.openxmlformats.org/presentationml/2006/main">
  <p:tag name="KSO_WM_DIAGRAM_VIRTUALLY_FRAME" val="{&quot;height&quot;:473.627874015748,&quot;left&quot;:462.90937007874015,&quot;top&quot;:31.509685039370076,&quot;width&quot;:353.2528346456693}"/>
</p:tagLst>
</file>

<file path=ppt/tags/tag361.xml><?xml version="1.0" encoding="utf-8"?>
<p:tagLst xmlns:p="http://schemas.openxmlformats.org/presentationml/2006/main">
  <p:tag name="KSO_WM_UNIT_TYPE" val="l_h_i"/>
  <p:tag name="KSO_WM_UNIT_SUBTYPE" val="h"/>
  <p:tag name="KSO_WM_UNIT_INDEX" val="1_2_2"/>
  <p:tag name="KSO_WM_BEAUTIFY_FLAG" val="#wm#"/>
  <p:tag name="KSO_WM_TAG_VERSION" val="3.0"/>
  <p:tag name="KSO_WM_TEMPLATE_NEED_RESERVE" val="1"/>
  <p:tag name="KSO_WM_DIAGRAM_VERSION" val="3"/>
  <p:tag name="KSO_WM_UNIT_ISCONTENTSTITLE" val="1"/>
  <p:tag name="KSO_WM_TEMPLATE_INDEX" val="4"/>
  <p:tag name="KSO_WM_TEMPLATE_CATEGORY" val="custom"/>
  <p:tag name="KSO_WM_UNIT_ID" val="custom4_2*l_h_i*1_2_2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62.xml><?xml version="1.0" encoding="utf-8"?>
<p:tagLst xmlns:p="http://schemas.openxmlformats.org/presentationml/2006/main">
  <p:tag name="KSO_WM_UNIT_ISCONTENTSTITLE" val="1"/>
  <p:tag name="KSO_WM_TEMPLATE_INDEX" val="4"/>
  <p:tag name="KSO_WM_BEAUTIFY_FLAG" val="#wm#"/>
  <p:tag name="KSO_WM_TAG_VERSION" val="3.0"/>
  <p:tag name="KSO_WM_TEMPLATE_CATEGORY" val="custom"/>
  <p:tag name="KSO_WM_DIAGRAM_GROUP_CODE" val="l1-1"/>
  <p:tag name="KSO_WM_DIAGRAM_COLOR_TRICK" val="1"/>
  <p:tag name="KSO_WM_DIAGRAM_COLOR_TEXT_CAN_REMOVE" val="n"/>
  <p:tag name="KSO_WM_UNIT_ID" val="custom4_2**"/>
  <p:tag name="KSO_WM_UNIT_LAYERLEVEL" val="1"/>
</p:tagLst>
</file>

<file path=ppt/tags/tag363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TEMPLATE_NEED_RESERVE" val="1"/>
  <p:tag name="KSO_WM_DIAGRAM_VERSION" val="3"/>
  <p:tag name="KSO_WM_UNIT_PRESET_TEXT" val="2"/>
  <p:tag name="KSO_WM_UNIT_ISCONTENTSTITLE" val="1"/>
  <p:tag name="KSO_WM_TEMPLATE_INDEX" val="4"/>
  <p:tag name="KSO_WM_TEMPLATE_CATEGORY" val="custom"/>
  <p:tag name="KSO_WM_UNIT_ID" val="custom4_2*l_h_i*1_2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64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BEAUTIFY_FLAG" val="#wm#"/>
  <p:tag name="KSO_WM_TAG_VERSION" val="3.0"/>
  <p:tag name="KSO_WM_TEMPLATE_NEED_RESERVE" val="1"/>
  <p:tag name="KSO_WM_DIAGRAM_VERSION" val="3"/>
  <p:tag name="KSO_WM_UNIT_PRESET_TEXT" val="学生工作"/>
  <p:tag name="KSO_WM_UNIT_ISCONTENTSTITLE" val="1"/>
  <p:tag name="KSO_WM_TEMPLATE_INDEX" val="4"/>
  <p:tag name="KSO_WM_TEMPLATE_CATEGORY" val="custom"/>
  <p:tag name="KSO_WM_UNIT_ID" val="custom4_2*l_h_f*1_2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65.xml><?xml version="1.0" encoding="utf-8"?>
<p:tagLst xmlns:p="http://schemas.openxmlformats.org/presentationml/2006/main">
  <p:tag name="KSO_WM_DIAGRAM_VIRTUALLY_FRAME" val="{&quot;height&quot;:473.627874015748,&quot;left&quot;:462.90937007874015,&quot;top&quot;:31.509685039370076,&quot;width&quot;:353.2528346456693}"/>
</p:tagLst>
</file>

<file path=ppt/tags/tag366.xml><?xml version="1.0" encoding="utf-8"?>
<p:tagLst xmlns:p="http://schemas.openxmlformats.org/presentationml/2006/main">
  <p:tag name="KSO_WM_UNIT_TYPE" val="l_h_i"/>
  <p:tag name="KSO_WM_UNIT_SUBTYPE" val="h"/>
  <p:tag name="KSO_WM_UNIT_INDEX" val="1_3_2"/>
  <p:tag name="KSO_WM_BEAUTIFY_FLAG" val="#wm#"/>
  <p:tag name="KSO_WM_TAG_VERSION" val="3.0"/>
  <p:tag name="KSO_WM_TEMPLATE_NEED_RESERVE" val="1"/>
  <p:tag name="KSO_WM_DIAGRAM_VERSION" val="3"/>
  <p:tag name="KSO_WM_UNIT_ISCONTENTSTITLE" val="1"/>
  <p:tag name="KSO_WM_TEMPLATE_INDEX" val="4"/>
  <p:tag name="KSO_WM_TEMPLATE_CATEGORY" val="custom"/>
  <p:tag name="KSO_WM_UNIT_ID" val="custom4_2*l_h_i*1_3_2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67.xml><?xml version="1.0" encoding="utf-8"?>
<p:tagLst xmlns:p="http://schemas.openxmlformats.org/presentationml/2006/main">
  <p:tag name="KSO_WM_UNIT_ISCONTENTSTITLE" val="1"/>
  <p:tag name="KSO_WM_TEMPLATE_INDEX" val="4"/>
  <p:tag name="KSO_WM_BEAUTIFY_FLAG" val="#wm#"/>
  <p:tag name="KSO_WM_TAG_VERSION" val="3.0"/>
  <p:tag name="KSO_WM_TEMPLATE_CATEGORY" val="custom"/>
  <p:tag name="KSO_WM_DIAGRAM_GROUP_CODE" val="l1-1"/>
  <p:tag name="KSO_WM_DIAGRAM_COLOR_TRICK" val="1"/>
  <p:tag name="KSO_WM_DIAGRAM_COLOR_TEXT_CAN_REMOVE" val="n"/>
  <p:tag name="KSO_WM_UNIT_ID" val="custom4_2**"/>
  <p:tag name="KSO_WM_UNIT_LAYERLEVEL" val="1"/>
</p:tagLst>
</file>

<file path=ppt/tags/tag368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TEMPLATE_NEED_RESERVE" val="1"/>
  <p:tag name="KSO_WM_DIAGRAM_VERSION" val="3"/>
  <p:tag name="KSO_WM_UNIT_PRESET_TEXT" val="3"/>
  <p:tag name="KSO_WM_UNIT_ISCONTENTSTITLE" val="1"/>
  <p:tag name="KSO_WM_TEMPLATE_INDEX" val="4"/>
  <p:tag name="KSO_WM_TEMPLATE_CATEGORY" val="custom"/>
  <p:tag name="KSO_WM_UNIT_ID" val="custom4_2*l_h_i*1_3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69.xml><?xml version="1.0" encoding="utf-8"?>
<p:tagLst xmlns:p="http://schemas.openxmlformats.org/presentationml/2006/main">
  <p:tag name="KSO_WM_UNIT_TYPE" val="l_h_f"/>
  <p:tag name="KSO_WM_UNIT_SUBTYPE" val="a"/>
  <p:tag name="KSO_WM_UNIT_INDEX" val="1_3_1"/>
  <p:tag name="KSO_WM_BEAUTIFY_FLAG" val="#wm#"/>
  <p:tag name="KSO_WM_TAG_VERSION" val="3.0"/>
  <p:tag name="KSO_WM_TEMPLATE_NEED_RESERVE" val="1"/>
  <p:tag name="KSO_WM_DIAGRAM_VERSION" val="3"/>
  <p:tag name="KSO_WM_UNIT_PRESET_TEXT" val="科研竞赛"/>
  <p:tag name="KSO_WM_UNIT_ISCONTENTSTITLE" val="1"/>
  <p:tag name="KSO_WM_TEMPLATE_INDEX" val="4"/>
  <p:tag name="KSO_WM_TEMPLATE_CATEGORY" val="custom"/>
  <p:tag name="KSO_WM_UNIT_ID" val="custom4_2*l_h_f*1_3_1"/>
  <p:tag name="KSO_WM_DIAGRAM_GROUP_CODE" val="l1-1"/>
  <p:tag name="KSO_WM_DIAGRAM_COLOR_TRICK" val="1"/>
  <p:tag name="KSO_WM_DIAGRAM_COLOR_TEXT_CAN_REMOVE" val="n"/>
  <p:tag name="KSO_WM_UNIT_LAYERLEVEL" val="1_1_1"/>
  <p:tag name="KSO_WM_SLIDE_FIGMA_DIAGRAM" val="1"/>
  <p:tag name="KSO_WM_DIAGRAM_VIRTUALLY_FRAME" val="{&quot;height&quot;:473.627874015748,&quot;left&quot;:462.90937007874015,&quot;top&quot;:31.509685039370076,&quot;width&quot;:353.2528346456693}"/>
</p:tagLst>
</file>

<file path=ppt/tags/tag370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TEMPLATE_PLACEHOLDER_POS" val="306,50.625,728,446.25"/>
  <p:tag name="KSO_WM_TEMPLATE_PLACEHOLDER_POS2" val="306,223.639,728,446.25"/>
  <p:tag name="KSO_WM_SLIDE_SUBTYPE" val="diag"/>
  <p:tag name="KSO_WM_SLIDE_ITEM_CNT" val="4"/>
  <p:tag name="KSO_WM_TEMPLATE_INDEX" val="4"/>
  <p:tag name="KSO_WM_SLIDE_THEME_ID" val="20237937"/>
  <p:tag name="KSO_WM_SLIDE_INDEX" val="2"/>
  <p:tag name="KSO_WM_BEAUTIFY_FLAG" val="#wm#"/>
  <p:tag name="KSO_WM_TEMPLATE_CATEGORY" val="custom"/>
  <p:tag name="KSO_WM_ASSEMBLE_CHIP_INDEX" val="diag"/>
  <p:tag name="KSO_WM_DIAGRAM_GROUP_CODE" val="l1-1"/>
  <p:tag name="KSO_WM_SLIDE_ID" val="custom4_2"/>
  <p:tag name="KSO_WM_SLIDE_LAYOUT" val="_a_d_l"/>
  <p:tag name="KSO_WM_SLIDE_LAYOUT_CNT" val="5_1_1_1"/>
</p:tagLst>
</file>

<file path=ppt/tags/tag3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9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1"/>
  <p:tag name="KSO_WM_UNIT_LAYERLEVEL" val="1"/>
</p:tagLst>
</file>

<file path=ppt/tags/tag3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5*a*1"/>
  <p:tag name="KSO_WM_UNIT_LAYERLEVEL" val="1"/>
  <p:tag name="KSO_WM_TEMPLATE_INDEX" val="4"/>
  <p:tag name="KSO_WM_TEMPLATE_CATEGORY" val="custom"/>
</p:tagLst>
</file>

<file path=ppt/tags/tag39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5*f*1"/>
  <p:tag name="KSO_WM_UNIT_LAYERLEVEL" val="1"/>
  <p:tag name="KSO_WM_TEMPLATE_INDEX" val="4"/>
  <p:tag name="KSO_WM_TEMPLATE_CATEGORY" val="custom"/>
</p:tagLst>
</file>

<file path=ppt/tags/tag392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2"/>
  <p:tag name="KSO_WM_UNIT_LAYERLEVEL" val="1"/>
</p:tagLst>
</file>

<file path=ppt/tags/tag393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222,146.25,736,459.375"/>
  <p:tag name="KSO_WM_SLIDE_SUBTYPE" val="pureTxt"/>
  <p:tag name="KSO_WM_SLIDE_ITEM_CNT" val="0"/>
  <p:tag name="KSO_WM_TEMPLATE_INDEX" val="4"/>
  <p:tag name="KSO_WM_SLIDE_THEME_ID" val="20232246"/>
  <p:tag name="KSO_WM_SLIDE_INDEX" val="5"/>
  <p:tag name="KSO_WM_BEAUTIFY_FLAG" val="#wm#"/>
  <p:tag name="KSO_WM_TEMPLATE_CATEGORY" val="custom"/>
  <p:tag name="KSO_WM_SLIDE_ID" val="custom4_5"/>
  <p:tag name="KSO_WM_SLIDE_LAYOUT" val="a_f_i"/>
  <p:tag name="KSO_WM_SLIDE_LAYOUT_CNT" val="1_1_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2235</Words>
  <Application>WPS 演示</Application>
  <PresentationFormat>宽屏</PresentationFormat>
  <Paragraphs>142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Arial Unicode MS</vt:lpstr>
      <vt:lpstr>Calibri</vt:lpstr>
      <vt:lpstr>Office 主题</vt:lpstr>
      <vt:lpstr>Office 主题​​</vt:lpstr>
      <vt:lpstr>FLUSH AND RELOAD</vt:lpstr>
      <vt:lpstr>flush and reload 代码分析</vt:lpstr>
      <vt:lpstr>PowerPoint 演示文稿</vt:lpstr>
      <vt:lpstr>1. 初始化 - uarf_fr_init（）</vt:lpstr>
      <vt:lpstr>2. FLUSH阶段 - uarf_fr_flush（）</vt:lpstr>
      <vt:lpstr>3. 分箱辅助函数 - uarf_get_bin（）</vt:lpstr>
      <vt:lpstr>4. Reload阶段 - uarf_fr_reload_binned（）</vt:lpstr>
      <vt:lpstr>4. Reload阶段 - uarf_fr_reload_binned（）</vt:lpstr>
      <vt:lpstr>5. 结果统计 - uarf_fr_num_hits（）</vt:lpstr>
      <vt:lpstr>6. 结果打印 - uarf_fr_print（）</vt:lpstr>
      <vt:lpstr>7. 资源释放实现 - uarf_fr_deinit（）</vt:lpstr>
      <vt:lpstr>8. 下周目标</vt:lpstr>
      <vt:lpstr>   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13</cp:revision>
  <dcterms:created xsi:type="dcterms:W3CDTF">2026-01-21T07:12:00Z</dcterms:created>
  <dcterms:modified xsi:type="dcterms:W3CDTF">2026-01-21T09:28:43Z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