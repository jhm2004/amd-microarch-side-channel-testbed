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57" r:id="rId7"/>
    <p:sldId id="280" r:id="rId8"/>
    <p:sldId id="281" r:id="rId9"/>
    <p:sldId id="282" r:id="rId10"/>
    <p:sldId id="283" r:id="rId11"/>
    <p:sldId id="284" r:id="rId12"/>
    <p:sldId id="285" r:id="rId13"/>
    <p:sldId id="286" r:id="rId14"/>
    <p:sldId id="292" r:id="rId15"/>
    <p:sldId id="296" r:id="rId16"/>
    <p:sldId id="297" r:id="rId17"/>
    <p:sldId id="298" r:id="rId18"/>
    <p:sldId id="299" r:id="rId19"/>
    <p:sldId id="300" r:id="rId20"/>
    <p:sldId id="301" r:id="rId21"/>
    <p:sldId id="314" r:id="rId22"/>
    <p:sldId id="322" r:id="rId23"/>
    <p:sldId id="323" r:id="rId24"/>
    <p:sldId id="324" r:id="rId25"/>
    <p:sldId id="325" r:id="rId26"/>
    <p:sldId id="266" r:id="rId27"/>
    <p:sldId id="276" r:id="rId28"/>
    <p:sldId id="277" r:id="rId29"/>
    <p:sldId id="278" r:id="rId30"/>
    <p:sldId id="279" r:id="rId31"/>
    <p:sldId id="274" r:id="rId3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84" userDrawn="1">
          <p15:clr>
            <a:srgbClr val="747775"/>
          </p15:clr>
        </p15:guide>
        <p15:guide id="2" pos="27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84"/>
        <p:guide pos="276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尊敬的各位评委老师，</a:t>
            </a:r>
            <a:r>
              <a:rPr lang="zh-CN" altLang="en-US" sz="1400" b="0" i="0" u="none" strike="noStrike">
                <a:solidFill>
                  <a:srgbClr val="000000"/>
                </a:solidFill>
                <a:latin typeface="Songti SC"/>
                <a:ea typeface="Songti SC"/>
                <a:cs typeface="Songti SC"/>
                <a:sym typeface="Songti SC"/>
              </a:rPr>
              <a:t>上午</a:t>
            </a:r>
            <a:r>
              <a:rPr lang="en-US" sz="1400" b="0" i="0" u="none" strike="noStrike">
                <a:solidFill>
                  <a:srgbClr val="000000"/>
                </a:solidFill>
                <a:latin typeface="Songti SC"/>
                <a:ea typeface="Songti SC"/>
                <a:cs typeface="Songti SC"/>
                <a:sym typeface="Songti SC"/>
              </a:rPr>
              <a:t>好。我是软件工程专业的杨宇鑫，我的毕业论文题目是《处理器微架构侧信道漏洞安全测试技术研究》。</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zh-CN" altLang="en-US" sz="1400" b="0" i="0" u="none" strike="noStrike">
                <a:solidFill>
                  <a:srgbClr val="000000"/>
                </a:solidFill>
                <a:latin typeface="Songti SC"/>
                <a:ea typeface="宋体" panose="02010600030101010101" pitchFamily="2" charset="-122"/>
                <a:cs typeface="Songti SC"/>
                <a:sym typeface="Songti SC"/>
              </a:rPr>
              <a:t>下面我将从研究背景、核心技术、实验设计、结果分析和总结展望五个方面汇报我的研究成果。</a:t>
            </a:r>
            <a:endParaRPr lang="zh-CN" altLang="en-US" sz="1400" b="0" i="0" u="none" strike="noStrike">
              <a:solidFill>
                <a:srgbClr val="000000"/>
              </a:solidFill>
              <a:latin typeface="Songti SC"/>
              <a:ea typeface="宋体" panose="02010600030101010101" pitchFamily="2" charset="-122"/>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a:t>
            </a:r>
            <a:r>
              <a:rPr lang="zh-CN" altLang="en-US" sz="1400" b="0" i="0" u="none" strike="noStrike">
                <a:solidFill>
                  <a:srgbClr val="000000"/>
                </a:solidFill>
              </a:rPr>
              <a:t>是</a:t>
            </a:r>
            <a:r>
              <a:rPr lang="en-US" sz="1400" b="0" i="0" u="none" strike="noStrike">
                <a:solidFill>
                  <a:srgbClr val="000000"/>
                </a:solidFill>
              </a:rPr>
              <a:t>研究背景。在云计算环境下，CPU缓存等硬件资源是共享的，这就带来了微架构侧信道威胁。攻击者可以利用缓存访问时间的差异来窃取信息。我的研究对象是AES加密算法，</a:t>
            </a:r>
            <a:r>
              <a:rPr lang="zh-CN" altLang="en-US" sz="1400" b="0" i="0" u="none" strike="noStrike">
                <a:solidFill>
                  <a:srgbClr val="000000"/>
                </a:solidFill>
              </a:rPr>
              <a:t>这种算法在加密的过程中</a:t>
            </a:r>
            <a:r>
              <a:rPr lang="en-US" sz="1400" b="0" i="0" u="none" strike="noStrike">
                <a:solidFill>
                  <a:srgbClr val="000000"/>
                </a:solidFill>
              </a:rPr>
              <a:t>为了</a:t>
            </a:r>
            <a:r>
              <a:rPr lang="zh-CN" altLang="en-US" sz="1400" b="0" i="0" u="none" strike="noStrike">
                <a:solidFill>
                  <a:srgbClr val="000000"/>
                </a:solidFill>
              </a:rPr>
              <a:t>提升</a:t>
            </a:r>
            <a:r>
              <a:rPr lang="en-US" sz="1400" b="0" i="0" u="none" strike="noStrike">
                <a:solidFill>
                  <a:srgbClr val="000000"/>
                </a:solidFill>
              </a:rPr>
              <a:t>性能而使用</a:t>
            </a:r>
            <a:r>
              <a:rPr lang="zh-CN" altLang="en-US" sz="1400" b="0" i="0" u="none" strike="noStrike">
                <a:solidFill>
                  <a:srgbClr val="000000"/>
                </a:solidFill>
              </a:rPr>
              <a:t>预计算</a:t>
            </a:r>
            <a:r>
              <a:rPr lang="en-US" sz="1400" b="0" i="0" u="none" strike="noStrike">
                <a:solidFill>
                  <a:srgbClr val="000000"/>
                </a:solidFill>
              </a:rPr>
              <a:t>的T表，</a:t>
            </a:r>
            <a:r>
              <a:rPr lang="zh-CN" altLang="en-US" sz="1400" b="0" i="0" u="none" strike="noStrike">
                <a:solidFill>
                  <a:srgbClr val="000000"/>
                </a:solidFill>
              </a:rPr>
              <a:t>同一密钥在加密不同的明文后，会产生不同的加载到</a:t>
            </a:r>
            <a:r>
              <a:rPr lang="en-US" altLang="zh-CN" sz="1400" b="0" i="0" u="none" strike="noStrike">
                <a:solidFill>
                  <a:srgbClr val="000000"/>
                </a:solidFill>
              </a:rPr>
              <a:t>Cache</a:t>
            </a:r>
            <a:r>
              <a:rPr lang="zh-CN" altLang="en-US" sz="1400" b="0" i="0" u="none" strike="noStrike">
                <a:solidFill>
                  <a:srgbClr val="000000"/>
                </a:solidFill>
              </a:rPr>
              <a:t>中的</a:t>
            </a:r>
            <a:r>
              <a:rPr lang="en-US" sz="1400" b="0" i="0" u="none" strike="noStrike">
                <a:solidFill>
                  <a:srgbClr val="000000"/>
                </a:solidFill>
              </a:rPr>
              <a:t>T</a:t>
            </a:r>
            <a:r>
              <a:rPr lang="zh-CN" altLang="en-US" sz="1400" b="0" i="0" u="none" strike="noStrike">
                <a:solidFill>
                  <a:srgbClr val="000000"/>
                </a:solidFill>
              </a:rPr>
              <a:t>表缓存行。一次加密可以通过检测</a:t>
            </a:r>
            <a:r>
              <a:rPr lang="en-US" altLang="zh-CN" sz="1400" b="0" i="0" u="none" strike="noStrike">
                <a:solidFill>
                  <a:srgbClr val="000000"/>
                </a:solidFill>
              </a:rPr>
              <a:t>T</a:t>
            </a:r>
            <a:r>
              <a:rPr lang="zh-CN" altLang="en-US" sz="1400" b="0" i="0" u="none" strike="noStrike">
                <a:solidFill>
                  <a:srgbClr val="000000"/>
                </a:solidFill>
              </a:rPr>
              <a:t>表缓存行的加载情况进而泄露出原始密钥的一些信息，在大量加密得到充足信息后可以推导出原始密钥。</a:t>
            </a:r>
            <a:r>
              <a:rPr lang="zh-CN" altLang="en-US">
                <a:solidFill>
                  <a:srgbClr val="000000"/>
                </a:solidFill>
                <a:latin typeface="Songti SC"/>
                <a:ea typeface="Songti SC"/>
                <a:cs typeface="Songti SC"/>
                <a:sym typeface="Songti SC"/>
              </a:rPr>
              <a:t>在这个实验中，缓存侧信道攻击采用的方案是</a:t>
            </a:r>
            <a:r>
              <a:rPr lang="en-US" altLang="zh-CN">
                <a:solidFill>
                  <a:srgbClr val="000000"/>
                </a:solidFill>
                <a:latin typeface="Songti SC"/>
                <a:ea typeface="Songti SC"/>
                <a:cs typeface="Songti SC"/>
                <a:sym typeface="Songti SC"/>
              </a:rPr>
              <a:t>flush and reload</a:t>
            </a:r>
            <a:r>
              <a:rPr lang="zh-CN" altLang="en-US">
                <a:solidFill>
                  <a:srgbClr val="000000"/>
                </a:solidFill>
                <a:latin typeface="Songti SC"/>
                <a:ea typeface="Songti SC"/>
                <a:cs typeface="Songti SC"/>
                <a:sym typeface="Songti SC"/>
              </a:rPr>
              <a:t>方法。</a:t>
            </a:r>
            <a:endParaRPr lang="zh-CN" altLang="en-US" b="0" i="0" u="none" strike="noStrike">
              <a:solidFill>
                <a:srgbClr val="000000"/>
              </a:solidFill>
              <a:latin typeface="Songti SC"/>
              <a:ea typeface="宋体" panose="02010600030101010101" pitchFamily="2" charset="-122"/>
              <a:cs typeface="Songti SC"/>
              <a:sym typeface="Songti SC"/>
            </a:endParaRPr>
          </a:p>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4.</a:t>
            </a:r>
            <a:r>
              <a:rPr lang="zh-CN" altLang="en-US" sz="1400" b="0" i="0" u="none" strike="noStrike">
                <a:solidFill>
                  <a:srgbClr val="000000"/>
                </a:solidFill>
              </a:rPr>
              <a:t>这是已知的攻击技术。</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这是</a:t>
            </a:r>
            <a:r>
              <a:rPr lang="en-US" altLang="zh-CN">
                <a:solidFill>
                  <a:schemeClr val="bg1"/>
                </a:solidFill>
                <a:sym typeface="+mn-ea"/>
              </a:rPr>
              <a:t>AES128</a:t>
            </a:r>
            <a:r>
              <a:rPr lang="zh-CN" altLang="en-US">
                <a:solidFill>
                  <a:schemeClr val="bg1"/>
                </a:solidFill>
                <a:sym typeface="+mn-ea"/>
              </a:rPr>
              <a:t>的标准</a:t>
            </a:r>
            <a:r>
              <a:rPr lang="zh-CN" altLang="en-US">
                <a:solidFill>
                  <a:schemeClr val="bg1"/>
                </a:solidFill>
                <a:sym typeface="+mn-ea"/>
              </a:rPr>
              <a:t>流程</a:t>
            </a:r>
            <a:endParaRPr lang="zh-CN" altLang="en-US">
              <a:solidFill>
                <a:schemeClr val="bg1"/>
              </a:solidFill>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在本实验中使用带</a:t>
            </a:r>
            <a:r>
              <a:rPr lang="en-US" altLang="zh-CN"/>
              <a:t>T</a:t>
            </a:r>
            <a:r>
              <a:rPr lang="zh-CN" altLang="en-US"/>
              <a:t>表加速的</a:t>
            </a:r>
            <a:r>
              <a:rPr lang="en-US" altLang="zh-CN">
                <a:solidFill>
                  <a:schemeClr val="bg1"/>
                </a:solidFill>
                <a:sym typeface="+mn-ea"/>
              </a:rPr>
              <a:t>AES128</a:t>
            </a:r>
            <a:r>
              <a:rPr lang="zh-CN" altLang="en-US">
                <a:solidFill>
                  <a:schemeClr val="bg1"/>
                </a:solidFill>
                <a:sym typeface="+mn-ea"/>
              </a:rPr>
              <a:t>加密，将</a:t>
            </a:r>
            <a:r>
              <a:rPr lang="en-US" altLang="zh-CN">
                <a:solidFill>
                  <a:schemeClr val="bg1"/>
                </a:solidFill>
                <a:sym typeface="+mn-ea"/>
              </a:rPr>
              <a:t>S</a:t>
            </a:r>
            <a:r>
              <a:rPr lang="zh-CN" altLang="en-US">
                <a:solidFill>
                  <a:schemeClr val="bg1"/>
                </a:solidFill>
                <a:sym typeface="+mn-ea"/>
              </a:rPr>
              <a:t>盒替换，行位移，列混淆合并为查</a:t>
            </a:r>
            <a:r>
              <a:rPr lang="en-US" altLang="zh-CN">
                <a:solidFill>
                  <a:schemeClr val="bg1"/>
                </a:solidFill>
                <a:sym typeface="+mn-ea"/>
              </a:rPr>
              <a:t>T</a:t>
            </a:r>
            <a:r>
              <a:rPr lang="zh-CN" altLang="en-US">
                <a:solidFill>
                  <a:schemeClr val="bg1"/>
                </a:solidFill>
                <a:sym typeface="+mn-ea"/>
              </a:rPr>
              <a:t>表</a:t>
            </a:r>
            <a:r>
              <a:rPr lang="zh-CN" altLang="en-US">
                <a:solidFill>
                  <a:schemeClr val="bg1"/>
                </a:solidFill>
                <a:sym typeface="+mn-ea"/>
              </a:rPr>
              <a:t>操作。</a:t>
            </a:r>
            <a:endParaRPr lang="zh-CN" altLang="en-US">
              <a:solidFill>
                <a:schemeClr val="bg1"/>
              </a:solidFill>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a:t>
            </a:r>
            <a:r>
              <a:rPr lang="zh-CN" altLang="en-US">
                <a:solidFill>
                  <a:srgbClr val="FF0000"/>
                </a:solidFill>
                <a:sym typeface="+mn-ea"/>
              </a:rPr>
              <a:t>最终轮</a:t>
            </a:r>
            <a:r>
              <a:rPr lang="zh-CN" altLang="en-US">
                <a:sym typeface="+mn-ea"/>
              </a:rPr>
              <a:t>中</a:t>
            </a:r>
            <a:r>
              <a:rPr lang="zh-CN" altLang="en-US">
                <a:sym typeface="+mn-ea"/>
              </a:rPr>
              <a:t>有如下关系：最后一轮输入的状态经</a:t>
            </a:r>
            <a:r>
              <a:rPr lang="en-US" altLang="zh-CN">
                <a:sym typeface="+mn-ea"/>
              </a:rPr>
              <a:t>S</a:t>
            </a:r>
            <a:r>
              <a:rPr lang="zh-CN" altLang="en-US">
                <a:sym typeface="+mn-ea"/>
              </a:rPr>
              <a:t>盒替换和轮密钥加后生成最终密文，由位运算结论可知：最后一轮轮密钥就等于密文与</a:t>
            </a:r>
            <a:r>
              <a:rPr lang="en-US" altLang="zh-CN">
                <a:sym typeface="+mn-ea"/>
              </a:rPr>
              <a:t>S</a:t>
            </a:r>
            <a:r>
              <a:rPr lang="zh-CN" altLang="en-US">
                <a:sym typeface="+mn-ea"/>
              </a:rPr>
              <a:t>盒替换结果的</a:t>
            </a:r>
            <a:r>
              <a:rPr lang="zh-CN" altLang="en-US">
                <a:sym typeface="+mn-ea"/>
              </a:rPr>
              <a:t>异或。</a:t>
            </a:r>
            <a:endParaRPr lang="zh-CN" altLang="en-US">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此时想解出轮密钥，等式右边只有最后一轮的输入状态</a:t>
            </a:r>
            <a:r>
              <a:rPr lang="en-US" altLang="zh-CN"/>
              <a:t>x</a:t>
            </a:r>
            <a:r>
              <a:rPr lang="zh-CN" altLang="en-US"/>
              <a:t>是未知的，如果求出了</a:t>
            </a:r>
            <a:r>
              <a:rPr lang="en-US" altLang="zh-CN"/>
              <a:t>x</a:t>
            </a:r>
            <a:r>
              <a:rPr lang="zh-CN" altLang="en-US"/>
              <a:t>就可以得到轮密钥。而因为加密过程中针对</a:t>
            </a:r>
            <a:r>
              <a:rPr lang="en-US" altLang="zh-CN"/>
              <a:t>x</a:t>
            </a:r>
            <a:r>
              <a:rPr lang="zh-CN" altLang="en-US"/>
              <a:t>的操作是将</a:t>
            </a:r>
            <a:r>
              <a:rPr lang="en-US" altLang="zh-CN"/>
              <a:t>x</a:t>
            </a:r>
            <a:r>
              <a:rPr lang="zh-CN" altLang="en-US"/>
              <a:t>当成位置索引去查</a:t>
            </a:r>
            <a:r>
              <a:rPr lang="en-US" altLang="zh-CN"/>
              <a:t>S</a:t>
            </a:r>
            <a:r>
              <a:rPr lang="zh-CN" altLang="en-US"/>
              <a:t>表，</a:t>
            </a:r>
            <a:r>
              <a:rPr lang="zh-CN" altLang="en-US">
                <a:sym typeface="+mn-ea"/>
              </a:rPr>
              <a:t>所以针对</a:t>
            </a:r>
            <a:r>
              <a:rPr lang="en-US" altLang="zh-CN">
                <a:sym typeface="+mn-ea"/>
              </a:rPr>
              <a:t>S</a:t>
            </a:r>
            <a:r>
              <a:rPr lang="zh-CN" altLang="en-US">
                <a:solidFill>
                  <a:srgbClr val="FF0000"/>
                </a:solidFill>
                <a:sym typeface="+mn-ea"/>
              </a:rPr>
              <a:t>表进行</a:t>
            </a:r>
            <a:r>
              <a:rPr lang="en-US" altLang="zh-CN">
                <a:solidFill>
                  <a:srgbClr val="FF0000"/>
                </a:solidFill>
                <a:sym typeface="+mn-ea"/>
              </a:rPr>
              <a:t>flush and reload</a:t>
            </a:r>
            <a:r>
              <a:rPr lang="zh-CN" altLang="en-US">
                <a:solidFill>
                  <a:srgbClr val="FF0000"/>
                </a:solidFill>
                <a:sym typeface="+mn-ea"/>
              </a:rPr>
              <a:t>监测</a:t>
            </a:r>
            <a:r>
              <a:rPr lang="zh-CN" altLang="en-US">
                <a:sym typeface="+mn-ea"/>
              </a:rPr>
              <a:t>，就可以</a:t>
            </a:r>
            <a:r>
              <a:rPr lang="zh-CN" altLang="en-US">
                <a:solidFill>
                  <a:srgbClr val="2177F9"/>
                </a:solidFill>
                <a:sym typeface="+mn-ea"/>
              </a:rPr>
              <a:t>泄露</a:t>
            </a:r>
            <a:r>
              <a:rPr lang="en-US" altLang="zh-CN">
                <a:solidFill>
                  <a:srgbClr val="2177F9"/>
                </a:solidFill>
                <a:sym typeface="+mn-ea"/>
              </a:rPr>
              <a:t>x</a:t>
            </a:r>
            <a:r>
              <a:rPr lang="zh-CN" altLang="en-US">
                <a:solidFill>
                  <a:srgbClr val="2177F9"/>
                </a:solidFill>
                <a:sym typeface="+mn-ea"/>
              </a:rPr>
              <a:t>的值，进而得到轮密钥。</a:t>
            </a:r>
            <a:endParaRPr lang="zh-CN" altLang="en-US">
              <a:solidFill>
                <a:srgbClr val="2177F9"/>
              </a:solidFill>
            </a:endParaRPr>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在本实验中，加密的最后一轮仍复用的是加速</a:t>
            </a:r>
            <a:r>
              <a:rPr lang="en-US" altLang="zh-CN"/>
              <a:t>T</a:t>
            </a:r>
            <a:r>
              <a:rPr lang="zh-CN" altLang="en-US"/>
              <a:t>表，并通过位掩码从</a:t>
            </a:r>
            <a:r>
              <a:rPr lang="en-US" altLang="zh-CN"/>
              <a:t>T</a:t>
            </a:r>
            <a:r>
              <a:rPr lang="zh-CN" altLang="en-US"/>
              <a:t>表输出的</a:t>
            </a:r>
            <a:r>
              <a:rPr lang="en-US" altLang="zh-CN"/>
              <a:t>32</a:t>
            </a:r>
            <a:r>
              <a:rPr lang="zh-CN" altLang="en-US"/>
              <a:t>位表项中提取出</a:t>
            </a:r>
            <a:r>
              <a:rPr lang="en-US" altLang="zh-CN"/>
              <a:t>S</a:t>
            </a:r>
            <a:r>
              <a:rPr lang="zh-CN" altLang="en-US"/>
              <a:t>盒的输出字节。最终轮的计算公式就变成了</a:t>
            </a:r>
            <a:r>
              <a:rPr lang="en-US" altLang="zh-CN"/>
              <a:t> </a:t>
            </a:r>
            <a:r>
              <a:rPr lang="zh-CN" altLang="en-US"/>
              <a:t>先查</a:t>
            </a:r>
            <a:r>
              <a:rPr lang="en-US" altLang="zh-CN"/>
              <a:t>T</a:t>
            </a:r>
            <a:r>
              <a:rPr lang="zh-CN" altLang="en-US"/>
              <a:t>表</a:t>
            </a:r>
            <a:r>
              <a:rPr lang="en-US" altLang="zh-CN"/>
              <a:t> </a:t>
            </a:r>
            <a:r>
              <a:rPr lang="zh-CN" altLang="en-US"/>
              <a:t>再轮密钥加</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刚刚是完整的</a:t>
            </a:r>
            <a:r>
              <a:rPr lang="en-US" altLang="zh-CN">
                <a:sym typeface="+mn-ea"/>
              </a:rPr>
              <a:t>aes</a:t>
            </a:r>
            <a:r>
              <a:rPr lang="zh-CN" altLang="en-US">
                <a:sym typeface="+mn-ea"/>
              </a:rPr>
              <a:t>加密流程，本实验的攻击切入点就在这里：由于最后一轮存在</a:t>
            </a:r>
            <a:r>
              <a:rPr lang="en-US" altLang="zh-CN">
                <a:sym typeface="+mn-ea"/>
              </a:rPr>
              <a:t>T</a:t>
            </a:r>
            <a:r>
              <a:rPr lang="zh-CN" altLang="en-US">
                <a:sym typeface="+mn-ea"/>
              </a:rPr>
              <a:t>表查询操作，每次</a:t>
            </a:r>
            <a:r>
              <a:rPr lang="en-US" altLang="zh-CN">
                <a:sym typeface="+mn-ea"/>
              </a:rPr>
              <a:t>T</a:t>
            </a:r>
            <a:r>
              <a:rPr lang="zh-CN" altLang="en-US">
                <a:sym typeface="+mn-ea"/>
              </a:rPr>
              <a:t>表查询，会将查询的</a:t>
            </a:r>
            <a:r>
              <a:rPr lang="en-US" altLang="zh-CN">
                <a:sym typeface="+mn-ea"/>
              </a:rPr>
              <a:t>T</a:t>
            </a:r>
            <a:r>
              <a:rPr lang="zh-CN" altLang="en-US">
                <a:sym typeface="+mn-ea"/>
              </a:rPr>
              <a:t>表表项加入到缓存行</a:t>
            </a:r>
            <a:r>
              <a:rPr lang="en-US" altLang="zh-CN">
                <a:sym typeface="+mn-ea"/>
              </a:rPr>
              <a:t>Cache</a:t>
            </a:r>
            <a:r>
              <a:rPr lang="zh-CN" altLang="en-US">
                <a:sym typeface="+mn-ea"/>
              </a:rPr>
              <a:t>中，那么攻击者就可以对</a:t>
            </a:r>
            <a:r>
              <a:rPr lang="en-US" altLang="zh-CN">
                <a:sym typeface="+mn-ea"/>
              </a:rPr>
              <a:t>T</a:t>
            </a:r>
            <a:r>
              <a:rPr lang="zh-CN" altLang="en-US">
                <a:sym typeface="+mn-ea"/>
              </a:rPr>
              <a:t>表进行缓存侧信道攻击。在实验中，</a:t>
            </a:r>
            <a:r>
              <a:rPr lang="zh-CN" altLang="en-US">
                <a:solidFill>
                  <a:srgbClr val="2177F9"/>
                </a:solidFill>
                <a:sym typeface="+mn-ea"/>
              </a:rPr>
              <a:t>攻击者监控的是每个</a:t>
            </a:r>
            <a:r>
              <a:rPr lang="en-US" altLang="zh-CN">
                <a:solidFill>
                  <a:srgbClr val="2177F9"/>
                </a:solidFill>
                <a:sym typeface="+mn-ea"/>
              </a:rPr>
              <a:t>T</a:t>
            </a:r>
            <a:r>
              <a:rPr lang="zh-CN" altLang="en-US">
                <a:solidFill>
                  <a:srgbClr val="2177F9"/>
                </a:solidFill>
                <a:sym typeface="+mn-ea"/>
              </a:rPr>
              <a:t>表的第</a:t>
            </a:r>
            <a:r>
              <a:rPr lang="en-US" altLang="zh-CN">
                <a:solidFill>
                  <a:srgbClr val="2177F9"/>
                </a:solidFill>
                <a:sym typeface="+mn-ea"/>
              </a:rPr>
              <a:t>0</a:t>
            </a:r>
            <a:r>
              <a:rPr lang="zh-CN" altLang="en-US">
                <a:solidFill>
                  <a:srgbClr val="2177F9"/>
                </a:solidFill>
                <a:sym typeface="+mn-ea"/>
              </a:rPr>
              <a:t>号缓存行，使用的方法是</a:t>
            </a:r>
            <a:r>
              <a:rPr lang="en-US" altLang="zh-CN">
                <a:solidFill>
                  <a:srgbClr val="2177F9"/>
                </a:solidFill>
                <a:sym typeface="+mn-ea"/>
              </a:rPr>
              <a:t>flush and reload </a:t>
            </a:r>
            <a:r>
              <a:rPr lang="zh-CN" altLang="en-US">
                <a:solidFill>
                  <a:srgbClr val="2177F9"/>
                </a:solidFill>
                <a:sym typeface="+mn-ea"/>
              </a:rPr>
              <a:t>和</a:t>
            </a:r>
            <a:r>
              <a:rPr lang="zh-CN" altLang="en-US">
                <a:solidFill>
                  <a:srgbClr val="2177F9"/>
                </a:solidFill>
                <a:sym typeface="+mn-ea"/>
              </a:rPr>
              <a:t>排除法。</a:t>
            </a:r>
            <a:endParaRPr lang="zh-CN" altLang="en-US">
              <a:solidFill>
                <a:srgbClr val="2177F9"/>
              </a:solidFill>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这里只监控一个缓存行的原因主要是降低</a:t>
            </a:r>
            <a:r>
              <a:rPr lang="en-US" altLang="zh-CN">
                <a:sym typeface="+mn-ea"/>
              </a:rPr>
              <a:t>clflush</a:t>
            </a:r>
            <a:r>
              <a:rPr lang="zh-CN" altLang="en-US">
                <a:sym typeface="+mn-ea"/>
              </a:rPr>
              <a:t>的执行频率，降低系统的开销，也是因为这样就可以获得足够的信息量</a:t>
            </a:r>
            <a:r>
              <a:rPr lang="zh-CN" altLang="en-US">
                <a:sym typeface="+mn-ea"/>
              </a:rPr>
              <a:t>了。</a:t>
            </a:r>
            <a:endParaRPr lang="zh-CN" altLang="en-US">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以第一个</a:t>
            </a:r>
            <a:r>
              <a:rPr lang="en-US" altLang="zh-CN">
                <a:sym typeface="+mn-ea"/>
              </a:rPr>
              <a:t>T</a:t>
            </a:r>
            <a:r>
              <a:rPr lang="zh-CN" altLang="en-US">
                <a:sym typeface="+mn-ea"/>
              </a:rPr>
              <a:t>表</a:t>
            </a:r>
            <a:r>
              <a:rPr lang="en-US" altLang="zh-CN">
                <a:sym typeface="+mn-ea"/>
              </a:rPr>
              <a:t>T0</a:t>
            </a:r>
            <a:r>
              <a:rPr lang="zh-CN" altLang="en-US">
                <a:sym typeface="+mn-ea"/>
              </a:rPr>
              <a:t>表为例：在第</a:t>
            </a:r>
            <a:r>
              <a:rPr lang="en-US" altLang="zh-CN">
                <a:sym typeface="+mn-ea"/>
              </a:rPr>
              <a:t>0</a:t>
            </a:r>
            <a:r>
              <a:rPr lang="zh-CN" altLang="en-US">
                <a:sym typeface="+mn-ea"/>
              </a:rPr>
              <a:t>缓存行中一共有</a:t>
            </a:r>
            <a:r>
              <a:rPr lang="en-US" altLang="zh-CN">
                <a:sym typeface="+mn-ea"/>
              </a:rPr>
              <a:t>T0</a:t>
            </a:r>
            <a:r>
              <a:rPr lang="zh-CN" altLang="en-US">
                <a:sym typeface="+mn-ea"/>
              </a:rPr>
              <a:t>表的</a:t>
            </a:r>
            <a:r>
              <a:rPr lang="en-US" altLang="zh-CN">
                <a:sym typeface="+mn-ea"/>
              </a:rPr>
              <a:t>16</a:t>
            </a:r>
            <a:r>
              <a:rPr lang="zh-CN" altLang="en-US">
                <a:sym typeface="+mn-ea"/>
              </a:rPr>
              <a:t>个项</a:t>
            </a:r>
            <a:r>
              <a:rPr lang="zh-CN" altLang="en-US">
                <a:sym typeface="+mn-ea"/>
              </a:rPr>
              <a:t>，如果这个缓存行在加密后未被访问，则意味着本次加密中所有使用</a:t>
            </a:r>
            <a:r>
              <a:rPr lang="en-US" altLang="zh-CN">
                <a:sym typeface="+mn-ea"/>
              </a:rPr>
              <a:t>T0</a:t>
            </a:r>
            <a:r>
              <a:rPr lang="zh-CN" altLang="en-US">
                <a:sym typeface="+mn-ea"/>
              </a:rPr>
              <a:t>表的输入字节都不在</a:t>
            </a:r>
            <a:r>
              <a:rPr lang="zh-CN" altLang="en-US">
                <a:sym typeface="+mn-ea"/>
              </a:rPr>
              <a:t>第</a:t>
            </a:r>
            <a:r>
              <a:rPr lang="en-US" altLang="zh-CN">
                <a:sym typeface="+mn-ea"/>
              </a:rPr>
              <a:t>0</a:t>
            </a:r>
            <a:r>
              <a:rPr lang="zh-CN" altLang="en-US">
                <a:sym typeface="+mn-ea"/>
              </a:rPr>
              <a:t>缓存行的范围内，也就是所有使用</a:t>
            </a:r>
            <a:r>
              <a:rPr lang="en-US" altLang="zh-CN">
                <a:sym typeface="+mn-ea"/>
              </a:rPr>
              <a:t>T0</a:t>
            </a:r>
            <a:r>
              <a:rPr lang="zh-CN" altLang="en-US">
                <a:sym typeface="+mn-ea"/>
              </a:rPr>
              <a:t>表的输入字节数值上都不等于</a:t>
            </a:r>
            <a:r>
              <a:rPr lang="en-US" altLang="zh-CN">
                <a:sym typeface="+mn-ea"/>
              </a:rPr>
              <a:t> 0</a:t>
            </a:r>
            <a:r>
              <a:rPr lang="zh-CN" altLang="en-US">
                <a:sym typeface="+mn-ea"/>
              </a:rPr>
              <a:t>～</a:t>
            </a:r>
            <a:r>
              <a:rPr lang="en-US" altLang="zh-CN">
                <a:sym typeface="+mn-ea"/>
              </a:rPr>
              <a:t>15 </a:t>
            </a:r>
            <a:r>
              <a:rPr lang="zh-CN" altLang="en-US">
                <a:sym typeface="+mn-ea"/>
              </a:rPr>
              <a:t>，而</a:t>
            </a:r>
            <a:r>
              <a:rPr lang="en-US" altLang="zh-CN">
                <a:sym typeface="+mn-ea"/>
              </a:rPr>
              <a:t> Te0 </a:t>
            </a:r>
            <a:r>
              <a:rPr lang="zh-CN" altLang="en-US">
                <a:sym typeface="+mn-ea"/>
              </a:rPr>
              <a:t>负责的是第</a:t>
            </a:r>
            <a:r>
              <a:rPr lang="en-US" altLang="zh-CN">
                <a:sym typeface="+mn-ea"/>
              </a:rPr>
              <a:t> 2 </a:t>
            </a:r>
            <a:r>
              <a:rPr lang="zh-CN" altLang="en-US">
                <a:sym typeface="+mn-ea"/>
              </a:rPr>
              <a:t>行的输出，所以会影响到第</a:t>
            </a:r>
            <a:r>
              <a:rPr lang="en-US" altLang="zh-CN">
                <a:sym typeface="+mn-ea"/>
              </a:rPr>
              <a:t> 2 </a:t>
            </a:r>
            <a:r>
              <a:rPr lang="zh-CN" altLang="en-US">
                <a:sym typeface="+mn-ea"/>
              </a:rPr>
              <a:t>行的四个密文字节。考虑公式</a:t>
            </a:r>
            <a:r>
              <a:rPr lang="en-US" altLang="zh-CN">
                <a:sym typeface="+mn-ea"/>
              </a:rPr>
              <a:t> </a:t>
            </a:r>
            <a:r>
              <a:rPr lang="zh-CN" altLang="en-US">
                <a:sym typeface="+mn-ea"/>
              </a:rPr>
              <a:t>轮密钥</a:t>
            </a:r>
            <a:r>
              <a:rPr lang="en-US" altLang="zh-CN">
                <a:sym typeface="+mn-ea"/>
              </a:rPr>
              <a:t>=</a:t>
            </a:r>
            <a:r>
              <a:rPr lang="zh-CN" altLang="en-US">
                <a:sym typeface="+mn-ea"/>
              </a:rPr>
              <a:t>密文与</a:t>
            </a:r>
            <a:r>
              <a:rPr lang="en-US" altLang="zh-CN">
                <a:sym typeface="+mn-ea"/>
              </a:rPr>
              <a:t>S</a:t>
            </a:r>
            <a:r>
              <a:rPr lang="zh-CN" altLang="en-US">
                <a:sym typeface="+mn-ea"/>
              </a:rPr>
              <a:t>盒替换结果的异或，就可以根据</a:t>
            </a:r>
            <a:r>
              <a:rPr lang="zh-CN" altLang="en-US">
                <a:sym typeface="+mn-ea"/>
              </a:rPr>
              <a:t>不等于</a:t>
            </a:r>
            <a:r>
              <a:rPr lang="en-US" altLang="zh-CN">
                <a:sym typeface="+mn-ea"/>
              </a:rPr>
              <a:t> 0</a:t>
            </a:r>
            <a:r>
              <a:rPr lang="zh-CN" altLang="en-US">
                <a:sym typeface="+mn-ea"/>
              </a:rPr>
              <a:t>～</a:t>
            </a:r>
            <a:r>
              <a:rPr lang="en-US" altLang="zh-CN">
                <a:sym typeface="+mn-ea"/>
              </a:rPr>
              <a:t>15 </a:t>
            </a:r>
            <a:r>
              <a:rPr lang="zh-CN" altLang="en-US">
                <a:sym typeface="+mn-ea"/>
              </a:rPr>
              <a:t>的这些最后一轮的输入字节，算出不可能取得的</a:t>
            </a:r>
            <a:r>
              <a:rPr lang="en-US" altLang="zh-CN">
                <a:sym typeface="+mn-ea"/>
              </a:rPr>
              <a:t>S</a:t>
            </a:r>
            <a:r>
              <a:rPr lang="zh-CN" altLang="en-US">
                <a:sym typeface="+mn-ea"/>
              </a:rPr>
              <a:t>盒替换值，最终得到轮密钥不可能取得的值，予以</a:t>
            </a:r>
            <a:r>
              <a:rPr lang="zh-CN" altLang="en-US">
                <a:sym typeface="+mn-ea"/>
              </a:rPr>
              <a:t>排除。</a:t>
            </a:r>
            <a:endParaRPr lang="zh-CN" altLang="en-US">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开辟一个数组计数器</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通过相同密钥多次加密不同明文样本，每次排除一些密钥位置不可能取的值，随着实验次数的增加，最后一轮密钥</a:t>
            </a:r>
            <a:r>
              <a:rPr lang="zh-CN" altLang="en-US">
                <a:sym typeface="+mn-ea"/>
              </a:rPr>
              <a:t>错误候选被大量排除，最终选择</a:t>
            </a:r>
            <a:r>
              <a:rPr lang="zh-CN" altLang="en-US">
                <a:solidFill>
                  <a:srgbClr val="FF0000"/>
                </a:solidFill>
                <a:sym typeface="+mn-ea"/>
              </a:rPr>
              <a:t>被排除次数最少的候选就可以作为恢复的</a:t>
            </a:r>
            <a:r>
              <a:rPr lang="zh-CN" altLang="en-US">
                <a:solidFill>
                  <a:srgbClr val="FF0000"/>
                </a:solidFill>
                <a:sym typeface="+mn-ea"/>
              </a:rPr>
              <a:t>最后一轮密钥</a:t>
            </a:r>
            <a:r>
              <a:rPr lang="zh-CN" altLang="en-US">
                <a:sym typeface="+mn-ea"/>
              </a:rPr>
              <a:t>。</a:t>
            </a:r>
            <a:endParaRPr lang="zh-CN" altLang="en-US"/>
          </a:p>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当得到</a:t>
            </a:r>
            <a:r>
              <a:rPr lang="en-US" altLang="zh-CN"/>
              <a:t>AES-128</a:t>
            </a:r>
            <a:r>
              <a:rPr lang="zh-CN" altLang="en-US"/>
              <a:t>的最后一轮密钥后，可以通过已知的密钥扩展逆向公式计算出原始密钥。这就是本实验中</a:t>
            </a:r>
            <a:r>
              <a:rPr lang="en-US" altLang="zh-CN"/>
              <a:t>AES128</a:t>
            </a:r>
            <a:r>
              <a:rPr lang="zh-CN" altLang="en-US"/>
              <a:t>的密钥恢复方法。而</a:t>
            </a:r>
            <a:r>
              <a:rPr lang="en-US" altLang="zh-CN"/>
              <a:t>AES192</a:t>
            </a:r>
            <a:r>
              <a:rPr lang="zh-CN" altLang="en-US"/>
              <a:t>和</a:t>
            </a:r>
            <a:r>
              <a:rPr lang="en-US" altLang="zh-CN"/>
              <a:t>256</a:t>
            </a:r>
            <a:r>
              <a:rPr lang="zh-CN" altLang="en-US"/>
              <a:t>则稍微复杂一些。</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AES192</a:t>
            </a:r>
            <a:r>
              <a:rPr lang="zh-CN" altLang="en-US"/>
              <a:t>和</a:t>
            </a:r>
            <a:r>
              <a:rPr lang="en-US" altLang="zh-CN"/>
              <a:t>AES256</a:t>
            </a:r>
            <a:r>
              <a:rPr lang="zh-CN" altLang="en-US"/>
              <a:t>的密钥扩展分别以</a:t>
            </a:r>
            <a:r>
              <a:rPr lang="en-US" altLang="zh-CN"/>
              <a:t> 6</a:t>
            </a:r>
            <a:r>
              <a:rPr lang="zh-CN" altLang="en-US">
                <a:sym typeface="+mn-ea"/>
              </a:rPr>
              <a:t>个字</a:t>
            </a:r>
            <a:r>
              <a:rPr lang="en-US" altLang="zh-CN">
                <a:sym typeface="+mn-ea"/>
              </a:rPr>
              <a:t> </a:t>
            </a:r>
            <a:r>
              <a:rPr lang="zh-CN" altLang="en-US">
                <a:sym typeface="+mn-ea"/>
              </a:rPr>
              <a:t>和</a:t>
            </a:r>
            <a:r>
              <a:rPr lang="en-US" altLang="zh-CN">
                <a:sym typeface="+mn-ea"/>
              </a:rPr>
              <a:t> </a:t>
            </a:r>
            <a:r>
              <a:rPr lang="en-US" altLang="zh-CN"/>
              <a:t>8 </a:t>
            </a:r>
            <a:r>
              <a:rPr lang="zh-CN" altLang="en-US"/>
              <a:t>个字为一组，仅知道最后</a:t>
            </a:r>
            <a:r>
              <a:rPr lang="en-US" altLang="zh-CN"/>
              <a:t> 4 </a:t>
            </a:r>
            <a:r>
              <a:rPr lang="zh-CN" altLang="en-US"/>
              <a:t>个字是无法逆向推导出完整的原始密钥的，所以需要第二阶段</a:t>
            </a:r>
            <a:r>
              <a:rPr lang="zh-CN" altLang="en-US"/>
              <a:t>来得到倒数第二轮</a:t>
            </a:r>
            <a:r>
              <a:rPr lang="zh-CN" altLang="en-US"/>
              <a:t>子密钥。</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下面以</a:t>
            </a:r>
            <a:r>
              <a:rPr lang="en-US" altLang="zh-CN"/>
              <a:t>AES256</a:t>
            </a:r>
            <a:r>
              <a:rPr lang="zh-CN" altLang="en-US"/>
              <a:t>为例，已知在</a:t>
            </a:r>
            <a:r>
              <a:rPr lang="en-US" altLang="zh-CN"/>
              <a:t> AES </a:t>
            </a:r>
            <a:r>
              <a:rPr lang="zh-CN" altLang="en-US"/>
              <a:t>的等价解密算法中，解密轮密钥与加密轮密钥之间存在确定的变换关系，想得到倒数第二轮加密密钥只需要知道解密第一轮密钥，下面来分析</a:t>
            </a:r>
            <a:r>
              <a:rPr lang="zh-CN" altLang="en-US">
                <a:sym typeface="+mn-ea"/>
              </a:rPr>
              <a:t>解密</a:t>
            </a:r>
            <a:r>
              <a:rPr lang="zh-CN" altLang="en-US">
                <a:sym typeface="+mn-ea"/>
              </a:rPr>
              <a:t>的第一轮密钥。</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由于在攻击第一阶段已经得到最后一轮密钥，由此可以算出一些中间值数组，其中的</a:t>
            </a:r>
            <a:r>
              <a:rPr lang="en-US" altLang="zh-CN"/>
              <a:t>IV1</a:t>
            </a:r>
            <a:r>
              <a:rPr lang="zh-CN" altLang="en-US"/>
              <a:t>中间值数组与第一轮解密密钥异或可以得到</a:t>
            </a:r>
            <a:r>
              <a:rPr lang="en-US" altLang="zh-CN"/>
              <a:t>D2</a:t>
            </a:r>
            <a:r>
              <a:rPr lang="zh-CN" altLang="en-US"/>
              <a:t>数组，由位运算的性质，</a:t>
            </a:r>
            <a:r>
              <a:rPr lang="zh-CN" altLang="en-US">
                <a:sym typeface="+mn-ea"/>
              </a:rPr>
              <a:t>第一轮解密密钥就等于已知的</a:t>
            </a:r>
            <a:r>
              <a:rPr lang="en-US" altLang="zh-CN">
                <a:sym typeface="+mn-ea"/>
              </a:rPr>
              <a:t>IV1</a:t>
            </a:r>
            <a:r>
              <a:rPr lang="zh-CN" altLang="en-US">
                <a:sym typeface="+mn-ea"/>
              </a:rPr>
              <a:t>数组与</a:t>
            </a:r>
            <a:r>
              <a:rPr lang="en-US" altLang="zh-CN">
                <a:sym typeface="+mn-ea"/>
              </a:rPr>
              <a:t>D2</a:t>
            </a:r>
            <a:r>
              <a:rPr lang="zh-CN" altLang="en-US">
                <a:sym typeface="+mn-ea"/>
              </a:rPr>
              <a:t>数组的异或，下面对</a:t>
            </a:r>
            <a:r>
              <a:rPr lang="en-US" altLang="zh-CN">
                <a:sym typeface="+mn-ea"/>
              </a:rPr>
              <a:t>D2</a:t>
            </a:r>
            <a:r>
              <a:rPr lang="zh-CN" altLang="en-US">
                <a:sym typeface="+mn-ea"/>
              </a:rPr>
              <a:t>数组进行</a:t>
            </a:r>
            <a:r>
              <a:rPr lang="zh-CN" altLang="en-US">
                <a:sym typeface="+mn-ea"/>
              </a:rPr>
              <a:t>分析。</a:t>
            </a:r>
            <a:endParaRPr lang="zh-CN" altLang="en-US">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D2</a:t>
            </a:r>
            <a:r>
              <a:rPr lang="zh-CN" altLang="en-US"/>
              <a:t>数组也</a:t>
            </a:r>
            <a:r>
              <a:rPr lang="zh-CN" altLang="en-US">
                <a:solidFill>
                  <a:srgbClr val="2177F9"/>
                </a:solidFill>
                <a:sym typeface="+mn-ea"/>
              </a:rPr>
              <a:t>是在等效解密过程中得到的一个中间状态数组，他的每个字节可以由</a:t>
            </a:r>
            <a:r>
              <a:rPr lang="zh-CN" altLang="en-US">
                <a:sym typeface="+mn-ea"/>
              </a:rPr>
              <a:t>加密倒数第二轮的输入状态</a:t>
            </a:r>
            <a:r>
              <a:rPr lang="en-US" altLang="zh-CN">
                <a:solidFill>
                  <a:srgbClr val="2177F9"/>
                </a:solidFill>
                <a:sym typeface="+mn-ea"/>
              </a:rPr>
              <a:t>S13</a:t>
            </a:r>
            <a:r>
              <a:rPr lang="zh-CN" altLang="en-US">
                <a:solidFill>
                  <a:srgbClr val="2177F9"/>
                </a:solidFill>
                <a:sym typeface="+mn-ea"/>
              </a:rPr>
              <a:t>经过</a:t>
            </a:r>
            <a:r>
              <a:rPr lang="en-US" altLang="zh-CN">
                <a:solidFill>
                  <a:srgbClr val="2177F9"/>
                </a:solidFill>
                <a:sym typeface="+mn-ea"/>
              </a:rPr>
              <a:t>S-box</a:t>
            </a:r>
            <a:r>
              <a:rPr lang="zh-CN" altLang="en-US">
                <a:solidFill>
                  <a:srgbClr val="2177F9"/>
                </a:solidFill>
                <a:sym typeface="+mn-ea"/>
              </a:rPr>
              <a:t>变换得到，而</a:t>
            </a:r>
            <a:r>
              <a:rPr lang="en-US" altLang="zh-CN">
                <a:solidFill>
                  <a:srgbClr val="2177F9"/>
                </a:solidFill>
                <a:sym typeface="+mn-ea"/>
              </a:rPr>
              <a:t>S13</a:t>
            </a:r>
            <a:r>
              <a:rPr lang="zh-CN" altLang="en-US">
                <a:solidFill>
                  <a:srgbClr val="2177F9"/>
                </a:solidFill>
                <a:sym typeface="+mn-ea"/>
              </a:rPr>
              <a:t>与</a:t>
            </a:r>
            <a:r>
              <a:rPr lang="en-US" altLang="zh-CN">
                <a:solidFill>
                  <a:srgbClr val="2177F9"/>
                </a:solidFill>
                <a:sym typeface="+mn-ea"/>
              </a:rPr>
              <a:t>T</a:t>
            </a:r>
            <a:r>
              <a:rPr lang="zh-CN" altLang="en-US">
                <a:solidFill>
                  <a:srgbClr val="2177F9"/>
                </a:solidFill>
                <a:sym typeface="+mn-ea"/>
              </a:rPr>
              <a:t>表有如图的对应关系，所以可以通过对</a:t>
            </a:r>
            <a:r>
              <a:rPr lang="en-US" altLang="zh-CN">
                <a:solidFill>
                  <a:srgbClr val="2177F9"/>
                </a:solidFill>
                <a:sym typeface="+mn-ea"/>
              </a:rPr>
              <a:t>T</a:t>
            </a:r>
            <a:r>
              <a:rPr lang="zh-CN" altLang="en-US">
                <a:solidFill>
                  <a:srgbClr val="2177F9"/>
                </a:solidFill>
                <a:sym typeface="+mn-ea"/>
              </a:rPr>
              <a:t>表的缓存侧信道攻击，使用</a:t>
            </a:r>
            <a:r>
              <a:rPr lang="en-US" altLang="zh-CN">
                <a:solidFill>
                  <a:srgbClr val="2177F9"/>
                </a:solidFill>
                <a:sym typeface="+mn-ea"/>
              </a:rPr>
              <a:t>flush reload+</a:t>
            </a:r>
            <a:r>
              <a:rPr lang="zh-CN" altLang="en-US">
                <a:solidFill>
                  <a:srgbClr val="2177F9"/>
                </a:solidFill>
                <a:sym typeface="+mn-ea"/>
              </a:rPr>
              <a:t>排除法来恢复</a:t>
            </a:r>
            <a:r>
              <a:rPr lang="en-US" altLang="zh-CN">
                <a:solidFill>
                  <a:srgbClr val="2177F9"/>
                </a:solidFill>
                <a:sym typeface="+mn-ea"/>
              </a:rPr>
              <a:t>S13</a:t>
            </a:r>
            <a:r>
              <a:rPr lang="zh-CN" altLang="en-US">
                <a:solidFill>
                  <a:srgbClr val="2177F9"/>
                </a:solidFill>
                <a:sym typeface="+mn-ea"/>
              </a:rPr>
              <a:t>，进而通过计算得到</a:t>
            </a:r>
            <a:r>
              <a:rPr lang="en-US" altLang="zh-CN">
                <a:solidFill>
                  <a:srgbClr val="2177F9"/>
                </a:solidFill>
                <a:sym typeface="+mn-ea"/>
              </a:rPr>
              <a:t>D2</a:t>
            </a:r>
            <a:r>
              <a:rPr lang="zh-CN" altLang="en-US">
                <a:solidFill>
                  <a:srgbClr val="2177F9"/>
                </a:solidFill>
                <a:sym typeface="+mn-ea"/>
              </a:rPr>
              <a:t>，得到</a:t>
            </a:r>
            <a:r>
              <a:rPr lang="en-US" altLang="zh-CN">
                <a:solidFill>
                  <a:srgbClr val="2177F9"/>
                </a:solidFill>
                <a:sym typeface="+mn-ea"/>
              </a:rPr>
              <a:t> IV1 </a:t>
            </a:r>
            <a:r>
              <a:rPr lang="zh-CN" altLang="en-US">
                <a:solidFill>
                  <a:srgbClr val="2177F9"/>
                </a:solidFill>
                <a:sym typeface="+mn-ea"/>
              </a:rPr>
              <a:t>，得到</a:t>
            </a:r>
            <a:r>
              <a:rPr lang="zh-CN" altLang="en-US">
                <a:sym typeface="+mn-ea"/>
              </a:rPr>
              <a:t>第一轮解密密钥，</a:t>
            </a:r>
            <a:r>
              <a:rPr lang="zh-CN" altLang="en-US">
                <a:solidFill>
                  <a:srgbClr val="2177F9"/>
                </a:solidFill>
                <a:sym typeface="+mn-ea"/>
              </a:rPr>
              <a:t>恢复倒数第二轮密钥，</a:t>
            </a:r>
            <a:r>
              <a:rPr lang="zh-CN" altLang="en-US">
                <a:solidFill>
                  <a:srgbClr val="2177F9"/>
                </a:solidFill>
                <a:sym typeface="+mn-ea"/>
              </a:rPr>
              <a:t>并与最后一轮密钥共同计算出原始</a:t>
            </a:r>
            <a:r>
              <a:rPr lang="zh-CN" altLang="en-US">
                <a:solidFill>
                  <a:srgbClr val="2177F9"/>
                </a:solidFill>
                <a:sym typeface="+mn-ea"/>
              </a:rPr>
              <a:t>密钥。</a:t>
            </a:r>
            <a:endParaRPr lang="zh-CN" altLang="en-US">
              <a:solidFill>
                <a:srgbClr val="2177F9"/>
              </a:solidFill>
              <a:sym typeface="+mn-e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olidFill>
                  <a:schemeClr val="bg1"/>
                </a:solidFill>
                <a:sym typeface="+mn-ea"/>
              </a:rPr>
              <a:t>进一步分析可以简化攻击过程，两阶段都使用到了</a:t>
            </a:r>
            <a:r>
              <a:rPr lang="en-US" altLang="zh-CN">
                <a:solidFill>
                  <a:schemeClr val="bg1"/>
                </a:solidFill>
                <a:sym typeface="+mn-ea"/>
              </a:rPr>
              <a:t>T</a:t>
            </a:r>
            <a:r>
              <a:rPr lang="zh-CN" altLang="en-US">
                <a:solidFill>
                  <a:schemeClr val="bg1"/>
                </a:solidFill>
                <a:sym typeface="+mn-ea"/>
              </a:rPr>
              <a:t>表的结果，所有两个阶段可以只通过</a:t>
            </a:r>
            <a:r>
              <a:rPr lang="zh-CN" altLang="en-US">
                <a:solidFill>
                  <a:srgbClr val="FF0000"/>
                </a:solidFill>
                <a:sym typeface="+mn-ea"/>
              </a:rPr>
              <a:t>一次攻击，得到相同的</a:t>
            </a:r>
            <a:r>
              <a:rPr lang="en-US" altLang="zh-CN">
                <a:solidFill>
                  <a:srgbClr val="FF0000"/>
                </a:solidFill>
                <a:sym typeface="+mn-ea"/>
              </a:rPr>
              <a:t>T</a:t>
            </a:r>
            <a:r>
              <a:rPr lang="zh-CN" altLang="en-US">
                <a:solidFill>
                  <a:srgbClr val="FF0000"/>
                </a:solidFill>
                <a:sym typeface="+mn-ea"/>
              </a:rPr>
              <a:t>表数据，再分别使用不同的恢复公式，即可计算出</a:t>
            </a:r>
            <a:r>
              <a:rPr lang="zh-CN" altLang="en-US">
                <a:solidFill>
                  <a:srgbClr val="FF0000"/>
                </a:solidFill>
                <a:sym typeface="+mn-ea"/>
              </a:rPr>
              <a:t>两个轮</a:t>
            </a:r>
            <a:r>
              <a:rPr lang="zh-CN" altLang="en-US">
                <a:solidFill>
                  <a:srgbClr val="FF0000"/>
                </a:solidFill>
                <a:sym typeface="+mn-ea"/>
              </a:rPr>
              <a:t>密钥。</a:t>
            </a:r>
            <a:endParaRPr lang="zh-CN" altLang="en-US">
              <a:solidFill>
                <a:srgbClr val="FF0000"/>
              </a:solidFill>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为了科学地评估攻击和防御效果，</a:t>
            </a:r>
            <a:r>
              <a:rPr lang="zh-CN" altLang="en-US" sz="1400" b="0" i="0" u="none" strike="noStrike">
                <a:solidFill>
                  <a:srgbClr val="000000"/>
                </a:solidFill>
                <a:latin typeface="Songti SC"/>
                <a:ea typeface="Songti SC"/>
                <a:cs typeface="Songti SC"/>
                <a:sym typeface="Songti SC"/>
              </a:rPr>
              <a:t>本实验</a:t>
            </a:r>
            <a:r>
              <a:rPr lang="en-US" sz="1400" b="0" i="0" u="none" strike="noStrike">
                <a:solidFill>
                  <a:srgbClr val="000000"/>
                </a:solidFill>
                <a:latin typeface="Songti SC"/>
                <a:ea typeface="Songti SC"/>
                <a:cs typeface="Songti SC"/>
                <a:sym typeface="Songti SC"/>
              </a:rPr>
              <a:t>建立了量化评估指标体系。</a:t>
            </a:r>
            <a:r>
              <a:rPr lang="zh-CN" altLang="en-US" sz="1400" b="0" i="0" u="none" strike="noStrike">
                <a:solidFill>
                  <a:srgbClr val="000000"/>
                </a:solidFill>
                <a:latin typeface="Songti SC"/>
                <a:ea typeface="Songti SC"/>
                <a:cs typeface="Songti SC"/>
                <a:sym typeface="Songti SC"/>
              </a:rPr>
              <a:t>记录了每次实验中包括</a:t>
            </a:r>
            <a:r>
              <a:rPr lang="en-US" sz="1400" b="0" i="0" u="none" strike="noStrike">
                <a:solidFill>
                  <a:srgbClr val="000000"/>
                </a:solidFill>
                <a:latin typeface="Songti SC"/>
                <a:ea typeface="Songti SC"/>
                <a:cs typeface="Songti SC"/>
                <a:sym typeface="Songti SC"/>
              </a:rPr>
              <a:t>命中率、攻击成功率</a:t>
            </a:r>
            <a:r>
              <a:rPr lang="zh-CN" altLang="en-US" sz="1400" b="0" i="0" u="none" strike="noStrike">
                <a:solidFill>
                  <a:srgbClr val="000000"/>
                </a:solidFill>
                <a:latin typeface="Songti SC"/>
                <a:ea typeface="Songti SC"/>
                <a:cs typeface="Songti SC"/>
                <a:sym typeface="Songti SC"/>
              </a:rPr>
              <a:t>和</a:t>
            </a:r>
            <a:r>
              <a:rPr lang="en-US" sz="1400" b="0" i="0" u="none" strike="noStrike">
                <a:solidFill>
                  <a:srgbClr val="000000"/>
                </a:solidFill>
                <a:latin typeface="Songti SC"/>
                <a:ea typeface="Songti SC"/>
                <a:cs typeface="Songti SC"/>
                <a:sym typeface="Songti SC"/>
              </a:rPr>
              <a:t>泄露带宽</a:t>
            </a:r>
            <a:r>
              <a:rPr lang="zh-CN" altLang="en-US" sz="1400" b="0" i="0" u="none" strike="noStrike">
                <a:solidFill>
                  <a:srgbClr val="000000"/>
                </a:solidFill>
                <a:latin typeface="Songti SC"/>
                <a:ea typeface="Songti SC"/>
                <a:cs typeface="Songti SC"/>
                <a:sym typeface="Songti SC"/>
              </a:rPr>
              <a:t>的这些核心指标</a:t>
            </a:r>
            <a:r>
              <a:rPr lang="en-US" sz="1400" b="0" i="0" u="none" strike="noStrike">
                <a:solidFill>
                  <a:srgbClr val="000000"/>
                </a:solidFill>
                <a:latin typeface="Songti SC"/>
                <a:ea typeface="Songti SC"/>
                <a:cs typeface="Songti SC"/>
                <a:sym typeface="Songti SC"/>
              </a:rPr>
              <a:t>。</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zh-CN" altLang="en-US" sz="1400" b="0" i="0" u="none" strike="noStrike">
                <a:solidFill>
                  <a:srgbClr val="000000"/>
                </a:solidFill>
              </a:rPr>
              <a:t>在对比实验中引入随机噪声和缓存刷新来</a:t>
            </a:r>
            <a:r>
              <a:rPr lang="en-US" sz="1400" b="0" i="0" u="none" strike="noStrike">
                <a:solidFill>
                  <a:srgbClr val="000000"/>
                </a:solidFill>
              </a:rPr>
              <a:t>评估防御措施。</a:t>
            </a:r>
            <a:r>
              <a:rPr lang="zh-CN" altLang="en-US" sz="1400" b="0" i="0" u="none" strike="noStrike">
                <a:solidFill>
                  <a:srgbClr val="000000"/>
                </a:solidFill>
              </a:rPr>
              <a:t>在实验结果中可以看到，基准状态的成功率可以达到</a:t>
            </a:r>
            <a:r>
              <a:rPr lang="en-US" altLang="zh-CN" sz="1400" b="0" i="0" u="none" strike="noStrike">
                <a:solidFill>
                  <a:srgbClr val="000000"/>
                </a:solidFill>
              </a:rPr>
              <a:t>100%</a:t>
            </a:r>
            <a:r>
              <a:rPr lang="zh-CN" altLang="en-US" sz="1400" b="0" i="0" u="none" strike="noStrike">
                <a:solidFill>
                  <a:srgbClr val="000000"/>
                </a:solidFill>
              </a:rPr>
              <a:t>，随着噪声增强，攻击的成功率会下降，缓存刷新是在每次攻击后都刷新</a:t>
            </a:r>
            <a:r>
              <a:rPr lang="en-US" altLang="zh-CN" sz="1400" b="0" i="0" u="none" strike="noStrike">
                <a:solidFill>
                  <a:srgbClr val="000000"/>
                </a:solidFill>
              </a:rPr>
              <a:t>T</a:t>
            </a:r>
            <a:r>
              <a:rPr lang="zh-CN" altLang="en-US" sz="1400" b="0" i="0" u="none" strike="noStrike">
                <a:solidFill>
                  <a:srgbClr val="000000"/>
                </a:solidFill>
              </a:rPr>
              <a:t>表，从根本上破环了攻击条件，也相当于</a:t>
            </a:r>
            <a:r>
              <a:rPr lang="en-US" altLang="zh-CN" sz="1400" b="0" i="0" u="none" strike="noStrike">
                <a:solidFill>
                  <a:srgbClr val="000000"/>
                </a:solidFill>
              </a:rPr>
              <a:t>100%</a:t>
            </a:r>
            <a:r>
              <a:rPr lang="zh-CN" altLang="en-US" sz="1400" b="0" i="0" u="none" strike="noStrike">
                <a:solidFill>
                  <a:srgbClr val="000000"/>
                </a:solidFill>
              </a:rPr>
              <a:t>的噪声，成功率下降到了</a:t>
            </a:r>
            <a:r>
              <a:rPr lang="en-US" altLang="zh-CN" sz="1400" b="0" i="0" u="none" strike="noStrike">
                <a:solidFill>
                  <a:srgbClr val="000000"/>
                </a:solidFill>
              </a:rPr>
              <a:t>0</a:t>
            </a:r>
            <a:r>
              <a:rPr lang="zh-CN" altLang="en-US" sz="1400" b="0" i="0" u="none" strike="noStrike">
                <a:solidFill>
                  <a:srgbClr val="000000"/>
                </a:solidFill>
              </a:rPr>
              <a:t>，但是这种防御的系统开销也非常大，所以在实际的开发防御中，最好找到一个防御与性能的</a:t>
            </a:r>
            <a:r>
              <a:rPr lang="zh-CN" altLang="en-US" sz="1400" b="0" i="0" u="none" strike="noStrike">
                <a:solidFill>
                  <a:srgbClr val="000000"/>
                </a:solidFill>
              </a:rPr>
              <a:t>平衡点。</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zh-CN" altLang="en-US" sz="1400" b="0" i="0" u="none" strike="noStrike">
                <a:solidFill>
                  <a:srgbClr val="000000"/>
                </a:solidFill>
              </a:rPr>
              <a:t>随着噪声的增强，泄露带宽也呈下降</a:t>
            </a:r>
            <a:r>
              <a:rPr lang="zh-CN" altLang="en-US" sz="1400" b="0" i="0" u="none" strike="noStrike">
                <a:solidFill>
                  <a:srgbClr val="000000"/>
                </a:solidFill>
              </a:rPr>
              <a:t>趋势。</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综合实验</a:t>
            </a:r>
            <a:r>
              <a:rPr lang="zh-CN" altLang="en-US" sz="1400" b="0" i="0" u="none" strike="noStrike">
                <a:solidFill>
                  <a:srgbClr val="000000"/>
                </a:solidFill>
              </a:rPr>
              <a:t>的流程和结果</a:t>
            </a:r>
            <a:r>
              <a:rPr lang="en-US" sz="1400" b="0" i="0" u="none" strike="noStrike">
                <a:solidFill>
                  <a:srgbClr val="000000"/>
                </a:solidFill>
              </a:rPr>
              <a:t>，</a:t>
            </a:r>
            <a:r>
              <a:rPr lang="zh-CN" altLang="en-US" sz="1400" b="0" i="0" u="none" strike="noStrike">
                <a:solidFill>
                  <a:srgbClr val="000000"/>
                </a:solidFill>
              </a:rPr>
              <a:t>本实验通过代码验证了使用缓存侧信道攻击</a:t>
            </a:r>
            <a:r>
              <a:rPr lang="en-US" altLang="zh-CN" sz="1400" b="0" i="0" u="none" strike="noStrike">
                <a:solidFill>
                  <a:srgbClr val="000000"/>
                </a:solidFill>
              </a:rPr>
              <a:t>+</a:t>
            </a:r>
            <a:r>
              <a:rPr lang="zh-CN" altLang="en-US" sz="1400" b="0" i="0" u="none" strike="noStrike">
                <a:solidFill>
                  <a:srgbClr val="000000"/>
                </a:solidFill>
              </a:rPr>
              <a:t>排除法来破解</a:t>
            </a:r>
            <a:r>
              <a:rPr lang="en-US" altLang="zh-CN" sz="1400" b="0" i="0" u="none" strike="noStrike">
                <a:solidFill>
                  <a:srgbClr val="000000"/>
                </a:solidFill>
              </a:rPr>
              <a:t>AES</a:t>
            </a:r>
            <a:r>
              <a:rPr lang="zh-CN" altLang="en-US" sz="1400" b="0" i="0" u="none" strike="noStrike">
                <a:solidFill>
                  <a:srgbClr val="000000"/>
                </a:solidFill>
              </a:rPr>
              <a:t>加密密钥的可行性，并编写了快捷的运行脚本，做了随机噪声与缓存刷新的对比实验，并得到了攻击成功率和</a:t>
            </a:r>
            <a:r>
              <a:rPr lang="en-US" b="1">
                <a:solidFill>
                  <a:srgbClr val="00B050"/>
                </a:solidFill>
                <a:latin typeface="微软雅黑" panose="020B0503020204020204" charset="-122"/>
                <a:ea typeface="微软雅黑" panose="020B0503020204020204" charset="-122"/>
                <a:cs typeface="微软雅黑" panose="020B0503020204020204" charset="-122"/>
                <a:sym typeface="微软雅黑" panose="020B0503020204020204" charset="-122"/>
              </a:rPr>
              <a:t>泄露带宽</a:t>
            </a:r>
            <a:r>
              <a:rPr lang="zh-CN" altLang="en-US" b="1">
                <a:solidFill>
                  <a:srgbClr val="00B050"/>
                </a:solidFill>
                <a:latin typeface="微软雅黑" panose="020B0503020204020204" charset="-122"/>
                <a:ea typeface="微软雅黑" panose="020B0503020204020204" charset="-122"/>
                <a:cs typeface="微软雅黑" panose="020B0503020204020204" charset="-122"/>
                <a:sym typeface="微软雅黑" panose="020B0503020204020204" charset="-122"/>
              </a:rPr>
              <a:t>等核心</a:t>
            </a:r>
            <a:r>
              <a:rPr lang="zh-CN" altLang="en-US" b="1">
                <a:solidFill>
                  <a:srgbClr val="00B050"/>
                </a:solidFill>
                <a:latin typeface="微软雅黑" panose="020B0503020204020204" charset="-122"/>
                <a:ea typeface="微软雅黑" panose="020B0503020204020204" charset="-122"/>
                <a:cs typeface="微软雅黑" panose="020B0503020204020204" charset="-122"/>
                <a:sym typeface="微软雅黑" panose="020B0503020204020204" charset="-122"/>
              </a:rPr>
              <a:t>指标。</a:t>
            </a:r>
            <a:endParaRPr lang="zh-CN" altLang="en-US" b="1">
              <a:solidFill>
                <a:srgbClr val="00B0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最后，对我的工作进行总结与展望。本次研究在理论、工具和实践三个方面都做出了贡献。未来</a:t>
            </a:r>
            <a:r>
              <a:rPr lang="zh-CN" altLang="en-US" sz="1400" b="0" i="0" u="none" strike="noStrike">
                <a:solidFill>
                  <a:srgbClr val="000000"/>
                </a:solidFill>
              </a:rPr>
              <a:t>可以</a:t>
            </a:r>
            <a:r>
              <a:rPr lang="en-US" sz="1400" b="0" i="0" u="none" strike="noStrike">
                <a:solidFill>
                  <a:srgbClr val="000000"/>
                </a:solidFill>
              </a:rPr>
              <a:t>将研究扩展到ARM等更多硬件平台，并探索更智能的自适应缓解策略，在安全性与性能之间取得更好的平衡。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最后，我要诚挚地感谢我的指导老师鲁赵骏老师，感谢他在整个研究过程中的悉心指导。同时，也要感谢所有帮助过我的老师和同学们。我的汇报到此结束，感谢各位评委老师的聆听，恳请各位老师批评指正。</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6.xml"/><Relationship Id="rId7" Type="http://schemas.openxmlformats.org/officeDocument/2006/relationships/image" Target="../media/image1.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image" Target="../media/image3.png"/><Relationship Id="rId10" Type="http://schemas.openxmlformats.org/officeDocument/2006/relationships/tags" Target="../tags/tag7.xml"/><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9.xml"/><Relationship Id="rId7" Type="http://schemas.openxmlformats.org/officeDocument/2006/relationships/image" Target="../media/image1.png"/><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2" Type="http://schemas.openxmlformats.org/officeDocument/2006/relationships/tags" Target="../tags/tag31.xml"/><Relationship Id="rId21" Type="http://schemas.openxmlformats.org/officeDocument/2006/relationships/tags" Target="../tags/tag30.xml"/><Relationship Id="rId20" Type="http://schemas.openxmlformats.org/officeDocument/2006/relationships/tags" Target="../tags/tag29.xml"/><Relationship Id="rId2" Type="http://schemas.openxmlformats.org/officeDocument/2006/relationships/tags" Target="../tags/tag14.xml"/><Relationship Id="rId19" Type="http://schemas.openxmlformats.org/officeDocument/2006/relationships/tags" Target="../tags/tag28.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image" Target="../media/image3.png"/><Relationship Id="rId10" Type="http://schemas.openxmlformats.org/officeDocument/2006/relationships/tags" Target="../tags/tag20.xml"/><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7.xml"/><Relationship Id="rId7" Type="http://schemas.openxmlformats.org/officeDocument/2006/relationships/image" Target="../media/image1.png"/><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9" Type="http://schemas.openxmlformats.org/officeDocument/2006/relationships/tags" Target="../tags/tag46.xml"/><Relationship Id="rId18" Type="http://schemas.openxmlformats.org/officeDocument/2006/relationships/tags" Target="../tags/tag45.xml"/><Relationship Id="rId17" Type="http://schemas.openxmlformats.org/officeDocument/2006/relationships/tags" Target="../tags/tag44.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image" Target="../media/image3.png"/><Relationship Id="rId10" Type="http://schemas.openxmlformats.org/officeDocument/2006/relationships/tags" Target="../tags/tag38.xml"/><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52.xml"/><Relationship Id="rId7" Type="http://schemas.openxmlformats.org/officeDocument/2006/relationships/image" Target="../media/image1.png"/><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5" Type="http://schemas.openxmlformats.org/officeDocument/2006/relationships/tags" Target="../tags/tag57.xml"/><Relationship Id="rId14" Type="http://schemas.openxmlformats.org/officeDocument/2006/relationships/tags" Target="../tags/tag56.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image" Target="../media/image3.png"/><Relationship Id="rId10" Type="http://schemas.openxmlformats.org/officeDocument/2006/relationships/tags" Target="../tags/tag53.xml"/><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63.xml"/><Relationship Id="rId7" Type="http://schemas.openxmlformats.org/officeDocument/2006/relationships/image" Target="../media/image1.png"/><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3" Type="http://schemas.openxmlformats.org/officeDocument/2006/relationships/tags" Target="../tags/tag76.xml"/><Relationship Id="rId22" Type="http://schemas.openxmlformats.org/officeDocument/2006/relationships/tags" Target="../tags/tag75.xml"/><Relationship Id="rId21" Type="http://schemas.openxmlformats.org/officeDocument/2006/relationships/tags" Target="../tags/tag74.xml"/><Relationship Id="rId20" Type="http://schemas.openxmlformats.org/officeDocument/2006/relationships/tags" Target="../tags/tag73.xml"/><Relationship Id="rId2" Type="http://schemas.openxmlformats.org/officeDocument/2006/relationships/tags" Target="../tags/tag58.xml"/><Relationship Id="rId19" Type="http://schemas.openxmlformats.org/officeDocument/2006/relationships/tags" Target="../tags/tag72.xml"/><Relationship Id="rId18" Type="http://schemas.openxmlformats.org/officeDocument/2006/relationships/tags" Target="../tags/tag71.xml"/><Relationship Id="rId17" Type="http://schemas.openxmlformats.org/officeDocument/2006/relationships/tags" Target="../tags/tag70.xml"/><Relationship Id="rId16" Type="http://schemas.openxmlformats.org/officeDocument/2006/relationships/tags" Target="../tags/tag69.xml"/><Relationship Id="rId15" Type="http://schemas.openxmlformats.org/officeDocument/2006/relationships/tags" Target="../tags/tag68.xml"/><Relationship Id="rId14" Type="http://schemas.openxmlformats.org/officeDocument/2006/relationships/tags" Target="../tags/tag67.xml"/><Relationship Id="rId13" Type="http://schemas.openxmlformats.org/officeDocument/2006/relationships/tags" Target="../tags/tag66.xml"/><Relationship Id="rId12" Type="http://schemas.openxmlformats.org/officeDocument/2006/relationships/tags" Target="../tags/tag65.xml"/><Relationship Id="rId11" Type="http://schemas.openxmlformats.org/officeDocument/2006/relationships/image" Target="../media/image3.png"/><Relationship Id="rId10" Type="http://schemas.openxmlformats.org/officeDocument/2006/relationships/tags" Target="../tags/tag64.xml"/><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82.xml"/><Relationship Id="rId7" Type="http://schemas.openxmlformats.org/officeDocument/2006/relationships/image" Target="../media/image1.png"/><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3" Type="http://schemas.openxmlformats.org/officeDocument/2006/relationships/tags" Target="../tags/tag95.xml"/><Relationship Id="rId22" Type="http://schemas.openxmlformats.org/officeDocument/2006/relationships/tags" Target="../tags/tag94.xml"/><Relationship Id="rId21" Type="http://schemas.openxmlformats.org/officeDocument/2006/relationships/tags" Target="../tags/tag93.xml"/><Relationship Id="rId20" Type="http://schemas.openxmlformats.org/officeDocument/2006/relationships/tags" Target="../tags/tag92.xml"/><Relationship Id="rId2" Type="http://schemas.openxmlformats.org/officeDocument/2006/relationships/tags" Target="../tags/tag77.xml"/><Relationship Id="rId19" Type="http://schemas.openxmlformats.org/officeDocument/2006/relationships/tags" Target="../tags/tag91.xml"/><Relationship Id="rId18" Type="http://schemas.openxmlformats.org/officeDocument/2006/relationships/tags" Target="../tags/tag90.xml"/><Relationship Id="rId17" Type="http://schemas.openxmlformats.org/officeDocument/2006/relationships/tags" Target="../tags/tag89.xml"/><Relationship Id="rId16" Type="http://schemas.openxmlformats.org/officeDocument/2006/relationships/tags" Target="../tags/tag88.xml"/><Relationship Id="rId15" Type="http://schemas.openxmlformats.org/officeDocument/2006/relationships/tags" Target="../tags/tag87.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image" Target="../media/image3.png"/><Relationship Id="rId10" Type="http://schemas.openxmlformats.org/officeDocument/2006/relationships/tags" Target="../tags/tag83.xml"/><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01.xml"/><Relationship Id="rId7" Type="http://schemas.openxmlformats.org/officeDocument/2006/relationships/image" Target="../media/image1.png"/><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1" Type="http://schemas.openxmlformats.org/officeDocument/2006/relationships/tags" Target="../tags/tag112.xml"/><Relationship Id="rId20" Type="http://schemas.openxmlformats.org/officeDocument/2006/relationships/tags" Target="../tags/tag111.xml"/><Relationship Id="rId2" Type="http://schemas.openxmlformats.org/officeDocument/2006/relationships/tags" Target="../tags/tag96.xml"/><Relationship Id="rId19" Type="http://schemas.openxmlformats.org/officeDocument/2006/relationships/tags" Target="../tags/tag110.xml"/><Relationship Id="rId18" Type="http://schemas.openxmlformats.org/officeDocument/2006/relationships/tags" Target="../tags/tag109.xml"/><Relationship Id="rId17" Type="http://schemas.openxmlformats.org/officeDocument/2006/relationships/tags" Target="../tags/tag108.xml"/><Relationship Id="rId16" Type="http://schemas.openxmlformats.org/officeDocument/2006/relationships/tags" Target="../tags/tag107.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image" Target="../media/image3.png"/><Relationship Id="rId10" Type="http://schemas.openxmlformats.org/officeDocument/2006/relationships/tags" Target="../tags/tag102.xml"/><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99" Type="http://schemas.openxmlformats.org/officeDocument/2006/relationships/tags" Target="../tags/tag210.xml"/><Relationship Id="rId98" Type="http://schemas.openxmlformats.org/officeDocument/2006/relationships/tags" Target="../tags/tag209.xml"/><Relationship Id="rId97" Type="http://schemas.openxmlformats.org/officeDocument/2006/relationships/tags" Target="../tags/tag208.xml"/><Relationship Id="rId96" Type="http://schemas.openxmlformats.org/officeDocument/2006/relationships/tags" Target="../tags/tag207.xml"/><Relationship Id="rId95" Type="http://schemas.openxmlformats.org/officeDocument/2006/relationships/tags" Target="../tags/tag206.xml"/><Relationship Id="rId94" Type="http://schemas.openxmlformats.org/officeDocument/2006/relationships/tags" Target="../tags/tag205.xml"/><Relationship Id="rId93" Type="http://schemas.openxmlformats.org/officeDocument/2006/relationships/tags" Target="../tags/tag204.xml"/><Relationship Id="rId92" Type="http://schemas.openxmlformats.org/officeDocument/2006/relationships/tags" Target="../tags/tag203.xml"/><Relationship Id="rId91" Type="http://schemas.openxmlformats.org/officeDocument/2006/relationships/tags" Target="../tags/tag202.xml"/><Relationship Id="rId90" Type="http://schemas.openxmlformats.org/officeDocument/2006/relationships/tags" Target="../tags/tag201.xml"/><Relationship Id="rId9" Type="http://schemas.openxmlformats.org/officeDocument/2006/relationships/tags" Target="../tags/tag120.xml"/><Relationship Id="rId89" Type="http://schemas.openxmlformats.org/officeDocument/2006/relationships/tags" Target="../tags/tag200.xml"/><Relationship Id="rId88" Type="http://schemas.openxmlformats.org/officeDocument/2006/relationships/tags" Target="../tags/tag199.xml"/><Relationship Id="rId87" Type="http://schemas.openxmlformats.org/officeDocument/2006/relationships/tags" Target="../tags/tag198.xml"/><Relationship Id="rId86" Type="http://schemas.openxmlformats.org/officeDocument/2006/relationships/tags" Target="../tags/tag197.xml"/><Relationship Id="rId85" Type="http://schemas.openxmlformats.org/officeDocument/2006/relationships/tags" Target="../tags/tag196.xml"/><Relationship Id="rId84" Type="http://schemas.openxmlformats.org/officeDocument/2006/relationships/tags" Target="../tags/tag195.xml"/><Relationship Id="rId83" Type="http://schemas.openxmlformats.org/officeDocument/2006/relationships/tags" Target="../tags/tag194.xml"/><Relationship Id="rId82" Type="http://schemas.openxmlformats.org/officeDocument/2006/relationships/tags" Target="../tags/tag193.xml"/><Relationship Id="rId81" Type="http://schemas.openxmlformats.org/officeDocument/2006/relationships/tags" Target="../tags/tag192.xml"/><Relationship Id="rId80" Type="http://schemas.openxmlformats.org/officeDocument/2006/relationships/tags" Target="../tags/tag191.xml"/><Relationship Id="rId8" Type="http://schemas.openxmlformats.org/officeDocument/2006/relationships/tags" Target="../tags/tag119.xml"/><Relationship Id="rId79" Type="http://schemas.openxmlformats.org/officeDocument/2006/relationships/tags" Target="../tags/tag190.xml"/><Relationship Id="rId78" Type="http://schemas.openxmlformats.org/officeDocument/2006/relationships/tags" Target="../tags/tag189.xml"/><Relationship Id="rId77" Type="http://schemas.openxmlformats.org/officeDocument/2006/relationships/tags" Target="../tags/tag188.xml"/><Relationship Id="rId76" Type="http://schemas.openxmlformats.org/officeDocument/2006/relationships/tags" Target="../tags/tag187.xml"/><Relationship Id="rId75" Type="http://schemas.openxmlformats.org/officeDocument/2006/relationships/tags" Target="../tags/tag186.xml"/><Relationship Id="rId74" Type="http://schemas.openxmlformats.org/officeDocument/2006/relationships/tags" Target="../tags/tag185.xml"/><Relationship Id="rId73" Type="http://schemas.openxmlformats.org/officeDocument/2006/relationships/tags" Target="../tags/tag184.xml"/><Relationship Id="rId72" Type="http://schemas.openxmlformats.org/officeDocument/2006/relationships/tags" Target="../tags/tag183.xml"/><Relationship Id="rId71" Type="http://schemas.openxmlformats.org/officeDocument/2006/relationships/tags" Target="../tags/tag182.xml"/><Relationship Id="rId70" Type="http://schemas.openxmlformats.org/officeDocument/2006/relationships/tags" Target="../tags/tag181.xml"/><Relationship Id="rId7" Type="http://schemas.openxmlformats.org/officeDocument/2006/relationships/tags" Target="../tags/tag118.xml"/><Relationship Id="rId69" Type="http://schemas.openxmlformats.org/officeDocument/2006/relationships/tags" Target="../tags/tag180.xml"/><Relationship Id="rId68" Type="http://schemas.openxmlformats.org/officeDocument/2006/relationships/tags" Target="../tags/tag179.xml"/><Relationship Id="rId67" Type="http://schemas.openxmlformats.org/officeDocument/2006/relationships/tags" Target="../tags/tag178.xml"/><Relationship Id="rId66" Type="http://schemas.openxmlformats.org/officeDocument/2006/relationships/tags" Target="../tags/tag177.xml"/><Relationship Id="rId65" Type="http://schemas.openxmlformats.org/officeDocument/2006/relationships/tags" Target="../tags/tag176.xml"/><Relationship Id="rId64" Type="http://schemas.openxmlformats.org/officeDocument/2006/relationships/tags" Target="../tags/tag175.xml"/><Relationship Id="rId63" Type="http://schemas.openxmlformats.org/officeDocument/2006/relationships/tags" Target="../tags/tag174.xml"/><Relationship Id="rId62" Type="http://schemas.openxmlformats.org/officeDocument/2006/relationships/tags" Target="../tags/tag173.xml"/><Relationship Id="rId61" Type="http://schemas.openxmlformats.org/officeDocument/2006/relationships/tags" Target="../tags/tag172.xml"/><Relationship Id="rId60" Type="http://schemas.openxmlformats.org/officeDocument/2006/relationships/tags" Target="../tags/tag171.xml"/><Relationship Id="rId6" Type="http://schemas.openxmlformats.org/officeDocument/2006/relationships/tags" Target="../tags/tag117.xml"/><Relationship Id="rId59" Type="http://schemas.openxmlformats.org/officeDocument/2006/relationships/tags" Target="../tags/tag170.xml"/><Relationship Id="rId58" Type="http://schemas.openxmlformats.org/officeDocument/2006/relationships/tags" Target="../tags/tag169.xml"/><Relationship Id="rId57" Type="http://schemas.openxmlformats.org/officeDocument/2006/relationships/tags" Target="../tags/tag168.xml"/><Relationship Id="rId56" Type="http://schemas.openxmlformats.org/officeDocument/2006/relationships/tags" Target="../tags/tag167.xml"/><Relationship Id="rId55" Type="http://schemas.openxmlformats.org/officeDocument/2006/relationships/tags" Target="../tags/tag166.xml"/><Relationship Id="rId54" Type="http://schemas.openxmlformats.org/officeDocument/2006/relationships/tags" Target="../tags/tag165.xml"/><Relationship Id="rId53" Type="http://schemas.openxmlformats.org/officeDocument/2006/relationships/tags" Target="../tags/tag164.xml"/><Relationship Id="rId52" Type="http://schemas.openxmlformats.org/officeDocument/2006/relationships/tags" Target="../tags/tag163.xml"/><Relationship Id="rId51" Type="http://schemas.openxmlformats.org/officeDocument/2006/relationships/tags" Target="../tags/tag162.xml"/><Relationship Id="rId50" Type="http://schemas.openxmlformats.org/officeDocument/2006/relationships/tags" Target="../tags/tag161.xml"/><Relationship Id="rId5" Type="http://schemas.openxmlformats.org/officeDocument/2006/relationships/tags" Target="../tags/tag116.xml"/><Relationship Id="rId49" Type="http://schemas.openxmlformats.org/officeDocument/2006/relationships/tags" Target="../tags/tag160.xml"/><Relationship Id="rId48" Type="http://schemas.openxmlformats.org/officeDocument/2006/relationships/tags" Target="../tags/tag159.xml"/><Relationship Id="rId47" Type="http://schemas.openxmlformats.org/officeDocument/2006/relationships/tags" Target="../tags/tag158.xml"/><Relationship Id="rId46" Type="http://schemas.openxmlformats.org/officeDocument/2006/relationships/tags" Target="../tags/tag157.xml"/><Relationship Id="rId45" Type="http://schemas.openxmlformats.org/officeDocument/2006/relationships/tags" Target="../tags/tag156.xml"/><Relationship Id="rId44" Type="http://schemas.openxmlformats.org/officeDocument/2006/relationships/tags" Target="../tags/tag155.xml"/><Relationship Id="rId43" Type="http://schemas.openxmlformats.org/officeDocument/2006/relationships/tags" Target="../tags/tag154.xml"/><Relationship Id="rId42" Type="http://schemas.openxmlformats.org/officeDocument/2006/relationships/tags" Target="../tags/tag153.xml"/><Relationship Id="rId41" Type="http://schemas.openxmlformats.org/officeDocument/2006/relationships/tags" Target="../tags/tag152.xml"/><Relationship Id="rId40" Type="http://schemas.openxmlformats.org/officeDocument/2006/relationships/tags" Target="../tags/tag151.xml"/><Relationship Id="rId4" Type="http://schemas.openxmlformats.org/officeDocument/2006/relationships/tags" Target="../tags/tag115.xml"/><Relationship Id="rId39" Type="http://schemas.openxmlformats.org/officeDocument/2006/relationships/tags" Target="../tags/tag150.xml"/><Relationship Id="rId38" Type="http://schemas.openxmlformats.org/officeDocument/2006/relationships/tags" Target="../tags/tag149.xml"/><Relationship Id="rId37" Type="http://schemas.openxmlformats.org/officeDocument/2006/relationships/tags" Target="../tags/tag148.xml"/><Relationship Id="rId36" Type="http://schemas.openxmlformats.org/officeDocument/2006/relationships/tags" Target="../tags/tag147.xml"/><Relationship Id="rId35" Type="http://schemas.openxmlformats.org/officeDocument/2006/relationships/tags" Target="../tags/tag146.xml"/><Relationship Id="rId34" Type="http://schemas.openxmlformats.org/officeDocument/2006/relationships/tags" Target="../tags/tag145.xml"/><Relationship Id="rId33" Type="http://schemas.openxmlformats.org/officeDocument/2006/relationships/tags" Target="../tags/tag144.xml"/><Relationship Id="rId32" Type="http://schemas.openxmlformats.org/officeDocument/2006/relationships/tags" Target="../tags/tag143.xml"/><Relationship Id="rId31" Type="http://schemas.openxmlformats.org/officeDocument/2006/relationships/tags" Target="../tags/tag142.xml"/><Relationship Id="rId30" Type="http://schemas.openxmlformats.org/officeDocument/2006/relationships/tags" Target="../tags/tag141.xml"/><Relationship Id="rId3" Type="http://schemas.openxmlformats.org/officeDocument/2006/relationships/tags" Target="../tags/tag114.xml"/><Relationship Id="rId29" Type="http://schemas.openxmlformats.org/officeDocument/2006/relationships/tags" Target="../tags/tag140.xml"/><Relationship Id="rId28" Type="http://schemas.openxmlformats.org/officeDocument/2006/relationships/tags" Target="../tags/tag139.xml"/><Relationship Id="rId27" Type="http://schemas.openxmlformats.org/officeDocument/2006/relationships/tags" Target="../tags/tag138.xml"/><Relationship Id="rId26" Type="http://schemas.openxmlformats.org/officeDocument/2006/relationships/tags" Target="../tags/tag137.xml"/><Relationship Id="rId25" Type="http://schemas.openxmlformats.org/officeDocument/2006/relationships/tags" Target="../tags/tag136.xml"/><Relationship Id="rId24" Type="http://schemas.openxmlformats.org/officeDocument/2006/relationships/tags" Target="../tags/tag135.xml"/><Relationship Id="rId23" Type="http://schemas.openxmlformats.org/officeDocument/2006/relationships/tags" Target="../tags/tag134.xml"/><Relationship Id="rId22" Type="http://schemas.openxmlformats.org/officeDocument/2006/relationships/tags" Target="../tags/tag133.xml"/><Relationship Id="rId21" Type="http://schemas.openxmlformats.org/officeDocument/2006/relationships/tags" Target="../tags/tag132.xml"/><Relationship Id="rId20" Type="http://schemas.openxmlformats.org/officeDocument/2006/relationships/tags" Target="../tags/tag131.xml"/><Relationship Id="rId2" Type="http://schemas.openxmlformats.org/officeDocument/2006/relationships/tags" Target="../tags/tag113.xml"/><Relationship Id="rId193" Type="http://schemas.openxmlformats.org/officeDocument/2006/relationships/tags" Target="../tags/tag304.xml"/><Relationship Id="rId192" Type="http://schemas.openxmlformats.org/officeDocument/2006/relationships/tags" Target="../tags/tag303.xml"/><Relationship Id="rId191" Type="http://schemas.openxmlformats.org/officeDocument/2006/relationships/tags" Target="../tags/tag302.xml"/><Relationship Id="rId190" Type="http://schemas.openxmlformats.org/officeDocument/2006/relationships/tags" Target="../tags/tag301.xml"/><Relationship Id="rId19" Type="http://schemas.openxmlformats.org/officeDocument/2006/relationships/tags" Target="../tags/tag130.xml"/><Relationship Id="rId189" Type="http://schemas.openxmlformats.org/officeDocument/2006/relationships/tags" Target="../tags/tag300.xml"/><Relationship Id="rId188" Type="http://schemas.openxmlformats.org/officeDocument/2006/relationships/tags" Target="../tags/tag299.xml"/><Relationship Id="rId187" Type="http://schemas.openxmlformats.org/officeDocument/2006/relationships/tags" Target="../tags/tag298.xml"/><Relationship Id="rId186" Type="http://schemas.openxmlformats.org/officeDocument/2006/relationships/tags" Target="../tags/tag297.xml"/><Relationship Id="rId185" Type="http://schemas.openxmlformats.org/officeDocument/2006/relationships/tags" Target="../tags/tag296.xml"/><Relationship Id="rId184" Type="http://schemas.openxmlformats.org/officeDocument/2006/relationships/tags" Target="../tags/tag295.xml"/><Relationship Id="rId183" Type="http://schemas.openxmlformats.org/officeDocument/2006/relationships/tags" Target="../tags/tag294.xml"/><Relationship Id="rId182" Type="http://schemas.openxmlformats.org/officeDocument/2006/relationships/tags" Target="../tags/tag293.xml"/><Relationship Id="rId181" Type="http://schemas.openxmlformats.org/officeDocument/2006/relationships/tags" Target="../tags/tag292.xml"/><Relationship Id="rId180" Type="http://schemas.openxmlformats.org/officeDocument/2006/relationships/tags" Target="../tags/tag291.xml"/><Relationship Id="rId18" Type="http://schemas.openxmlformats.org/officeDocument/2006/relationships/tags" Target="../tags/tag129.xml"/><Relationship Id="rId179" Type="http://schemas.openxmlformats.org/officeDocument/2006/relationships/tags" Target="../tags/tag290.xml"/><Relationship Id="rId178" Type="http://schemas.openxmlformats.org/officeDocument/2006/relationships/tags" Target="../tags/tag289.xml"/><Relationship Id="rId177" Type="http://schemas.openxmlformats.org/officeDocument/2006/relationships/tags" Target="../tags/tag288.xml"/><Relationship Id="rId176" Type="http://schemas.openxmlformats.org/officeDocument/2006/relationships/tags" Target="../tags/tag287.xml"/><Relationship Id="rId175" Type="http://schemas.openxmlformats.org/officeDocument/2006/relationships/tags" Target="../tags/tag286.xml"/><Relationship Id="rId174" Type="http://schemas.openxmlformats.org/officeDocument/2006/relationships/tags" Target="../tags/tag285.xml"/><Relationship Id="rId173" Type="http://schemas.openxmlformats.org/officeDocument/2006/relationships/tags" Target="../tags/tag284.xml"/><Relationship Id="rId172" Type="http://schemas.openxmlformats.org/officeDocument/2006/relationships/tags" Target="../tags/tag283.xml"/><Relationship Id="rId171" Type="http://schemas.openxmlformats.org/officeDocument/2006/relationships/tags" Target="../tags/tag282.xml"/><Relationship Id="rId170" Type="http://schemas.openxmlformats.org/officeDocument/2006/relationships/tags" Target="../tags/tag281.xml"/><Relationship Id="rId17" Type="http://schemas.openxmlformats.org/officeDocument/2006/relationships/tags" Target="../tags/tag128.xml"/><Relationship Id="rId169" Type="http://schemas.openxmlformats.org/officeDocument/2006/relationships/tags" Target="../tags/tag280.xml"/><Relationship Id="rId168" Type="http://schemas.openxmlformats.org/officeDocument/2006/relationships/tags" Target="../tags/tag279.xml"/><Relationship Id="rId167" Type="http://schemas.openxmlformats.org/officeDocument/2006/relationships/tags" Target="../tags/tag278.xml"/><Relationship Id="rId166" Type="http://schemas.openxmlformats.org/officeDocument/2006/relationships/tags" Target="../tags/tag277.xml"/><Relationship Id="rId165" Type="http://schemas.openxmlformats.org/officeDocument/2006/relationships/tags" Target="../tags/tag276.xml"/><Relationship Id="rId164" Type="http://schemas.openxmlformats.org/officeDocument/2006/relationships/tags" Target="../tags/tag275.xml"/><Relationship Id="rId163" Type="http://schemas.openxmlformats.org/officeDocument/2006/relationships/tags" Target="../tags/tag274.xml"/><Relationship Id="rId162" Type="http://schemas.openxmlformats.org/officeDocument/2006/relationships/tags" Target="../tags/tag273.xml"/><Relationship Id="rId161" Type="http://schemas.openxmlformats.org/officeDocument/2006/relationships/tags" Target="../tags/tag272.xml"/><Relationship Id="rId160" Type="http://schemas.openxmlformats.org/officeDocument/2006/relationships/tags" Target="../tags/tag271.xml"/><Relationship Id="rId16" Type="http://schemas.openxmlformats.org/officeDocument/2006/relationships/tags" Target="../tags/tag127.xml"/><Relationship Id="rId159" Type="http://schemas.openxmlformats.org/officeDocument/2006/relationships/tags" Target="../tags/tag270.xml"/><Relationship Id="rId158" Type="http://schemas.openxmlformats.org/officeDocument/2006/relationships/tags" Target="../tags/tag269.xml"/><Relationship Id="rId157" Type="http://schemas.openxmlformats.org/officeDocument/2006/relationships/tags" Target="../tags/tag268.xml"/><Relationship Id="rId156" Type="http://schemas.openxmlformats.org/officeDocument/2006/relationships/tags" Target="../tags/tag267.xml"/><Relationship Id="rId155" Type="http://schemas.openxmlformats.org/officeDocument/2006/relationships/tags" Target="../tags/tag266.xml"/><Relationship Id="rId154" Type="http://schemas.openxmlformats.org/officeDocument/2006/relationships/tags" Target="../tags/tag265.xml"/><Relationship Id="rId153" Type="http://schemas.openxmlformats.org/officeDocument/2006/relationships/tags" Target="../tags/tag264.xml"/><Relationship Id="rId152" Type="http://schemas.openxmlformats.org/officeDocument/2006/relationships/tags" Target="../tags/tag263.xml"/><Relationship Id="rId151" Type="http://schemas.openxmlformats.org/officeDocument/2006/relationships/tags" Target="../tags/tag262.xml"/><Relationship Id="rId150" Type="http://schemas.openxmlformats.org/officeDocument/2006/relationships/tags" Target="../tags/tag261.xml"/><Relationship Id="rId15" Type="http://schemas.openxmlformats.org/officeDocument/2006/relationships/tags" Target="../tags/tag126.xml"/><Relationship Id="rId149" Type="http://schemas.openxmlformats.org/officeDocument/2006/relationships/tags" Target="../tags/tag260.xml"/><Relationship Id="rId148" Type="http://schemas.openxmlformats.org/officeDocument/2006/relationships/tags" Target="../tags/tag259.xml"/><Relationship Id="rId147" Type="http://schemas.openxmlformats.org/officeDocument/2006/relationships/tags" Target="../tags/tag258.xml"/><Relationship Id="rId146" Type="http://schemas.openxmlformats.org/officeDocument/2006/relationships/tags" Target="../tags/tag257.xml"/><Relationship Id="rId145" Type="http://schemas.openxmlformats.org/officeDocument/2006/relationships/tags" Target="../tags/tag256.xml"/><Relationship Id="rId144" Type="http://schemas.openxmlformats.org/officeDocument/2006/relationships/tags" Target="../tags/tag255.xml"/><Relationship Id="rId143" Type="http://schemas.openxmlformats.org/officeDocument/2006/relationships/tags" Target="../tags/tag254.xml"/><Relationship Id="rId142" Type="http://schemas.openxmlformats.org/officeDocument/2006/relationships/tags" Target="../tags/tag253.xml"/><Relationship Id="rId141" Type="http://schemas.openxmlformats.org/officeDocument/2006/relationships/tags" Target="../tags/tag252.xml"/><Relationship Id="rId140" Type="http://schemas.openxmlformats.org/officeDocument/2006/relationships/tags" Target="../tags/tag251.xml"/><Relationship Id="rId14" Type="http://schemas.openxmlformats.org/officeDocument/2006/relationships/tags" Target="../tags/tag125.xml"/><Relationship Id="rId139" Type="http://schemas.openxmlformats.org/officeDocument/2006/relationships/tags" Target="../tags/tag250.xml"/><Relationship Id="rId138" Type="http://schemas.openxmlformats.org/officeDocument/2006/relationships/tags" Target="../tags/tag249.xml"/><Relationship Id="rId137" Type="http://schemas.openxmlformats.org/officeDocument/2006/relationships/tags" Target="../tags/tag248.xml"/><Relationship Id="rId136" Type="http://schemas.openxmlformats.org/officeDocument/2006/relationships/tags" Target="../tags/tag247.xml"/><Relationship Id="rId135" Type="http://schemas.openxmlformats.org/officeDocument/2006/relationships/tags" Target="../tags/tag246.xml"/><Relationship Id="rId134" Type="http://schemas.openxmlformats.org/officeDocument/2006/relationships/tags" Target="../tags/tag245.xml"/><Relationship Id="rId133" Type="http://schemas.openxmlformats.org/officeDocument/2006/relationships/tags" Target="../tags/tag244.xml"/><Relationship Id="rId132" Type="http://schemas.openxmlformats.org/officeDocument/2006/relationships/tags" Target="../tags/tag243.xml"/><Relationship Id="rId131" Type="http://schemas.openxmlformats.org/officeDocument/2006/relationships/tags" Target="../tags/tag242.xml"/><Relationship Id="rId130" Type="http://schemas.openxmlformats.org/officeDocument/2006/relationships/tags" Target="../tags/tag241.xml"/><Relationship Id="rId13" Type="http://schemas.openxmlformats.org/officeDocument/2006/relationships/tags" Target="../tags/tag124.xml"/><Relationship Id="rId129" Type="http://schemas.openxmlformats.org/officeDocument/2006/relationships/tags" Target="../tags/tag240.xml"/><Relationship Id="rId128" Type="http://schemas.openxmlformats.org/officeDocument/2006/relationships/tags" Target="../tags/tag239.xml"/><Relationship Id="rId127" Type="http://schemas.openxmlformats.org/officeDocument/2006/relationships/tags" Target="../tags/tag238.xml"/><Relationship Id="rId126" Type="http://schemas.openxmlformats.org/officeDocument/2006/relationships/tags" Target="../tags/tag237.xml"/><Relationship Id="rId125" Type="http://schemas.openxmlformats.org/officeDocument/2006/relationships/tags" Target="../tags/tag236.xml"/><Relationship Id="rId124" Type="http://schemas.openxmlformats.org/officeDocument/2006/relationships/tags" Target="../tags/tag235.xml"/><Relationship Id="rId123" Type="http://schemas.openxmlformats.org/officeDocument/2006/relationships/tags" Target="../tags/tag234.xml"/><Relationship Id="rId122" Type="http://schemas.openxmlformats.org/officeDocument/2006/relationships/tags" Target="../tags/tag233.xml"/><Relationship Id="rId121" Type="http://schemas.openxmlformats.org/officeDocument/2006/relationships/tags" Target="../tags/tag232.xml"/><Relationship Id="rId120" Type="http://schemas.openxmlformats.org/officeDocument/2006/relationships/tags" Target="../tags/tag231.xml"/><Relationship Id="rId12" Type="http://schemas.openxmlformats.org/officeDocument/2006/relationships/tags" Target="../tags/tag123.xml"/><Relationship Id="rId119" Type="http://schemas.openxmlformats.org/officeDocument/2006/relationships/tags" Target="../tags/tag230.xml"/><Relationship Id="rId118" Type="http://schemas.openxmlformats.org/officeDocument/2006/relationships/tags" Target="../tags/tag229.xml"/><Relationship Id="rId117" Type="http://schemas.openxmlformats.org/officeDocument/2006/relationships/tags" Target="../tags/tag228.xml"/><Relationship Id="rId116" Type="http://schemas.openxmlformats.org/officeDocument/2006/relationships/tags" Target="../tags/tag227.xml"/><Relationship Id="rId115" Type="http://schemas.openxmlformats.org/officeDocument/2006/relationships/tags" Target="../tags/tag226.xml"/><Relationship Id="rId114" Type="http://schemas.openxmlformats.org/officeDocument/2006/relationships/tags" Target="../tags/tag225.xml"/><Relationship Id="rId113" Type="http://schemas.openxmlformats.org/officeDocument/2006/relationships/tags" Target="../tags/tag224.xml"/><Relationship Id="rId112" Type="http://schemas.openxmlformats.org/officeDocument/2006/relationships/tags" Target="../tags/tag223.xml"/><Relationship Id="rId111" Type="http://schemas.openxmlformats.org/officeDocument/2006/relationships/tags" Target="../tags/tag222.xml"/><Relationship Id="rId110" Type="http://schemas.openxmlformats.org/officeDocument/2006/relationships/tags" Target="../tags/tag221.xml"/><Relationship Id="rId11" Type="http://schemas.openxmlformats.org/officeDocument/2006/relationships/tags" Target="../tags/tag122.xml"/><Relationship Id="rId109" Type="http://schemas.openxmlformats.org/officeDocument/2006/relationships/tags" Target="../tags/tag220.xml"/><Relationship Id="rId108" Type="http://schemas.openxmlformats.org/officeDocument/2006/relationships/tags" Target="../tags/tag219.xml"/><Relationship Id="rId107" Type="http://schemas.openxmlformats.org/officeDocument/2006/relationships/tags" Target="../tags/tag218.xml"/><Relationship Id="rId106" Type="http://schemas.openxmlformats.org/officeDocument/2006/relationships/tags" Target="../tags/tag217.xml"/><Relationship Id="rId105" Type="http://schemas.openxmlformats.org/officeDocument/2006/relationships/tags" Target="../tags/tag216.xml"/><Relationship Id="rId104" Type="http://schemas.openxmlformats.org/officeDocument/2006/relationships/tags" Target="../tags/tag215.xml"/><Relationship Id="rId103" Type="http://schemas.openxmlformats.org/officeDocument/2006/relationships/tags" Target="../tags/tag214.xml"/><Relationship Id="rId102" Type="http://schemas.openxmlformats.org/officeDocument/2006/relationships/tags" Target="../tags/tag213.xml"/><Relationship Id="rId101" Type="http://schemas.openxmlformats.org/officeDocument/2006/relationships/tags" Target="../tags/tag212.xml"/><Relationship Id="rId100" Type="http://schemas.openxmlformats.org/officeDocument/2006/relationships/tags" Target="../tags/tag211.xml"/><Relationship Id="rId10" Type="http://schemas.openxmlformats.org/officeDocument/2006/relationships/tags" Target="../tags/tag121.xml"/><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314.xml"/><Relationship Id="rId8" Type="http://schemas.openxmlformats.org/officeDocument/2006/relationships/image" Target="../media/image1.png"/><Relationship Id="rId7" Type="http://schemas.openxmlformats.org/officeDocument/2006/relationships/tags" Target="../tags/tag313.xml"/><Relationship Id="rId6" Type="http://schemas.openxmlformats.org/officeDocument/2006/relationships/tags" Target="../tags/tag312.xml"/><Relationship Id="rId5" Type="http://schemas.openxmlformats.org/officeDocument/2006/relationships/tags" Target="../tags/tag311.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tags" Target="../tags/tag308.xml"/><Relationship Id="rId13" Type="http://schemas.openxmlformats.org/officeDocument/2006/relationships/tags" Target="../tags/tag316.xml"/><Relationship Id="rId12" Type="http://schemas.openxmlformats.org/officeDocument/2006/relationships/image" Target="../media/image3.png"/><Relationship Id="rId11" Type="http://schemas.openxmlformats.org/officeDocument/2006/relationships/tags" Target="../tags/tag315.xml"/><Relationship Id="rId10"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320.xml"/><Relationship Id="rId4" Type="http://schemas.openxmlformats.org/officeDocument/2006/relationships/tags" Target="../tags/tag319.xml"/><Relationship Id="rId3" Type="http://schemas.openxmlformats.org/officeDocument/2006/relationships/tags" Target="../tags/tag318.xml"/><Relationship Id="rId2" Type="http://schemas.openxmlformats.org/officeDocument/2006/relationships/tags" Target="../tags/tag317.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10007_8">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6" name="文本占位符 15"/>
          <p:cNvSpPr>
            <a:spLocks noGrp="1"/>
          </p:cNvSpPr>
          <p:nvPr>
            <p:ph type="body" idx="16386" hasCustomPrompt="1"/>
            <p:custDataLst>
              <p:tags r:id="rId14"/>
            </p:custDataLst>
          </p:nvPr>
        </p:nvSpPr>
        <p:spPr>
          <a:xfrm>
            <a:off x="609600" y="2997200"/>
            <a:ext cx="5181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7" hasCustomPrompt="1"/>
            <p:custDataLst>
              <p:tags r:id="rId15"/>
            </p:custDataLst>
          </p:nvPr>
        </p:nvSpPr>
        <p:spPr>
          <a:xfrm>
            <a:off x="609600" y="3556000"/>
            <a:ext cx="5181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8" name="文本占位符 17"/>
          <p:cNvSpPr>
            <a:spLocks noGrp="1"/>
          </p:cNvSpPr>
          <p:nvPr>
            <p:ph type="body" idx="16388" hasCustomPrompt="1"/>
            <p:custDataLst>
              <p:tags r:id="rId16"/>
            </p:custDataLst>
          </p:nvPr>
        </p:nvSpPr>
        <p:spPr>
          <a:xfrm>
            <a:off x="6400800" y="2997200"/>
            <a:ext cx="5181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7"/>
            </p:custDataLst>
          </p:nvPr>
        </p:nvSpPr>
        <p:spPr>
          <a:xfrm>
            <a:off x="6400800" y="3556000"/>
            <a:ext cx="5181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页-10003_18">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单击此处添加标题</a:t>
            </a:r>
          </a:p>
        </p:txBody>
      </p:sp>
      <p:sp>
        <p:nvSpPr>
          <p:cNvPr id="16" name="文本占位符 15"/>
          <p:cNvSpPr>
            <a:spLocks noGrp="1"/>
          </p:cNvSpPr>
          <p:nvPr>
            <p:ph type="body" idx="16386" hasCustomPrompt="1"/>
            <p:custDataLst>
              <p:tags r:id="rId14"/>
            </p:custDataLst>
          </p:nvPr>
        </p:nvSpPr>
        <p:spPr>
          <a:xfrm>
            <a:off x="609600" y="1524000"/>
            <a:ext cx="34544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装饰  6"/>
          <p:cNvSpPr>
            <a:spLocks noGrp="1"/>
          </p:cNvSpPr>
          <p:nvPr>
            <p:ph type="body" idx="16392" hasCustomPrompt="1"/>
            <p:custDataLst>
              <p:tags r:id="rId15"/>
            </p:custDataLst>
          </p:nvPr>
        </p:nvSpPr>
        <p:spPr>
          <a:xfrm>
            <a:off x="609600" y="2082800"/>
            <a:ext cx="3454400" cy="416560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7" hasCustomPrompt="1"/>
            <p:custDataLst>
              <p:tags r:id="rId16"/>
            </p:custDataLst>
          </p:nvPr>
        </p:nvSpPr>
        <p:spPr>
          <a:xfrm>
            <a:off x="914400" y="2336800"/>
            <a:ext cx="2844800" cy="3657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88" hasCustomPrompt="1"/>
            <p:custDataLst>
              <p:tags r:id="rId17"/>
            </p:custDataLst>
          </p:nvPr>
        </p:nvSpPr>
        <p:spPr>
          <a:xfrm>
            <a:off x="4368800" y="1524000"/>
            <a:ext cx="34544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装饰  9"/>
          <p:cNvSpPr>
            <a:spLocks noGrp="1"/>
          </p:cNvSpPr>
          <p:nvPr>
            <p:ph type="body" idx="16393" hasCustomPrompt="1"/>
            <p:custDataLst>
              <p:tags r:id="rId18"/>
            </p:custDataLst>
          </p:nvPr>
        </p:nvSpPr>
        <p:spPr>
          <a:xfrm>
            <a:off x="4368800" y="2082800"/>
            <a:ext cx="3454400" cy="416560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9" hasCustomPrompt="1"/>
            <p:custDataLst>
              <p:tags r:id="rId19"/>
            </p:custDataLst>
          </p:nvPr>
        </p:nvSpPr>
        <p:spPr>
          <a:xfrm>
            <a:off x="4673600" y="2336800"/>
            <a:ext cx="2844800" cy="3657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文本占位符 21"/>
          <p:cNvSpPr>
            <a:spLocks noGrp="1"/>
          </p:cNvSpPr>
          <p:nvPr>
            <p:ph type="body" idx="16390" hasCustomPrompt="1"/>
            <p:custDataLst>
              <p:tags r:id="rId20"/>
            </p:custDataLst>
          </p:nvPr>
        </p:nvSpPr>
        <p:spPr>
          <a:xfrm>
            <a:off x="8128000" y="1524000"/>
            <a:ext cx="34544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装饰  2"/>
          <p:cNvSpPr>
            <a:spLocks noGrp="1"/>
          </p:cNvSpPr>
          <p:nvPr>
            <p:ph type="body" idx="16394" hasCustomPrompt="1"/>
            <p:custDataLst>
              <p:tags r:id="rId21"/>
            </p:custDataLst>
          </p:nvPr>
        </p:nvSpPr>
        <p:spPr>
          <a:xfrm>
            <a:off x="8128000" y="2082800"/>
            <a:ext cx="3454400" cy="416560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1" hasCustomPrompt="1"/>
            <p:custDataLst>
              <p:tags r:id="rId22"/>
            </p:custDataLst>
          </p:nvPr>
        </p:nvSpPr>
        <p:spPr>
          <a:xfrm>
            <a:off x="8432800" y="2336800"/>
            <a:ext cx="2844800" cy="3657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页-10004_8">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6" name="装饰  5"/>
          <p:cNvSpPr>
            <a:spLocks noGrp="1"/>
          </p:cNvSpPr>
          <p:nvPr>
            <p:ph type="body" idx="16390" hasCustomPrompt="1"/>
            <p:custDataLst>
              <p:tags r:id="rId14"/>
            </p:custDataLst>
          </p:nvPr>
        </p:nvSpPr>
        <p:spPr>
          <a:xfrm>
            <a:off x="609600" y="2133600"/>
            <a:ext cx="5334000" cy="3505200"/>
          </a:xfrm>
          <a:custGeom>
            <a:avLst/>
            <a:gdLst>
              <a:gd name="connisteX0" fmla="*/ 0 w 5334000"/>
              <a:gd name="connsiteY0" fmla="*/ 203200 h 3505200"/>
              <a:gd name="connisteX1" fmla="*/ 203200 w 5334000"/>
              <a:gd name="connsiteY1" fmla="*/ 0 h 3505200"/>
              <a:gd name="connisteX2" fmla="*/ 5130800 w 5334000"/>
              <a:gd name="connsiteY2" fmla="*/ 0 h 3505200"/>
              <a:gd name="connisteX3" fmla="*/ 5334000 w 5334000"/>
              <a:gd name="connsiteY3" fmla="*/ 203200 h 3505200"/>
              <a:gd name="connisteX4" fmla="*/ 5334000 w 5334000"/>
              <a:gd name="connsiteY4" fmla="*/ 3302000 h 3505200"/>
              <a:gd name="connisteX5" fmla="*/ 5130800 w 5334000"/>
              <a:gd name="connsiteY5" fmla="*/ 3505200 h 3505200"/>
              <a:gd name="connisteX6" fmla="*/ 203200 w 5334000"/>
              <a:gd name="connsiteY6" fmla="*/ 3505200 h 3505200"/>
              <a:gd name="connisteX7" fmla="*/ 0 w 5334000"/>
              <a:gd name="connsiteY7" fmla="*/ 3302000 h 3505200"/>
              <a:gd name="connisteX8" fmla="*/ 0 w 5334000"/>
              <a:gd name="connsiteY8" fmla="*/ 203200 h 3505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3505200">
                <a:moveTo>
                  <a:pt x="0" y="203200"/>
                </a:moveTo>
                <a:cubicBezTo>
                  <a:pt x="0" y="90976"/>
                  <a:pt x="90976" y="0"/>
                  <a:pt x="203200" y="0"/>
                </a:cubicBezTo>
                <a:lnTo>
                  <a:pt x="5130800" y="0"/>
                </a:lnTo>
                <a:cubicBezTo>
                  <a:pt x="5243024" y="0"/>
                  <a:pt x="5334000" y="90976"/>
                  <a:pt x="5334000" y="203200"/>
                </a:cubicBezTo>
                <a:lnTo>
                  <a:pt x="5334000" y="3302000"/>
                </a:lnTo>
                <a:cubicBezTo>
                  <a:pt x="5334000" y="3414224"/>
                  <a:pt x="5243024" y="3505200"/>
                  <a:pt x="5130800" y="3505200"/>
                </a:cubicBezTo>
                <a:lnTo>
                  <a:pt x="203200" y="3505200"/>
                </a:lnTo>
                <a:cubicBezTo>
                  <a:pt x="90976" y="3505200"/>
                  <a:pt x="0" y="3414224"/>
                  <a:pt x="0" y="3302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6" hasCustomPrompt="1"/>
            <p:custDataLst>
              <p:tags r:id="rId15"/>
            </p:custDataLst>
          </p:nvPr>
        </p:nvSpPr>
        <p:spPr>
          <a:xfrm>
            <a:off x="914400" y="2997200"/>
            <a:ext cx="472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914400" y="3556000"/>
            <a:ext cx="47244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1" hasCustomPrompt="1"/>
            <p:custDataLst>
              <p:tags r:id="rId17"/>
            </p:custDataLst>
          </p:nvPr>
        </p:nvSpPr>
        <p:spPr>
          <a:xfrm>
            <a:off x="6248400" y="2133600"/>
            <a:ext cx="5334000" cy="3505200"/>
          </a:xfrm>
          <a:custGeom>
            <a:avLst/>
            <a:gdLst>
              <a:gd name="connisteX0" fmla="*/ 0 w 5334000"/>
              <a:gd name="connsiteY0" fmla="*/ 203200 h 3505200"/>
              <a:gd name="connisteX1" fmla="*/ 203200 w 5334000"/>
              <a:gd name="connsiteY1" fmla="*/ 0 h 3505200"/>
              <a:gd name="connisteX2" fmla="*/ 5130800 w 5334000"/>
              <a:gd name="connsiteY2" fmla="*/ 0 h 3505200"/>
              <a:gd name="connisteX3" fmla="*/ 5334000 w 5334000"/>
              <a:gd name="connsiteY3" fmla="*/ 203200 h 3505200"/>
              <a:gd name="connisteX4" fmla="*/ 5334000 w 5334000"/>
              <a:gd name="connsiteY4" fmla="*/ 3302000 h 3505200"/>
              <a:gd name="connisteX5" fmla="*/ 5130800 w 5334000"/>
              <a:gd name="connsiteY5" fmla="*/ 3505200 h 3505200"/>
              <a:gd name="connisteX6" fmla="*/ 203200 w 5334000"/>
              <a:gd name="connsiteY6" fmla="*/ 3505200 h 3505200"/>
              <a:gd name="connisteX7" fmla="*/ 0 w 5334000"/>
              <a:gd name="connsiteY7" fmla="*/ 3302000 h 3505200"/>
              <a:gd name="connisteX8" fmla="*/ 0 w 5334000"/>
              <a:gd name="connsiteY8" fmla="*/ 203200 h 3505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3505200">
                <a:moveTo>
                  <a:pt x="0" y="203200"/>
                </a:moveTo>
                <a:cubicBezTo>
                  <a:pt x="0" y="90976"/>
                  <a:pt x="90976" y="0"/>
                  <a:pt x="203200" y="0"/>
                </a:cubicBezTo>
                <a:lnTo>
                  <a:pt x="5130800" y="0"/>
                </a:lnTo>
                <a:cubicBezTo>
                  <a:pt x="5243024" y="0"/>
                  <a:pt x="5334000" y="90976"/>
                  <a:pt x="5334000" y="203200"/>
                </a:cubicBezTo>
                <a:lnTo>
                  <a:pt x="5334000" y="3302000"/>
                </a:lnTo>
                <a:cubicBezTo>
                  <a:pt x="5334000" y="3414224"/>
                  <a:pt x="5243024" y="3505200"/>
                  <a:pt x="5130800" y="3505200"/>
                </a:cubicBezTo>
                <a:lnTo>
                  <a:pt x="203200" y="3505200"/>
                </a:lnTo>
                <a:cubicBezTo>
                  <a:pt x="90976" y="3505200"/>
                  <a:pt x="0" y="3414224"/>
                  <a:pt x="0" y="3302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88" hasCustomPrompt="1"/>
            <p:custDataLst>
              <p:tags r:id="rId18"/>
            </p:custDataLst>
          </p:nvPr>
        </p:nvSpPr>
        <p:spPr>
          <a:xfrm>
            <a:off x="6553200" y="2997200"/>
            <a:ext cx="472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89" hasCustomPrompt="1"/>
            <p:custDataLst>
              <p:tags r:id="rId19"/>
            </p:custDataLst>
          </p:nvPr>
        </p:nvSpPr>
        <p:spPr>
          <a:xfrm>
            <a:off x="6553200" y="3556000"/>
            <a:ext cx="47244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正文页-14_3">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3429000" cy="54864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6" name="装饰  5"/>
          <p:cNvSpPr>
            <a:spLocks noGrp="1"/>
          </p:cNvSpPr>
          <p:nvPr>
            <p:ph type="body" idx="16387" hasCustomPrompt="1"/>
            <p:custDataLst>
              <p:tags r:id="rId14"/>
            </p:custDataLst>
          </p:nvPr>
        </p:nvSpPr>
        <p:spPr>
          <a:xfrm>
            <a:off x="4648200" y="609600"/>
            <a:ext cx="6934200" cy="5638800"/>
          </a:xfrm>
          <a:custGeom>
            <a:avLst/>
            <a:gdLst>
              <a:gd name="connisteX0" fmla="*/ 0 w 6934200"/>
              <a:gd name="connsiteY0" fmla="*/ 203200 h 5638800"/>
              <a:gd name="connisteX1" fmla="*/ 203200 w 6934200"/>
              <a:gd name="connsiteY1" fmla="*/ 0 h 5638800"/>
              <a:gd name="connisteX2" fmla="*/ 6731000 w 6934200"/>
              <a:gd name="connsiteY2" fmla="*/ 0 h 5638800"/>
              <a:gd name="connisteX3" fmla="*/ 6934200 w 6934200"/>
              <a:gd name="connsiteY3" fmla="*/ 203200 h 5638800"/>
              <a:gd name="connisteX4" fmla="*/ 6934200 w 6934200"/>
              <a:gd name="connsiteY4" fmla="*/ 5435600 h 5638800"/>
              <a:gd name="connisteX5" fmla="*/ 6731000 w 6934200"/>
              <a:gd name="connsiteY5" fmla="*/ 5638800 h 5638800"/>
              <a:gd name="connisteX6" fmla="*/ 203200 w 6934200"/>
              <a:gd name="connsiteY6" fmla="*/ 5638800 h 5638800"/>
              <a:gd name="connisteX7" fmla="*/ 0 w 6934200"/>
              <a:gd name="connsiteY7" fmla="*/ 5435600 h 5638800"/>
              <a:gd name="connisteX8" fmla="*/ 0 w 69342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934200" h="5638800">
                <a:moveTo>
                  <a:pt x="0" y="203200"/>
                </a:moveTo>
                <a:cubicBezTo>
                  <a:pt x="0" y="90976"/>
                  <a:pt x="90976" y="0"/>
                  <a:pt x="203200" y="0"/>
                </a:cubicBezTo>
                <a:lnTo>
                  <a:pt x="6731000" y="0"/>
                </a:lnTo>
                <a:cubicBezTo>
                  <a:pt x="6843224" y="0"/>
                  <a:pt x="6934200" y="90976"/>
                  <a:pt x="6934200" y="203200"/>
                </a:cubicBezTo>
                <a:lnTo>
                  <a:pt x="6934200" y="5435600"/>
                </a:lnTo>
                <a:cubicBezTo>
                  <a:pt x="6934200" y="5547824"/>
                  <a:pt x="6843224" y="5638800"/>
                  <a:pt x="6731000" y="5638800"/>
                </a:cubicBezTo>
                <a:lnTo>
                  <a:pt x="203200" y="5638800"/>
                </a:lnTo>
                <a:cubicBezTo>
                  <a:pt x="90976" y="5638800"/>
                  <a:pt x="0" y="5547824"/>
                  <a:pt x="0" y="5435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6" hasCustomPrompt="1"/>
            <p:custDataLst>
              <p:tags r:id="rId15"/>
            </p:custDataLst>
          </p:nvPr>
        </p:nvSpPr>
        <p:spPr>
          <a:xfrm>
            <a:off x="5054600" y="1143000"/>
            <a:ext cx="6121400" cy="4572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单击此处添加正文</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页-30_27">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705600" y="533400"/>
            <a:ext cx="4876800" cy="12192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6" name="内容占位符 15"/>
          <p:cNvSpPr>
            <a:spLocks noGrp="1"/>
          </p:cNvSpPr>
          <p:nvPr>
            <p:ph idx="16392" hasCustomPrompt="1"/>
            <p:custDataLst>
              <p:tags r:id="rId14"/>
            </p:custDataLst>
          </p:nvPr>
        </p:nvSpPr>
        <p:spPr>
          <a:xfrm>
            <a:off x="609600" y="609600"/>
            <a:ext cx="5486400" cy="5638800"/>
          </a:xfrm>
          <a:custGeom>
            <a:avLst/>
            <a:gdLst>
              <a:gd name="connisteX0" fmla="*/ 0 w 5486400"/>
              <a:gd name="connsiteY0" fmla="*/ 203200 h 5638800"/>
              <a:gd name="connisteX1" fmla="*/ 203200 w 5486400"/>
              <a:gd name="connsiteY1" fmla="*/ 0 h 5638800"/>
              <a:gd name="connisteX2" fmla="*/ 5283200 w 5486400"/>
              <a:gd name="connsiteY2" fmla="*/ 0 h 5638800"/>
              <a:gd name="connisteX3" fmla="*/ 5486400 w 5486400"/>
              <a:gd name="connsiteY3" fmla="*/ 203200 h 5638800"/>
              <a:gd name="connisteX4" fmla="*/ 5486400 w 5486400"/>
              <a:gd name="connsiteY4" fmla="*/ 5435600 h 5638800"/>
              <a:gd name="connisteX5" fmla="*/ 5283200 w 5486400"/>
              <a:gd name="connsiteY5" fmla="*/ 5638800 h 5638800"/>
              <a:gd name="connisteX6" fmla="*/ 203200 w 5486400"/>
              <a:gd name="connsiteY6" fmla="*/ 5638800 h 5638800"/>
              <a:gd name="connisteX7" fmla="*/ 0 w 5486400"/>
              <a:gd name="connsiteY7" fmla="*/ 5435600 h 5638800"/>
              <a:gd name="connisteX8" fmla="*/ 0 w 54864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5638800">
                <a:moveTo>
                  <a:pt x="0" y="203200"/>
                </a:moveTo>
                <a:cubicBezTo>
                  <a:pt x="0" y="90976"/>
                  <a:pt x="90976" y="0"/>
                  <a:pt x="203200" y="0"/>
                </a:cubicBezTo>
                <a:lnTo>
                  <a:pt x="5283200" y="0"/>
                </a:lnTo>
                <a:cubicBezTo>
                  <a:pt x="5395424" y="0"/>
                  <a:pt x="5486400" y="90976"/>
                  <a:pt x="5486400" y="203200"/>
                </a:cubicBezTo>
                <a:lnTo>
                  <a:pt x="5486400" y="5435600"/>
                </a:lnTo>
                <a:cubicBezTo>
                  <a:pt x="5486400" y="5547824"/>
                  <a:pt x="5395424" y="5638800"/>
                  <a:pt x="52832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7" name="装饰  6"/>
          <p:cNvSpPr>
            <a:spLocks noGrp="1"/>
          </p:cNvSpPr>
          <p:nvPr>
            <p:ph type="body" idx="16393" hasCustomPrompt="1"/>
            <p:custDataLst>
              <p:tags r:id="rId15"/>
            </p:custDataLst>
          </p:nvPr>
        </p:nvSpPr>
        <p:spPr>
          <a:xfrm>
            <a:off x="6705600" y="2286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8" name="文本占位符 17"/>
          <p:cNvSpPr>
            <a:spLocks noGrp="1"/>
          </p:cNvSpPr>
          <p:nvPr>
            <p:ph type="body" idx="16386" hasCustomPrompt="1"/>
            <p:custDataLst>
              <p:tags r:id="rId16"/>
            </p:custDataLst>
          </p:nvPr>
        </p:nvSpPr>
        <p:spPr>
          <a:xfrm>
            <a:off x="6858000" y="2286000"/>
            <a:ext cx="4724400" cy="406400"/>
          </a:xfrm>
          <a:prstGeom prst="rect">
            <a:avLst/>
          </a:prstGeo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6858000" y="2794000"/>
            <a:ext cx="4724400" cy="609600"/>
          </a:xfrm>
          <a:prstGeom prst="rect">
            <a:avLst/>
          </a:prstGeo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
        <p:nvSpPr>
          <p:cNvPr id="20" name="装饰  9"/>
          <p:cNvSpPr>
            <a:spLocks noGrp="1"/>
          </p:cNvSpPr>
          <p:nvPr>
            <p:ph type="body" idx="16394" hasCustomPrompt="1"/>
            <p:custDataLst>
              <p:tags r:id="rId18"/>
            </p:custDataLst>
          </p:nvPr>
        </p:nvSpPr>
        <p:spPr>
          <a:xfrm>
            <a:off x="6705600" y="3708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21" name="文本占位符 20"/>
          <p:cNvSpPr>
            <a:spLocks noGrp="1"/>
          </p:cNvSpPr>
          <p:nvPr>
            <p:ph type="body" idx="16388" hasCustomPrompt="1"/>
            <p:custDataLst>
              <p:tags r:id="rId19"/>
            </p:custDataLst>
          </p:nvPr>
        </p:nvSpPr>
        <p:spPr>
          <a:xfrm>
            <a:off x="6858000" y="3708400"/>
            <a:ext cx="4724400" cy="406400"/>
          </a:xfrm>
          <a:prstGeom prst="rect">
            <a:avLst/>
          </a:prstGeo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22" name="文本占位符 21"/>
          <p:cNvSpPr>
            <a:spLocks noGrp="1"/>
          </p:cNvSpPr>
          <p:nvPr>
            <p:ph type="body" idx="16389" hasCustomPrompt="1"/>
            <p:custDataLst>
              <p:tags r:id="rId20"/>
            </p:custDataLst>
          </p:nvPr>
        </p:nvSpPr>
        <p:spPr>
          <a:xfrm>
            <a:off x="6858000" y="4216400"/>
            <a:ext cx="4724400" cy="609600"/>
          </a:xfrm>
          <a:prstGeom prst="rect">
            <a:avLst/>
          </a:prstGeo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
        <p:nvSpPr>
          <p:cNvPr id="23" name="装饰  2"/>
          <p:cNvSpPr>
            <a:spLocks noGrp="1"/>
          </p:cNvSpPr>
          <p:nvPr>
            <p:ph type="body" idx="16395" hasCustomPrompt="1"/>
            <p:custDataLst>
              <p:tags r:id="rId21"/>
            </p:custDataLst>
          </p:nvPr>
        </p:nvSpPr>
        <p:spPr>
          <a:xfrm>
            <a:off x="6705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24" name="文本占位符 23"/>
          <p:cNvSpPr>
            <a:spLocks noGrp="1"/>
          </p:cNvSpPr>
          <p:nvPr>
            <p:ph type="body" idx="16390" hasCustomPrompt="1"/>
            <p:custDataLst>
              <p:tags r:id="rId22"/>
            </p:custDataLst>
          </p:nvPr>
        </p:nvSpPr>
        <p:spPr>
          <a:xfrm>
            <a:off x="6858000" y="5130800"/>
            <a:ext cx="4724400" cy="406400"/>
          </a:xfrm>
          <a:prstGeom prst="rect">
            <a:avLst/>
          </a:prstGeo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25" name="文本占位符 24"/>
          <p:cNvSpPr>
            <a:spLocks noGrp="1"/>
          </p:cNvSpPr>
          <p:nvPr>
            <p:ph type="body" idx="16391" hasCustomPrompt="1"/>
            <p:custDataLst>
              <p:tags r:id="rId23"/>
            </p:custDataLst>
          </p:nvPr>
        </p:nvSpPr>
        <p:spPr>
          <a:xfrm>
            <a:off x="6858000" y="5638800"/>
            <a:ext cx="4724400" cy="609600"/>
          </a:xfrm>
          <a:prstGeom prst="rect">
            <a:avLst/>
          </a:prstGeo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正文页-6_8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4876800" cy="12192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6" name="内容占位符 15"/>
          <p:cNvSpPr>
            <a:spLocks noGrp="1"/>
          </p:cNvSpPr>
          <p:nvPr>
            <p:ph idx="16392" hasCustomPrompt="1"/>
            <p:custDataLst>
              <p:tags r:id="rId14"/>
            </p:custDataLst>
          </p:nvPr>
        </p:nvSpPr>
        <p:spPr>
          <a:xfrm>
            <a:off x="6096000" y="609600"/>
            <a:ext cx="5486400" cy="5638800"/>
          </a:xfrm>
          <a:custGeom>
            <a:avLst/>
            <a:gdLst>
              <a:gd name="connisteX0" fmla="*/ 0 w 5486400"/>
              <a:gd name="connsiteY0" fmla="*/ 0 h 5638800"/>
              <a:gd name="connisteX1" fmla="*/ 5486400 w 5486400"/>
              <a:gd name="connsiteY1" fmla="*/ 0 h 5638800"/>
              <a:gd name="connisteX2" fmla="*/ 5486400 w 5486400"/>
              <a:gd name="connsiteY2" fmla="*/ 5638800 h 5638800"/>
              <a:gd name="connisteX3" fmla="*/ 0 w 5486400"/>
              <a:gd name="connsiteY3" fmla="*/ 5638800 h 5638800"/>
              <a:gd name="connisteX4" fmla="*/ 0 w 5486400"/>
              <a:gd name="connsiteY4" fmla="*/ 0 h 5638800"/>
            </a:gdLst>
            <a:ahLst/>
            <a:cxnLst>
              <a:cxn ang="0">
                <a:pos x="connisteX0" y="connsiteY0"/>
              </a:cxn>
              <a:cxn ang="0">
                <a:pos x="connisteX1" y="connsiteY1"/>
              </a:cxn>
              <a:cxn ang="0">
                <a:pos x="connisteX2" y="connsiteY2"/>
              </a:cxn>
              <a:cxn ang="0">
                <a:pos x="connisteX3" y="connsiteY3"/>
              </a:cxn>
              <a:cxn ang="0">
                <a:pos x="connisteX4" y="connsiteY4"/>
              </a:cxn>
            </a:cxnLst>
            <a:pathLst>
              <a:path w="5486400" h="5638800">
                <a:moveTo>
                  <a:pt x="0" y="0"/>
                </a:moveTo>
                <a:lnTo>
                  <a:pt x="5486400" y="0"/>
                </a:lnTo>
                <a:lnTo>
                  <a:pt x="5486400" y="5638800"/>
                </a:lnTo>
                <a:lnTo>
                  <a:pt x="0" y="5638800"/>
                </a:lnTo>
                <a:lnTo>
                  <a:pt x="0" y="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3" hasCustomPrompt="1"/>
            <p:custDataLst>
              <p:tags r:id="rId15"/>
            </p:custDataLst>
          </p:nvPr>
        </p:nvSpPr>
        <p:spPr>
          <a:xfrm>
            <a:off x="609600" y="2286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6" hasCustomPrompt="1"/>
            <p:custDataLst>
              <p:tags r:id="rId16"/>
            </p:custDataLst>
          </p:nvPr>
        </p:nvSpPr>
        <p:spPr>
          <a:xfrm>
            <a:off x="762000" y="2286000"/>
            <a:ext cx="472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762000" y="2794000"/>
            <a:ext cx="47244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4" hasCustomPrompt="1"/>
            <p:custDataLst>
              <p:tags r:id="rId18"/>
            </p:custDataLst>
          </p:nvPr>
        </p:nvSpPr>
        <p:spPr>
          <a:xfrm>
            <a:off x="609600" y="3708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8" hasCustomPrompt="1"/>
            <p:custDataLst>
              <p:tags r:id="rId19"/>
            </p:custDataLst>
          </p:nvPr>
        </p:nvSpPr>
        <p:spPr>
          <a:xfrm>
            <a:off x="762000" y="3708400"/>
            <a:ext cx="472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89" hasCustomPrompt="1"/>
            <p:custDataLst>
              <p:tags r:id="rId20"/>
            </p:custDataLst>
          </p:nvPr>
        </p:nvSpPr>
        <p:spPr>
          <a:xfrm>
            <a:off x="762000" y="4216400"/>
            <a:ext cx="47244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3" name="装饰  2"/>
          <p:cNvSpPr>
            <a:spLocks noGrp="1"/>
          </p:cNvSpPr>
          <p:nvPr>
            <p:ph type="body" idx="16395" hasCustomPrompt="1"/>
            <p:custDataLst>
              <p:tags r:id="rId21"/>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0" hasCustomPrompt="1"/>
            <p:custDataLst>
              <p:tags r:id="rId22"/>
            </p:custDataLst>
          </p:nvPr>
        </p:nvSpPr>
        <p:spPr>
          <a:xfrm>
            <a:off x="762000" y="5130800"/>
            <a:ext cx="472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91" hasCustomPrompt="1"/>
            <p:custDataLst>
              <p:tags r:id="rId23"/>
            </p:custDataLst>
          </p:nvPr>
        </p:nvSpPr>
        <p:spPr>
          <a:xfrm>
            <a:off x="762000" y="5638800"/>
            <a:ext cx="47244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正文页-26_1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6" name="装饰  5"/>
          <p:cNvSpPr>
            <a:spLocks noGrp="1"/>
          </p:cNvSpPr>
          <p:nvPr>
            <p:ph type="body" idx="16390" hasCustomPrompt="1"/>
            <p:custDataLst>
              <p:tags r:id="rId14"/>
            </p:custDataLst>
          </p:nvPr>
        </p:nvSpPr>
        <p:spPr>
          <a:xfrm>
            <a:off x="609600" y="1524000"/>
            <a:ext cx="7416800" cy="2209800"/>
          </a:xfrm>
          <a:custGeom>
            <a:avLst/>
            <a:gdLst>
              <a:gd name="connisteX0" fmla="*/ 0 w 7416800"/>
              <a:gd name="connsiteY0" fmla="*/ 203200 h 2209800"/>
              <a:gd name="connisteX1" fmla="*/ 203200 w 7416800"/>
              <a:gd name="connsiteY1" fmla="*/ 0 h 2209800"/>
              <a:gd name="connisteX2" fmla="*/ 7416800 w 7416800"/>
              <a:gd name="connsiteY2" fmla="*/ 0 h 2209800"/>
              <a:gd name="connisteX3" fmla="*/ 7416800 w 7416800"/>
              <a:gd name="connsiteY3" fmla="*/ 2209800 h 2209800"/>
              <a:gd name="connisteX4" fmla="*/ 203200 w 7416800"/>
              <a:gd name="connsiteY4" fmla="*/ 2209800 h 2209800"/>
              <a:gd name="connisteX5" fmla="*/ 0 w 7416800"/>
              <a:gd name="connsiteY5" fmla="*/ 2006600 h 2209800"/>
              <a:gd name="connisteX6" fmla="*/ 0 w 74168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7416800" h="2209800">
                <a:moveTo>
                  <a:pt x="0" y="203200"/>
                </a:moveTo>
                <a:cubicBezTo>
                  <a:pt x="0" y="90976"/>
                  <a:pt x="90976" y="0"/>
                  <a:pt x="203200" y="0"/>
                </a:cubicBezTo>
                <a:lnTo>
                  <a:pt x="7416800" y="0"/>
                </a:lnTo>
                <a:lnTo>
                  <a:pt x="7416800" y="2209800"/>
                </a:ln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1" hasCustomPrompt="1"/>
            <p:custDataLst>
              <p:tags r:id="rId15"/>
            </p:custDataLst>
          </p:nvPr>
        </p:nvSpPr>
        <p:spPr>
          <a:xfrm>
            <a:off x="8026400" y="1524000"/>
            <a:ext cx="3556000" cy="2209800"/>
          </a:xfrm>
          <a:custGeom>
            <a:avLst/>
            <a:gdLst>
              <a:gd name="connisteX0" fmla="*/ 0 w 3556000"/>
              <a:gd name="connsiteY0" fmla="*/ 0 h 2209800"/>
              <a:gd name="connisteX1" fmla="*/ 3352800 w 3556000"/>
              <a:gd name="connsiteY1" fmla="*/ 0 h 2209800"/>
              <a:gd name="connisteX2" fmla="*/ 3556000 w 3556000"/>
              <a:gd name="connsiteY2" fmla="*/ 203200 h 2209800"/>
              <a:gd name="connisteX3" fmla="*/ 3556000 w 3556000"/>
              <a:gd name="connsiteY3" fmla="*/ 2006600 h 2209800"/>
              <a:gd name="connisteX4" fmla="*/ 3352800 w 3556000"/>
              <a:gd name="connsiteY4" fmla="*/ 2209800 h 2209800"/>
              <a:gd name="connisteX5" fmla="*/ 0 w 3556000"/>
              <a:gd name="connsiteY5" fmla="*/ 2209800 h 2209800"/>
              <a:gd name="connisteX6" fmla="*/ 0 w 3556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556000" h="2209800">
                <a:moveTo>
                  <a:pt x="0" y="0"/>
                </a:moveTo>
                <a:lnTo>
                  <a:pt x="3352800" y="0"/>
                </a:lnTo>
                <a:cubicBezTo>
                  <a:pt x="3465024" y="0"/>
                  <a:pt x="3556000" y="90976"/>
                  <a:pt x="3556000" y="203200"/>
                </a:cubicBezTo>
                <a:lnTo>
                  <a:pt x="3556000" y="2006600"/>
                </a:lnTo>
                <a:cubicBezTo>
                  <a:pt x="3556000" y="2118824"/>
                  <a:pt x="3465024" y="2209800"/>
                  <a:pt x="3352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6" hasCustomPrompt="1"/>
            <p:custDataLst>
              <p:tags r:id="rId16"/>
            </p:custDataLst>
          </p:nvPr>
        </p:nvSpPr>
        <p:spPr>
          <a:xfrm>
            <a:off x="914400" y="1892300"/>
            <a:ext cx="6807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914400" y="2451100"/>
            <a:ext cx="6807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2" hasCustomPrompt="1"/>
            <p:custDataLst>
              <p:tags r:id="rId18"/>
            </p:custDataLst>
          </p:nvPr>
        </p:nvSpPr>
        <p:spPr>
          <a:xfrm>
            <a:off x="4165600" y="4038600"/>
            <a:ext cx="7416800" cy="2209800"/>
          </a:xfrm>
          <a:custGeom>
            <a:avLst/>
            <a:gdLst>
              <a:gd name="connisteX0" fmla="*/ 0 w 7416800"/>
              <a:gd name="connsiteY0" fmla="*/ 0 h 2209800"/>
              <a:gd name="connisteX1" fmla="*/ 7213600 w 7416800"/>
              <a:gd name="connsiteY1" fmla="*/ 0 h 2209800"/>
              <a:gd name="connisteX2" fmla="*/ 7416800 w 7416800"/>
              <a:gd name="connsiteY2" fmla="*/ 203200 h 2209800"/>
              <a:gd name="connisteX3" fmla="*/ 7416800 w 7416800"/>
              <a:gd name="connsiteY3" fmla="*/ 2006600 h 2209800"/>
              <a:gd name="connisteX4" fmla="*/ 7213600 w 7416800"/>
              <a:gd name="connsiteY4" fmla="*/ 2209800 h 2209800"/>
              <a:gd name="connisteX5" fmla="*/ 0 w 7416800"/>
              <a:gd name="connsiteY5" fmla="*/ 2209800 h 2209800"/>
              <a:gd name="connisteX6" fmla="*/ 0 w 7416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7416800" h="2209800">
                <a:moveTo>
                  <a:pt x="0" y="0"/>
                </a:moveTo>
                <a:lnTo>
                  <a:pt x="7213600" y="0"/>
                </a:lnTo>
                <a:cubicBezTo>
                  <a:pt x="7325824" y="0"/>
                  <a:pt x="7416800" y="90976"/>
                  <a:pt x="7416800" y="203200"/>
                </a:cubicBezTo>
                <a:lnTo>
                  <a:pt x="7416800" y="2006600"/>
                </a:lnTo>
                <a:cubicBezTo>
                  <a:pt x="7416800" y="2118824"/>
                  <a:pt x="7325824" y="2209800"/>
                  <a:pt x="7213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3" hasCustomPrompt="1"/>
            <p:custDataLst>
              <p:tags r:id="rId19"/>
            </p:custDataLst>
          </p:nvPr>
        </p:nvSpPr>
        <p:spPr>
          <a:xfrm>
            <a:off x="609600" y="4038600"/>
            <a:ext cx="3556000" cy="2209800"/>
          </a:xfrm>
          <a:custGeom>
            <a:avLst/>
            <a:gdLst>
              <a:gd name="connisteX0" fmla="*/ 0 w 3556000"/>
              <a:gd name="connsiteY0" fmla="*/ 203200 h 2209800"/>
              <a:gd name="connisteX1" fmla="*/ 203200 w 3556000"/>
              <a:gd name="connsiteY1" fmla="*/ 0 h 2209800"/>
              <a:gd name="connisteX2" fmla="*/ 3556000 w 3556000"/>
              <a:gd name="connsiteY2" fmla="*/ 0 h 2209800"/>
              <a:gd name="connisteX3" fmla="*/ 3556000 w 3556000"/>
              <a:gd name="connsiteY3" fmla="*/ 2209800 h 2209800"/>
              <a:gd name="connisteX4" fmla="*/ 203200 w 3556000"/>
              <a:gd name="connsiteY4" fmla="*/ 2209800 h 2209800"/>
              <a:gd name="connisteX5" fmla="*/ 0 w 3556000"/>
              <a:gd name="connsiteY5" fmla="*/ 2006600 h 2209800"/>
              <a:gd name="connisteX6" fmla="*/ 0 w 3556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556000" h="2209800">
                <a:moveTo>
                  <a:pt x="0" y="203200"/>
                </a:moveTo>
                <a:cubicBezTo>
                  <a:pt x="0" y="90976"/>
                  <a:pt x="90976" y="0"/>
                  <a:pt x="203200" y="0"/>
                </a:cubicBezTo>
                <a:lnTo>
                  <a:pt x="3556000" y="0"/>
                </a:lnTo>
                <a:lnTo>
                  <a:pt x="3556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20"/>
            </p:custDataLst>
          </p:nvPr>
        </p:nvSpPr>
        <p:spPr>
          <a:xfrm>
            <a:off x="4470400" y="4406900"/>
            <a:ext cx="6807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89" hasCustomPrompt="1"/>
            <p:custDataLst>
              <p:tags r:id="rId21"/>
            </p:custDataLst>
          </p:nvPr>
        </p:nvSpPr>
        <p:spPr>
          <a:xfrm>
            <a:off x="4470400" y="4965700"/>
            <a:ext cx="6807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3"/>
            </p:custDataLst>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custDataLst>
              <p:tags r:id="rId4"/>
            </p:custDataLst>
          </p:nvPr>
        </p:nvSpPr>
        <p:spPr/>
        <p:txBody>
          <a:bodyPr/>
          <a:lstStyle/>
          <a:p>
            <a:fld id="{5C1CEBB3-B506-43A5-8ADF-1F6228832779}"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02129656-F08C-4B6B-81EB-89FE10BFCF81}" type="slidenum">
              <a:rPr lang="zh-CN" altLang="en-US" smtClean="0"/>
            </a:fld>
            <a:endParaRPr lang="zh-CN" altLang="en-US"/>
          </a:p>
        </p:txBody>
      </p:sp>
      <p:grpSp>
        <p:nvGrpSpPr>
          <p:cNvPr id="7" name="组 235"/>
          <p:cNvGrpSpPr/>
          <p:nvPr userDrawn="1"/>
        </p:nvGrpSpPr>
        <p:grpSpPr>
          <a:xfrm>
            <a:off x="-1087482" y="-1169336"/>
            <a:ext cx="14366963" cy="9196672"/>
            <a:chOff x="-1517189" y="-871840"/>
            <a:chExt cx="14366963" cy="9196672"/>
          </a:xfrm>
          <a:solidFill>
            <a:schemeClr val="bg1">
              <a:alpha val="10000"/>
            </a:schemeClr>
          </a:solidFill>
        </p:grpSpPr>
        <p:sp>
          <p:nvSpPr>
            <p:cNvPr id="8" name="Freeform 7"/>
            <p:cNvSpPr>
              <a:spLocks noEditPoints="1"/>
            </p:cNvSpPr>
            <p:nvPr userDrawn="1">
              <p:custDataLst>
                <p:tags r:id="rId7"/>
              </p:custDataLst>
            </p:nvPr>
          </p:nvSpPr>
          <p:spPr bwMode="auto">
            <a:xfrm rot="20132266">
              <a:off x="3204672" y="5259246"/>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Freeform 9"/>
            <p:cNvSpPr>
              <a:spLocks noEditPoints="1"/>
            </p:cNvSpPr>
            <p:nvPr userDrawn="1">
              <p:custDataLst>
                <p:tags r:id="rId8"/>
              </p:custDataLst>
            </p:nvPr>
          </p:nvSpPr>
          <p:spPr bwMode="auto">
            <a:xfrm>
              <a:off x="3276077" y="3086935"/>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0" name="组 18"/>
            <p:cNvGrpSpPr/>
            <p:nvPr userDrawn="1"/>
          </p:nvGrpSpPr>
          <p:grpSpPr>
            <a:xfrm rot="1396810">
              <a:off x="5439148" y="3364452"/>
              <a:ext cx="337162" cy="1815987"/>
              <a:chOff x="6099175" y="2627313"/>
              <a:chExt cx="411163" cy="2214563"/>
            </a:xfrm>
            <a:grpFill/>
          </p:grpSpPr>
          <p:sp>
            <p:nvSpPr>
              <p:cNvPr id="227" name="Freeform 13"/>
              <p:cNvSpPr>
                <a:spLocks noEditPoints="1"/>
              </p:cNvSpPr>
              <p:nvPr userDrawn="1">
                <p:custDataLst>
                  <p:tags r:id="rId9"/>
                </p:custDataLst>
              </p:nvPr>
            </p:nvSpPr>
            <p:spPr bwMode="auto">
              <a:xfrm>
                <a:off x="6130130"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8" name="Freeform 14"/>
              <p:cNvSpPr/>
              <p:nvPr userDrawn="1">
                <p:custDataLst>
                  <p:tags r:id="rId10"/>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9" name="Freeform 15"/>
              <p:cNvSpPr/>
              <p:nvPr userDrawn="1">
                <p:custDataLst>
                  <p:tags r:id="rId11"/>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0" name="Freeform 17"/>
              <p:cNvSpPr>
                <a:spLocks noEditPoints="1"/>
              </p:cNvSpPr>
              <p:nvPr userDrawn="1">
                <p:custDataLst>
                  <p:tags r:id="rId12"/>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1" name="Freeform 19"/>
            <p:cNvSpPr>
              <a:spLocks noEditPoints="1"/>
            </p:cNvSpPr>
            <p:nvPr userDrawn="1">
              <p:custDataLst>
                <p:tags r:id="rId13"/>
              </p:custDataLst>
            </p:nvPr>
          </p:nvSpPr>
          <p:spPr bwMode="auto">
            <a:xfrm rot="1363540">
              <a:off x="8673100" y="723488"/>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Freeform 20"/>
            <p:cNvSpPr/>
            <p:nvPr userDrawn="1">
              <p:custDataLst>
                <p:tags r:id="rId14"/>
              </p:custDataLst>
            </p:nvPr>
          </p:nvSpPr>
          <p:spPr bwMode="auto">
            <a:xfrm rot="20253209">
              <a:off x="4644944" y="4409600"/>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3" name="组合 12"/>
            <p:cNvGrpSpPr/>
            <p:nvPr userDrawn="1"/>
          </p:nvGrpSpPr>
          <p:grpSpPr>
            <a:xfrm rot="2116298">
              <a:off x="5097308" y="5328957"/>
              <a:ext cx="722933" cy="629672"/>
              <a:chOff x="501650" y="3292475"/>
              <a:chExt cx="1735138" cy="1511300"/>
            </a:xfrm>
            <a:grpFill/>
          </p:grpSpPr>
          <p:sp>
            <p:nvSpPr>
              <p:cNvPr id="222" name="Freeform 5"/>
              <p:cNvSpPr/>
              <p:nvPr userDrawn="1">
                <p:custDataLst>
                  <p:tags r:id="rId15"/>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3" name="Freeform 6"/>
              <p:cNvSpPr/>
              <p:nvPr userDrawn="1">
                <p:custDataLst>
                  <p:tags r:id="rId16"/>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4" name="Freeform 7"/>
              <p:cNvSpPr/>
              <p:nvPr userDrawn="1">
                <p:custDataLst>
                  <p:tags r:id="rId17"/>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5" name="Freeform 8"/>
              <p:cNvSpPr/>
              <p:nvPr userDrawn="1">
                <p:custDataLst>
                  <p:tags r:id="rId18"/>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6" name="Freeform 9"/>
              <p:cNvSpPr/>
              <p:nvPr userDrawn="1">
                <p:custDataLst>
                  <p:tags r:id="rId19"/>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 name="组合 13"/>
            <p:cNvGrpSpPr/>
            <p:nvPr userDrawn="1"/>
          </p:nvGrpSpPr>
          <p:grpSpPr>
            <a:xfrm rot="19680185">
              <a:off x="2669841" y="4499503"/>
              <a:ext cx="920458" cy="709092"/>
              <a:chOff x="2486025" y="3619500"/>
              <a:chExt cx="1500188" cy="1155700"/>
            </a:xfrm>
            <a:grpFill/>
          </p:grpSpPr>
          <p:sp>
            <p:nvSpPr>
              <p:cNvPr id="220" name="Freeform 26"/>
              <p:cNvSpPr>
                <a:spLocks noEditPoints="1"/>
              </p:cNvSpPr>
              <p:nvPr userDrawn="1">
                <p:custDataLst>
                  <p:tags r:id="rId20"/>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1" name="Freeform 27"/>
              <p:cNvSpPr/>
              <p:nvPr userDrawn="1">
                <p:custDataLst>
                  <p:tags r:id="rId21"/>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5" name="Freeform 29"/>
            <p:cNvSpPr>
              <a:spLocks noEditPoints="1"/>
            </p:cNvSpPr>
            <p:nvPr userDrawn="1">
              <p:custDataLst>
                <p:tags r:id="rId22"/>
              </p:custDataLst>
            </p:nvPr>
          </p:nvSpPr>
          <p:spPr bwMode="auto">
            <a:xfrm>
              <a:off x="4567724" y="3130391"/>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 name="Freeform 5"/>
            <p:cNvSpPr>
              <a:spLocks noEditPoints="1"/>
            </p:cNvSpPr>
            <p:nvPr userDrawn="1">
              <p:custDataLst>
                <p:tags r:id="rId23"/>
              </p:custDataLst>
            </p:nvPr>
          </p:nvSpPr>
          <p:spPr bwMode="auto">
            <a:xfrm rot="1264384">
              <a:off x="3800465" y="6382321"/>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7" name="组合 16"/>
            <p:cNvGrpSpPr/>
            <p:nvPr userDrawn="1"/>
          </p:nvGrpSpPr>
          <p:grpSpPr>
            <a:xfrm rot="1013132">
              <a:off x="2506793" y="6413812"/>
              <a:ext cx="794889" cy="623974"/>
              <a:chOff x="3654425" y="5089525"/>
              <a:chExt cx="1860550" cy="1460500"/>
            </a:xfrm>
            <a:grpFill/>
          </p:grpSpPr>
          <p:sp>
            <p:nvSpPr>
              <p:cNvPr id="213" name="Freeform 12"/>
              <p:cNvSpPr>
                <a:spLocks noEditPoints="1"/>
              </p:cNvSpPr>
              <p:nvPr userDrawn="1">
                <p:custDataLst>
                  <p:tags r:id="rId24"/>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4" name="Freeform 13"/>
              <p:cNvSpPr/>
              <p:nvPr userDrawn="1">
                <p:custDataLst>
                  <p:tags r:id="rId25"/>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5" name="Freeform 14"/>
              <p:cNvSpPr/>
              <p:nvPr userDrawn="1">
                <p:custDataLst>
                  <p:tags r:id="rId26"/>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6" name="Freeform 15"/>
              <p:cNvSpPr/>
              <p:nvPr userDrawn="1">
                <p:custDataLst>
                  <p:tags r:id="rId27"/>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7" name="Freeform 16"/>
              <p:cNvSpPr/>
              <p:nvPr userDrawn="1">
                <p:custDataLst>
                  <p:tags r:id="rId28"/>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8" name="Freeform 17"/>
              <p:cNvSpPr/>
              <p:nvPr userDrawn="1">
                <p:custDataLst>
                  <p:tags r:id="rId29"/>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9" name="Freeform 18"/>
              <p:cNvSpPr/>
              <p:nvPr userDrawn="1">
                <p:custDataLst>
                  <p:tags r:id="rId30"/>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8" name="组合 17"/>
            <p:cNvGrpSpPr/>
            <p:nvPr userDrawn="1"/>
          </p:nvGrpSpPr>
          <p:grpSpPr>
            <a:xfrm>
              <a:off x="6063218" y="3624642"/>
              <a:ext cx="1301704" cy="1299270"/>
              <a:chOff x="6262690" y="5170488"/>
              <a:chExt cx="1697038" cy="1693863"/>
            </a:xfrm>
            <a:grpFill/>
          </p:grpSpPr>
          <p:sp>
            <p:nvSpPr>
              <p:cNvPr id="211" name="Freeform 19"/>
              <p:cNvSpPr>
                <a:spLocks noEditPoints="1"/>
              </p:cNvSpPr>
              <p:nvPr userDrawn="1">
                <p:custDataLst>
                  <p:tags r:id="rId31"/>
                </p:custDataLst>
              </p:nvPr>
            </p:nvSpPr>
            <p:spPr bwMode="auto">
              <a:xfrm>
                <a:off x="6262690"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2" name="Freeform 20"/>
              <p:cNvSpPr/>
              <p:nvPr userDrawn="1">
                <p:custDataLst>
                  <p:tags r:id="rId32"/>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9" name="Freeform 7"/>
            <p:cNvSpPr>
              <a:spLocks noEditPoints="1"/>
            </p:cNvSpPr>
            <p:nvPr userDrawn="1">
              <p:custDataLst>
                <p:tags r:id="rId33"/>
              </p:custDataLst>
            </p:nvPr>
          </p:nvSpPr>
          <p:spPr bwMode="auto">
            <a:xfrm rot="20132266">
              <a:off x="-1257123" y="4798205"/>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9"/>
            <p:cNvSpPr>
              <a:spLocks noEditPoints="1"/>
            </p:cNvSpPr>
            <p:nvPr userDrawn="1">
              <p:custDataLst>
                <p:tags r:id="rId34"/>
              </p:custDataLst>
            </p:nvPr>
          </p:nvSpPr>
          <p:spPr bwMode="auto">
            <a:xfrm>
              <a:off x="-491355" y="2831662"/>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21" name="组 45"/>
            <p:cNvGrpSpPr/>
            <p:nvPr userDrawn="1"/>
          </p:nvGrpSpPr>
          <p:grpSpPr>
            <a:xfrm rot="1396810">
              <a:off x="998952" y="3722131"/>
              <a:ext cx="337162" cy="1815987"/>
              <a:chOff x="6099175" y="2627313"/>
              <a:chExt cx="411163" cy="2214563"/>
            </a:xfrm>
            <a:grpFill/>
          </p:grpSpPr>
          <p:sp>
            <p:nvSpPr>
              <p:cNvPr id="207" name="Freeform 13"/>
              <p:cNvSpPr>
                <a:spLocks noEditPoints="1"/>
              </p:cNvSpPr>
              <p:nvPr userDrawn="1">
                <p:custDataLst>
                  <p:tags r:id="rId35"/>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8" name="Freeform 14"/>
              <p:cNvSpPr/>
              <p:nvPr userDrawn="1">
                <p:custDataLst>
                  <p:tags r:id="rId36"/>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9" name="Freeform 15"/>
              <p:cNvSpPr/>
              <p:nvPr userDrawn="1">
                <p:custDataLst>
                  <p:tags r:id="rId37"/>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0" name="Freeform 17"/>
              <p:cNvSpPr>
                <a:spLocks noEditPoints="1"/>
              </p:cNvSpPr>
              <p:nvPr userDrawn="1">
                <p:custDataLst>
                  <p:tags r:id="rId38"/>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2" name="Freeform 19"/>
            <p:cNvSpPr>
              <a:spLocks noEditPoints="1"/>
            </p:cNvSpPr>
            <p:nvPr userDrawn="1">
              <p:custDataLst>
                <p:tags r:id="rId39"/>
              </p:custDataLst>
            </p:nvPr>
          </p:nvSpPr>
          <p:spPr bwMode="auto">
            <a:xfrm rot="1363540">
              <a:off x="337564" y="5792830"/>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20"/>
            <p:cNvSpPr/>
            <p:nvPr userDrawn="1">
              <p:custDataLst>
                <p:tags r:id="rId40"/>
              </p:custDataLst>
            </p:nvPr>
          </p:nvSpPr>
          <p:spPr bwMode="auto">
            <a:xfrm rot="20253209">
              <a:off x="158920" y="4485610"/>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24" name="组合 23"/>
            <p:cNvGrpSpPr/>
            <p:nvPr userDrawn="1"/>
          </p:nvGrpSpPr>
          <p:grpSpPr>
            <a:xfrm rot="2116298">
              <a:off x="1231243" y="5128617"/>
              <a:ext cx="722933" cy="629672"/>
              <a:chOff x="501650" y="3292475"/>
              <a:chExt cx="1735138" cy="1511300"/>
            </a:xfrm>
            <a:grpFill/>
          </p:grpSpPr>
          <p:sp>
            <p:nvSpPr>
              <p:cNvPr id="202" name="Freeform 5"/>
              <p:cNvSpPr/>
              <p:nvPr userDrawn="1">
                <p:custDataLst>
                  <p:tags r:id="rId41"/>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3" name="Freeform 6"/>
              <p:cNvSpPr/>
              <p:nvPr userDrawn="1">
                <p:custDataLst>
                  <p:tags r:id="rId42"/>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4" name="Freeform 7"/>
              <p:cNvSpPr/>
              <p:nvPr userDrawn="1">
                <p:custDataLst>
                  <p:tags r:id="rId43"/>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5" name="Freeform 8"/>
              <p:cNvSpPr/>
              <p:nvPr userDrawn="1">
                <p:custDataLst>
                  <p:tags r:id="rId44"/>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6" name="Freeform 9"/>
              <p:cNvSpPr/>
              <p:nvPr userDrawn="1">
                <p:custDataLst>
                  <p:tags r:id="rId45"/>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5" name="组合 24"/>
            <p:cNvGrpSpPr/>
            <p:nvPr userDrawn="1"/>
          </p:nvGrpSpPr>
          <p:grpSpPr>
            <a:xfrm rot="19680185">
              <a:off x="-1517189" y="3803033"/>
              <a:ext cx="920458" cy="709092"/>
              <a:chOff x="2486025" y="3619500"/>
              <a:chExt cx="1500188" cy="1155700"/>
            </a:xfrm>
            <a:grpFill/>
          </p:grpSpPr>
          <p:sp>
            <p:nvSpPr>
              <p:cNvPr id="200" name="Freeform 26"/>
              <p:cNvSpPr>
                <a:spLocks noEditPoints="1"/>
              </p:cNvSpPr>
              <p:nvPr userDrawn="1">
                <p:custDataLst>
                  <p:tags r:id="rId46"/>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1" name="Freeform 27"/>
              <p:cNvSpPr/>
              <p:nvPr userDrawn="1">
                <p:custDataLst>
                  <p:tags r:id="rId47"/>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6" name="Freeform 29"/>
            <p:cNvSpPr>
              <a:spLocks noEditPoints="1"/>
            </p:cNvSpPr>
            <p:nvPr userDrawn="1">
              <p:custDataLst>
                <p:tags r:id="rId48"/>
              </p:custDataLst>
            </p:nvPr>
          </p:nvSpPr>
          <p:spPr bwMode="auto">
            <a:xfrm>
              <a:off x="760976" y="2751525"/>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5"/>
            <p:cNvSpPr>
              <a:spLocks noEditPoints="1"/>
            </p:cNvSpPr>
            <p:nvPr userDrawn="1">
              <p:custDataLst>
                <p:tags r:id="rId49"/>
              </p:custDataLst>
            </p:nvPr>
          </p:nvSpPr>
          <p:spPr bwMode="auto">
            <a:xfrm rot="1264384">
              <a:off x="1983280" y="5686214"/>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28" name="组合 27"/>
            <p:cNvGrpSpPr/>
            <p:nvPr userDrawn="1"/>
          </p:nvGrpSpPr>
          <p:grpSpPr>
            <a:xfrm rot="1013132">
              <a:off x="1601368" y="4438604"/>
              <a:ext cx="794889" cy="623974"/>
              <a:chOff x="3654425" y="5089525"/>
              <a:chExt cx="1860550" cy="1460500"/>
            </a:xfrm>
            <a:grpFill/>
          </p:grpSpPr>
          <p:sp>
            <p:nvSpPr>
              <p:cNvPr id="193" name="Freeform 12"/>
              <p:cNvSpPr>
                <a:spLocks noEditPoints="1"/>
              </p:cNvSpPr>
              <p:nvPr userDrawn="1">
                <p:custDataLst>
                  <p:tags r:id="rId50"/>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4" name="Freeform 13"/>
              <p:cNvSpPr/>
              <p:nvPr userDrawn="1">
                <p:custDataLst>
                  <p:tags r:id="rId51"/>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5" name="Freeform 14"/>
              <p:cNvSpPr/>
              <p:nvPr userDrawn="1">
                <p:custDataLst>
                  <p:tags r:id="rId52"/>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6" name="Freeform 15"/>
              <p:cNvSpPr/>
              <p:nvPr userDrawn="1">
                <p:custDataLst>
                  <p:tags r:id="rId53"/>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7" name="Freeform 16"/>
              <p:cNvSpPr/>
              <p:nvPr userDrawn="1">
                <p:custDataLst>
                  <p:tags r:id="rId54"/>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8" name="Freeform 17"/>
              <p:cNvSpPr/>
              <p:nvPr userDrawn="1">
                <p:custDataLst>
                  <p:tags r:id="rId55"/>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9" name="Freeform 18"/>
              <p:cNvSpPr/>
              <p:nvPr userDrawn="1">
                <p:custDataLst>
                  <p:tags r:id="rId56"/>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9" name="组合 28"/>
            <p:cNvGrpSpPr/>
            <p:nvPr userDrawn="1"/>
          </p:nvGrpSpPr>
          <p:grpSpPr>
            <a:xfrm>
              <a:off x="1798258" y="2947826"/>
              <a:ext cx="1301704" cy="1299270"/>
              <a:chOff x="6262688" y="5170488"/>
              <a:chExt cx="1697038" cy="1693863"/>
            </a:xfrm>
            <a:grpFill/>
          </p:grpSpPr>
          <p:sp>
            <p:nvSpPr>
              <p:cNvPr id="191" name="Freeform 19"/>
              <p:cNvSpPr>
                <a:spLocks noEditPoints="1"/>
              </p:cNvSpPr>
              <p:nvPr userDrawn="1">
                <p:custDataLst>
                  <p:tags r:id="rId57"/>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2" name="Freeform 20"/>
              <p:cNvSpPr/>
              <p:nvPr userDrawn="1">
                <p:custDataLst>
                  <p:tags r:id="rId58"/>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0" name="Freeform 7"/>
            <p:cNvSpPr>
              <a:spLocks noEditPoints="1"/>
            </p:cNvSpPr>
            <p:nvPr userDrawn="1">
              <p:custDataLst>
                <p:tags r:id="rId59"/>
              </p:custDataLst>
            </p:nvPr>
          </p:nvSpPr>
          <p:spPr bwMode="auto">
            <a:xfrm rot="21538996">
              <a:off x="7150383" y="5764310"/>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Freeform 9"/>
            <p:cNvSpPr>
              <a:spLocks noEditPoints="1"/>
            </p:cNvSpPr>
            <p:nvPr userDrawn="1">
              <p:custDataLst>
                <p:tags r:id="rId60"/>
              </p:custDataLst>
            </p:nvPr>
          </p:nvSpPr>
          <p:spPr bwMode="auto">
            <a:xfrm rot="1406730">
              <a:off x="8537771" y="4215104"/>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32" name="组 77"/>
            <p:cNvGrpSpPr/>
            <p:nvPr userDrawn="1"/>
          </p:nvGrpSpPr>
          <p:grpSpPr>
            <a:xfrm rot="2803540">
              <a:off x="9511163" y="5451183"/>
              <a:ext cx="337162" cy="1815987"/>
              <a:chOff x="6099175" y="2627313"/>
              <a:chExt cx="411163" cy="2214563"/>
            </a:xfrm>
            <a:grpFill/>
          </p:grpSpPr>
          <p:sp>
            <p:nvSpPr>
              <p:cNvPr id="187" name="Freeform 13"/>
              <p:cNvSpPr>
                <a:spLocks noEditPoints="1"/>
              </p:cNvSpPr>
              <p:nvPr userDrawn="1">
                <p:custDataLst>
                  <p:tags r:id="rId61"/>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8" name="Freeform 14"/>
              <p:cNvSpPr/>
              <p:nvPr userDrawn="1">
                <p:custDataLst>
                  <p:tags r:id="rId62"/>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9" name="Freeform 15"/>
              <p:cNvSpPr/>
              <p:nvPr userDrawn="1">
                <p:custDataLst>
                  <p:tags r:id="rId63"/>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0" name="Freeform 17"/>
              <p:cNvSpPr>
                <a:spLocks noEditPoints="1"/>
              </p:cNvSpPr>
              <p:nvPr userDrawn="1">
                <p:custDataLst>
                  <p:tags r:id="rId64"/>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3" name="Freeform 19"/>
            <p:cNvSpPr>
              <a:spLocks noEditPoints="1"/>
            </p:cNvSpPr>
            <p:nvPr userDrawn="1">
              <p:custDataLst>
                <p:tags r:id="rId65"/>
              </p:custDataLst>
            </p:nvPr>
          </p:nvSpPr>
          <p:spPr bwMode="auto">
            <a:xfrm rot="2770270">
              <a:off x="8355392" y="7325895"/>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Freeform 20"/>
            <p:cNvSpPr/>
            <p:nvPr userDrawn="1">
              <p:custDataLst>
                <p:tags r:id="rId66"/>
              </p:custDataLst>
            </p:nvPr>
          </p:nvSpPr>
          <p:spPr bwMode="auto">
            <a:xfrm rot="59939">
              <a:off x="8625447" y="5843013"/>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35" name="组合 34"/>
            <p:cNvGrpSpPr/>
            <p:nvPr userDrawn="1"/>
          </p:nvGrpSpPr>
          <p:grpSpPr>
            <a:xfrm rot="3523028">
              <a:off x="9384746" y="6959689"/>
              <a:ext cx="722933" cy="629672"/>
              <a:chOff x="501650" y="3292475"/>
              <a:chExt cx="1735138" cy="1511300"/>
            </a:xfrm>
            <a:grpFill/>
          </p:grpSpPr>
          <p:sp>
            <p:nvSpPr>
              <p:cNvPr id="182" name="Freeform 5"/>
              <p:cNvSpPr/>
              <p:nvPr userDrawn="1">
                <p:custDataLst>
                  <p:tags r:id="rId67"/>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3" name="Freeform 6"/>
              <p:cNvSpPr/>
              <p:nvPr userDrawn="1">
                <p:custDataLst>
                  <p:tags r:id="rId68"/>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4" name="Freeform 7"/>
              <p:cNvSpPr/>
              <p:nvPr userDrawn="1">
                <p:custDataLst>
                  <p:tags r:id="rId69"/>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5" name="Freeform 8"/>
              <p:cNvSpPr/>
              <p:nvPr userDrawn="1">
                <p:custDataLst>
                  <p:tags r:id="rId70"/>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6" name="Freeform 9"/>
              <p:cNvSpPr/>
              <p:nvPr userDrawn="1">
                <p:custDataLst>
                  <p:tags r:id="rId71"/>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36" name="组合 35"/>
            <p:cNvGrpSpPr/>
            <p:nvPr userDrawn="1"/>
          </p:nvGrpSpPr>
          <p:grpSpPr>
            <a:xfrm rot="21086915">
              <a:off x="7366693" y="4686026"/>
              <a:ext cx="920458" cy="709092"/>
              <a:chOff x="2486025" y="3619500"/>
              <a:chExt cx="1500188" cy="1155700"/>
            </a:xfrm>
            <a:grpFill/>
          </p:grpSpPr>
          <p:sp>
            <p:nvSpPr>
              <p:cNvPr id="180" name="Freeform 26"/>
              <p:cNvSpPr>
                <a:spLocks noEditPoints="1"/>
              </p:cNvSpPr>
              <p:nvPr userDrawn="1">
                <p:custDataLst>
                  <p:tags r:id="rId72"/>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1" name="Freeform 27"/>
              <p:cNvSpPr/>
              <p:nvPr userDrawn="1">
                <p:custDataLst>
                  <p:tags r:id="rId73"/>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7" name="Freeform 29"/>
            <p:cNvSpPr>
              <a:spLocks noEditPoints="1"/>
            </p:cNvSpPr>
            <p:nvPr userDrawn="1">
              <p:custDataLst>
                <p:tags r:id="rId74"/>
              </p:custDataLst>
            </p:nvPr>
          </p:nvSpPr>
          <p:spPr bwMode="auto">
            <a:xfrm rot="1406730">
              <a:off x="9836343" y="4616570"/>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5"/>
            <p:cNvSpPr>
              <a:spLocks noEditPoints="1"/>
            </p:cNvSpPr>
            <p:nvPr userDrawn="1">
              <p:custDataLst>
                <p:tags r:id="rId75"/>
              </p:custDataLst>
            </p:nvPr>
          </p:nvSpPr>
          <p:spPr bwMode="auto">
            <a:xfrm rot="2671114">
              <a:off x="9574736" y="7895511"/>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39" name="组合 38"/>
            <p:cNvGrpSpPr/>
            <p:nvPr userDrawn="1"/>
          </p:nvGrpSpPr>
          <p:grpSpPr>
            <a:xfrm rot="2419862">
              <a:off x="9997017" y="6488458"/>
              <a:ext cx="794889" cy="623974"/>
              <a:chOff x="3654425" y="5089525"/>
              <a:chExt cx="1860550" cy="1460500"/>
            </a:xfrm>
            <a:grpFill/>
          </p:grpSpPr>
          <p:sp>
            <p:nvSpPr>
              <p:cNvPr id="173" name="Freeform 12"/>
              <p:cNvSpPr>
                <a:spLocks noEditPoints="1"/>
              </p:cNvSpPr>
              <p:nvPr userDrawn="1">
                <p:custDataLst>
                  <p:tags r:id="rId76"/>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4" name="Freeform 13"/>
              <p:cNvSpPr/>
              <p:nvPr userDrawn="1">
                <p:custDataLst>
                  <p:tags r:id="rId77"/>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5" name="Freeform 14"/>
              <p:cNvSpPr/>
              <p:nvPr userDrawn="1">
                <p:custDataLst>
                  <p:tags r:id="rId78"/>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6" name="Freeform 15"/>
              <p:cNvSpPr/>
              <p:nvPr userDrawn="1">
                <p:custDataLst>
                  <p:tags r:id="rId79"/>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7" name="Freeform 16"/>
              <p:cNvSpPr/>
              <p:nvPr userDrawn="1">
                <p:custDataLst>
                  <p:tags r:id="rId80"/>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8" name="Freeform 17"/>
              <p:cNvSpPr/>
              <p:nvPr userDrawn="1">
                <p:custDataLst>
                  <p:tags r:id="rId81"/>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9" name="Freeform 18"/>
              <p:cNvSpPr/>
              <p:nvPr userDrawn="1">
                <p:custDataLst>
                  <p:tags r:id="rId82"/>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0" name="组合 39"/>
            <p:cNvGrpSpPr/>
            <p:nvPr userDrawn="1"/>
          </p:nvGrpSpPr>
          <p:grpSpPr>
            <a:xfrm rot="1406730">
              <a:off x="11173870" y="-871840"/>
              <a:ext cx="1301704" cy="1299270"/>
              <a:chOff x="6262688" y="5170488"/>
              <a:chExt cx="1697038" cy="1693863"/>
            </a:xfrm>
            <a:grpFill/>
          </p:grpSpPr>
          <p:sp>
            <p:nvSpPr>
              <p:cNvPr id="171" name="Freeform 19"/>
              <p:cNvSpPr>
                <a:spLocks noEditPoints="1"/>
              </p:cNvSpPr>
              <p:nvPr userDrawn="1">
                <p:custDataLst>
                  <p:tags r:id="rId83"/>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2" name="Freeform 20"/>
              <p:cNvSpPr/>
              <p:nvPr userDrawn="1">
                <p:custDataLst>
                  <p:tags r:id="rId84"/>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1" name="Freeform 7"/>
            <p:cNvSpPr>
              <a:spLocks noEditPoints="1"/>
            </p:cNvSpPr>
            <p:nvPr userDrawn="1">
              <p:custDataLst>
                <p:tags r:id="rId85"/>
              </p:custDataLst>
            </p:nvPr>
          </p:nvSpPr>
          <p:spPr bwMode="auto">
            <a:xfrm rot="20132266">
              <a:off x="-3210" y="1374612"/>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Freeform 9"/>
            <p:cNvSpPr>
              <a:spLocks noEditPoints="1"/>
            </p:cNvSpPr>
            <p:nvPr userDrawn="1">
              <p:custDataLst>
                <p:tags r:id="rId86"/>
              </p:custDataLst>
            </p:nvPr>
          </p:nvSpPr>
          <p:spPr bwMode="auto">
            <a:xfrm>
              <a:off x="762558" y="-591931"/>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43" name="组 109"/>
            <p:cNvGrpSpPr/>
            <p:nvPr userDrawn="1"/>
          </p:nvGrpSpPr>
          <p:grpSpPr>
            <a:xfrm rot="1396810">
              <a:off x="2252833" y="298531"/>
              <a:ext cx="337162" cy="1816149"/>
              <a:chOff x="6099175" y="2627313"/>
              <a:chExt cx="411163" cy="2214761"/>
            </a:xfrm>
            <a:grpFill/>
          </p:grpSpPr>
          <p:sp>
            <p:nvSpPr>
              <p:cNvPr id="165" name="Freeform 13"/>
              <p:cNvSpPr>
                <a:spLocks noEditPoints="1"/>
              </p:cNvSpPr>
              <p:nvPr userDrawn="1">
                <p:custDataLst>
                  <p:tags r:id="rId87"/>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6" name="Freeform 14"/>
              <p:cNvSpPr/>
              <p:nvPr userDrawn="1">
                <p:custDataLst>
                  <p:tags r:id="rId88"/>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7" name="Freeform 15"/>
              <p:cNvSpPr/>
              <p:nvPr userDrawn="1">
                <p:custDataLst>
                  <p:tags r:id="rId89"/>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8" name="Freeform 17"/>
              <p:cNvSpPr>
                <a:spLocks noEditPoints="1"/>
              </p:cNvSpPr>
              <p:nvPr userDrawn="1">
                <p:custDataLst>
                  <p:tags r:id="rId90"/>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9" name="Freeform 13"/>
              <p:cNvSpPr>
                <a:spLocks noEditPoints="1"/>
              </p:cNvSpPr>
              <p:nvPr userDrawn="1">
                <p:custDataLst>
                  <p:tags r:id="rId91"/>
                </p:custDataLst>
              </p:nvPr>
            </p:nvSpPr>
            <p:spPr bwMode="auto">
              <a:xfrm>
                <a:off x="6133588" y="3048199"/>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0" name="Freeform 17"/>
              <p:cNvSpPr>
                <a:spLocks noEditPoints="1"/>
              </p:cNvSpPr>
              <p:nvPr userDrawn="1">
                <p:custDataLst>
                  <p:tags r:id="rId92"/>
                </p:custDataLst>
              </p:nvPr>
            </p:nvSpPr>
            <p:spPr bwMode="auto">
              <a:xfrm>
                <a:off x="6132001" y="4310261"/>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4" name="Freeform 19"/>
            <p:cNvSpPr>
              <a:spLocks noEditPoints="1"/>
            </p:cNvSpPr>
            <p:nvPr userDrawn="1">
              <p:custDataLst>
                <p:tags r:id="rId93"/>
              </p:custDataLst>
            </p:nvPr>
          </p:nvSpPr>
          <p:spPr bwMode="auto">
            <a:xfrm rot="1363540">
              <a:off x="1591477" y="2369237"/>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Freeform 20"/>
            <p:cNvSpPr/>
            <p:nvPr userDrawn="1">
              <p:custDataLst>
                <p:tags r:id="rId94"/>
              </p:custDataLst>
            </p:nvPr>
          </p:nvSpPr>
          <p:spPr bwMode="auto">
            <a:xfrm rot="20253209">
              <a:off x="1412833" y="1062017"/>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46" name="组合 45"/>
            <p:cNvGrpSpPr/>
            <p:nvPr userDrawn="1"/>
          </p:nvGrpSpPr>
          <p:grpSpPr>
            <a:xfrm rot="2116298">
              <a:off x="2485156" y="1705024"/>
              <a:ext cx="722933" cy="629672"/>
              <a:chOff x="501650" y="3292475"/>
              <a:chExt cx="1735138" cy="1511300"/>
            </a:xfrm>
            <a:grpFill/>
          </p:grpSpPr>
          <p:sp>
            <p:nvSpPr>
              <p:cNvPr id="159" name="Freeform 5"/>
              <p:cNvSpPr/>
              <p:nvPr userDrawn="1">
                <p:custDataLst>
                  <p:tags r:id="rId95"/>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0" name="Freeform 6"/>
              <p:cNvSpPr/>
              <p:nvPr userDrawn="1">
                <p:custDataLst>
                  <p:tags r:id="rId96"/>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1" name="Freeform 7"/>
              <p:cNvSpPr/>
              <p:nvPr userDrawn="1">
                <p:custDataLst>
                  <p:tags r:id="rId97"/>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2" name="Freeform 8"/>
              <p:cNvSpPr/>
              <p:nvPr userDrawn="1">
                <p:custDataLst>
                  <p:tags r:id="rId98"/>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3" name="Freeform 9"/>
              <p:cNvSpPr/>
              <p:nvPr userDrawn="1">
                <p:custDataLst>
                  <p:tags r:id="rId99"/>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4" name="Freeform 6"/>
              <p:cNvSpPr/>
              <p:nvPr userDrawn="1">
                <p:custDataLst>
                  <p:tags r:id="rId100"/>
                </p:custDataLst>
              </p:nvPr>
            </p:nvSpPr>
            <p:spPr bwMode="auto">
              <a:xfrm>
                <a:off x="733276" y="3957829"/>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7" name="组合 46"/>
            <p:cNvGrpSpPr/>
            <p:nvPr userDrawn="1"/>
          </p:nvGrpSpPr>
          <p:grpSpPr>
            <a:xfrm rot="19680185">
              <a:off x="-263276" y="379440"/>
              <a:ext cx="920458" cy="709092"/>
              <a:chOff x="2486025" y="3619500"/>
              <a:chExt cx="1500188" cy="1155700"/>
            </a:xfrm>
            <a:grpFill/>
          </p:grpSpPr>
          <p:sp>
            <p:nvSpPr>
              <p:cNvPr id="157" name="Freeform 26"/>
              <p:cNvSpPr>
                <a:spLocks noEditPoints="1"/>
              </p:cNvSpPr>
              <p:nvPr userDrawn="1">
                <p:custDataLst>
                  <p:tags r:id="rId101"/>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8" name="Freeform 27"/>
              <p:cNvSpPr/>
              <p:nvPr userDrawn="1">
                <p:custDataLst>
                  <p:tags r:id="rId102"/>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8" name="Freeform 29"/>
            <p:cNvSpPr>
              <a:spLocks noEditPoints="1"/>
            </p:cNvSpPr>
            <p:nvPr userDrawn="1">
              <p:custDataLst>
                <p:tags r:id="rId103"/>
              </p:custDataLst>
            </p:nvPr>
          </p:nvSpPr>
          <p:spPr bwMode="auto">
            <a:xfrm>
              <a:off x="2014889" y="-672068"/>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5"/>
            <p:cNvSpPr>
              <a:spLocks noEditPoints="1"/>
            </p:cNvSpPr>
            <p:nvPr userDrawn="1">
              <p:custDataLst>
                <p:tags r:id="rId104"/>
              </p:custDataLst>
            </p:nvPr>
          </p:nvSpPr>
          <p:spPr bwMode="auto">
            <a:xfrm rot="1264384">
              <a:off x="2980490" y="2441065"/>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0" name="组合 49"/>
            <p:cNvGrpSpPr/>
            <p:nvPr userDrawn="1"/>
          </p:nvGrpSpPr>
          <p:grpSpPr>
            <a:xfrm rot="1013132">
              <a:off x="2855281" y="1015011"/>
              <a:ext cx="794889" cy="623974"/>
              <a:chOff x="3654425" y="5089525"/>
              <a:chExt cx="1860550" cy="1460500"/>
            </a:xfrm>
            <a:grpFill/>
          </p:grpSpPr>
          <p:sp>
            <p:nvSpPr>
              <p:cNvPr id="150" name="Freeform 12"/>
              <p:cNvSpPr>
                <a:spLocks noEditPoints="1"/>
              </p:cNvSpPr>
              <p:nvPr userDrawn="1">
                <p:custDataLst>
                  <p:tags r:id="rId105"/>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1" name="Freeform 13"/>
              <p:cNvSpPr/>
              <p:nvPr userDrawn="1">
                <p:custDataLst>
                  <p:tags r:id="rId106"/>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2" name="Freeform 14"/>
              <p:cNvSpPr/>
              <p:nvPr userDrawn="1">
                <p:custDataLst>
                  <p:tags r:id="rId107"/>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3" name="Freeform 15"/>
              <p:cNvSpPr/>
              <p:nvPr userDrawn="1">
                <p:custDataLst>
                  <p:tags r:id="rId108"/>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4" name="Freeform 16"/>
              <p:cNvSpPr/>
              <p:nvPr userDrawn="1">
                <p:custDataLst>
                  <p:tags r:id="rId109"/>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5" name="Freeform 17"/>
              <p:cNvSpPr/>
              <p:nvPr userDrawn="1">
                <p:custDataLst>
                  <p:tags r:id="rId110"/>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6" name="Freeform 18"/>
              <p:cNvSpPr/>
              <p:nvPr userDrawn="1">
                <p:custDataLst>
                  <p:tags r:id="rId111"/>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51" name="组合 50"/>
            <p:cNvGrpSpPr/>
            <p:nvPr userDrawn="1"/>
          </p:nvGrpSpPr>
          <p:grpSpPr>
            <a:xfrm>
              <a:off x="3052171" y="-475767"/>
              <a:ext cx="1301704" cy="1299270"/>
              <a:chOff x="6262688" y="5170488"/>
              <a:chExt cx="1697038" cy="1693863"/>
            </a:xfrm>
            <a:grpFill/>
          </p:grpSpPr>
          <p:sp>
            <p:nvSpPr>
              <p:cNvPr id="148" name="Freeform 19"/>
              <p:cNvSpPr>
                <a:spLocks noEditPoints="1"/>
              </p:cNvSpPr>
              <p:nvPr userDrawn="1">
                <p:custDataLst>
                  <p:tags r:id="rId112"/>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9" name="Freeform 20"/>
              <p:cNvSpPr/>
              <p:nvPr userDrawn="1">
                <p:custDataLst>
                  <p:tags r:id="rId113"/>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52" name="Freeform 7"/>
            <p:cNvSpPr>
              <a:spLocks noEditPoints="1"/>
            </p:cNvSpPr>
            <p:nvPr userDrawn="1">
              <p:custDataLst>
                <p:tags r:id="rId114"/>
              </p:custDataLst>
            </p:nvPr>
          </p:nvSpPr>
          <p:spPr bwMode="auto">
            <a:xfrm rot="20132266">
              <a:off x="4165316" y="1969665"/>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9"/>
            <p:cNvSpPr>
              <a:spLocks noEditPoints="1"/>
            </p:cNvSpPr>
            <p:nvPr userDrawn="1">
              <p:custDataLst>
                <p:tags r:id="rId115"/>
              </p:custDataLst>
            </p:nvPr>
          </p:nvSpPr>
          <p:spPr bwMode="auto">
            <a:xfrm>
              <a:off x="4931084" y="3122"/>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4" name="组 141"/>
            <p:cNvGrpSpPr/>
            <p:nvPr userDrawn="1"/>
          </p:nvGrpSpPr>
          <p:grpSpPr>
            <a:xfrm rot="1396810">
              <a:off x="6421391" y="893591"/>
              <a:ext cx="337162" cy="1815987"/>
              <a:chOff x="6099175" y="2627313"/>
              <a:chExt cx="411163" cy="2214563"/>
            </a:xfrm>
            <a:grpFill/>
          </p:grpSpPr>
          <p:sp>
            <p:nvSpPr>
              <p:cNvPr id="144" name="Freeform 13"/>
              <p:cNvSpPr>
                <a:spLocks noEditPoints="1"/>
              </p:cNvSpPr>
              <p:nvPr userDrawn="1">
                <p:custDataLst>
                  <p:tags r:id="rId116"/>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5" name="Freeform 14"/>
              <p:cNvSpPr/>
              <p:nvPr userDrawn="1">
                <p:custDataLst>
                  <p:tags r:id="rId117"/>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6" name="Freeform 15"/>
              <p:cNvSpPr/>
              <p:nvPr userDrawn="1">
                <p:custDataLst>
                  <p:tags r:id="rId118"/>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7" name="Freeform 17"/>
              <p:cNvSpPr>
                <a:spLocks noEditPoints="1"/>
              </p:cNvSpPr>
              <p:nvPr userDrawn="1">
                <p:custDataLst>
                  <p:tags r:id="rId119"/>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55" name="Freeform 19"/>
            <p:cNvSpPr>
              <a:spLocks noEditPoints="1"/>
            </p:cNvSpPr>
            <p:nvPr userDrawn="1">
              <p:custDataLst>
                <p:tags r:id="rId120"/>
              </p:custDataLst>
            </p:nvPr>
          </p:nvSpPr>
          <p:spPr bwMode="auto">
            <a:xfrm rot="1363540">
              <a:off x="5760003" y="2964290"/>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20"/>
            <p:cNvSpPr/>
            <p:nvPr userDrawn="1">
              <p:custDataLst>
                <p:tags r:id="rId121"/>
              </p:custDataLst>
            </p:nvPr>
          </p:nvSpPr>
          <p:spPr bwMode="auto">
            <a:xfrm rot="20253209">
              <a:off x="5581359" y="1657070"/>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7" name="组合 56"/>
            <p:cNvGrpSpPr/>
            <p:nvPr userDrawn="1"/>
          </p:nvGrpSpPr>
          <p:grpSpPr>
            <a:xfrm rot="2116298">
              <a:off x="6653682" y="2300077"/>
              <a:ext cx="722933" cy="629672"/>
              <a:chOff x="501650" y="3292475"/>
              <a:chExt cx="1735138" cy="1511300"/>
            </a:xfrm>
            <a:grpFill/>
          </p:grpSpPr>
          <p:sp>
            <p:nvSpPr>
              <p:cNvPr id="139" name="Freeform 5"/>
              <p:cNvSpPr/>
              <p:nvPr userDrawn="1">
                <p:custDataLst>
                  <p:tags r:id="rId122"/>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0" name="Freeform 6"/>
              <p:cNvSpPr/>
              <p:nvPr userDrawn="1">
                <p:custDataLst>
                  <p:tags r:id="rId123"/>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1" name="Freeform 7"/>
              <p:cNvSpPr/>
              <p:nvPr userDrawn="1">
                <p:custDataLst>
                  <p:tags r:id="rId124"/>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2" name="Freeform 8"/>
              <p:cNvSpPr/>
              <p:nvPr userDrawn="1">
                <p:custDataLst>
                  <p:tags r:id="rId125"/>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3" name="Freeform 9"/>
              <p:cNvSpPr/>
              <p:nvPr userDrawn="1">
                <p:custDataLst>
                  <p:tags r:id="rId126"/>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58" name="组合 57"/>
            <p:cNvGrpSpPr/>
            <p:nvPr userDrawn="1"/>
          </p:nvGrpSpPr>
          <p:grpSpPr>
            <a:xfrm rot="19680185">
              <a:off x="3905250" y="974493"/>
              <a:ext cx="920458" cy="709092"/>
              <a:chOff x="2486025" y="3619500"/>
              <a:chExt cx="1500188" cy="1155700"/>
            </a:xfrm>
            <a:grpFill/>
          </p:grpSpPr>
          <p:sp>
            <p:nvSpPr>
              <p:cNvPr id="137" name="Freeform 26"/>
              <p:cNvSpPr>
                <a:spLocks noEditPoints="1"/>
              </p:cNvSpPr>
              <p:nvPr userDrawn="1">
                <p:custDataLst>
                  <p:tags r:id="rId127"/>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8" name="Freeform 27"/>
              <p:cNvSpPr/>
              <p:nvPr userDrawn="1">
                <p:custDataLst>
                  <p:tags r:id="rId128"/>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59" name="Freeform 29"/>
            <p:cNvSpPr>
              <a:spLocks noEditPoints="1"/>
            </p:cNvSpPr>
            <p:nvPr userDrawn="1">
              <p:custDataLst>
                <p:tags r:id="rId129"/>
              </p:custDataLst>
            </p:nvPr>
          </p:nvSpPr>
          <p:spPr bwMode="auto">
            <a:xfrm>
              <a:off x="6183415" y="-77015"/>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5"/>
            <p:cNvSpPr>
              <a:spLocks noEditPoints="1"/>
            </p:cNvSpPr>
            <p:nvPr userDrawn="1">
              <p:custDataLst>
                <p:tags r:id="rId130"/>
              </p:custDataLst>
            </p:nvPr>
          </p:nvSpPr>
          <p:spPr bwMode="auto">
            <a:xfrm rot="1264384">
              <a:off x="7128415" y="3155329"/>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1" name="组合 60"/>
            <p:cNvGrpSpPr/>
            <p:nvPr userDrawn="1"/>
          </p:nvGrpSpPr>
          <p:grpSpPr>
            <a:xfrm rot="1013132">
              <a:off x="7023807" y="1610064"/>
              <a:ext cx="794889" cy="623974"/>
              <a:chOff x="3654425" y="5089525"/>
              <a:chExt cx="1860550" cy="1460500"/>
            </a:xfrm>
            <a:grpFill/>
          </p:grpSpPr>
          <p:sp>
            <p:nvSpPr>
              <p:cNvPr id="130" name="Freeform 12"/>
              <p:cNvSpPr>
                <a:spLocks noEditPoints="1"/>
              </p:cNvSpPr>
              <p:nvPr userDrawn="1">
                <p:custDataLst>
                  <p:tags r:id="rId131"/>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1" name="Freeform 13"/>
              <p:cNvSpPr/>
              <p:nvPr userDrawn="1">
                <p:custDataLst>
                  <p:tags r:id="rId132"/>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2" name="Freeform 14"/>
              <p:cNvSpPr/>
              <p:nvPr userDrawn="1">
                <p:custDataLst>
                  <p:tags r:id="rId133"/>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3" name="Freeform 15"/>
              <p:cNvSpPr/>
              <p:nvPr userDrawn="1">
                <p:custDataLst>
                  <p:tags r:id="rId134"/>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4" name="Freeform 16"/>
              <p:cNvSpPr/>
              <p:nvPr userDrawn="1">
                <p:custDataLst>
                  <p:tags r:id="rId135"/>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5" name="Freeform 17"/>
              <p:cNvSpPr/>
              <p:nvPr userDrawn="1">
                <p:custDataLst>
                  <p:tags r:id="rId136"/>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6" name="Freeform 18"/>
              <p:cNvSpPr/>
              <p:nvPr userDrawn="1">
                <p:custDataLst>
                  <p:tags r:id="rId137"/>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2" name="组合 61"/>
            <p:cNvGrpSpPr/>
            <p:nvPr userDrawn="1"/>
          </p:nvGrpSpPr>
          <p:grpSpPr>
            <a:xfrm>
              <a:off x="7220697" y="119286"/>
              <a:ext cx="1301704" cy="1299270"/>
              <a:chOff x="6262688" y="5170488"/>
              <a:chExt cx="1697038" cy="1693863"/>
            </a:xfrm>
            <a:grpFill/>
          </p:grpSpPr>
          <p:sp>
            <p:nvSpPr>
              <p:cNvPr id="128" name="Freeform 19"/>
              <p:cNvSpPr>
                <a:spLocks noEditPoints="1"/>
              </p:cNvSpPr>
              <p:nvPr userDrawn="1">
                <p:custDataLst>
                  <p:tags r:id="rId138"/>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9" name="Freeform 20"/>
              <p:cNvSpPr/>
              <p:nvPr userDrawn="1">
                <p:custDataLst>
                  <p:tags r:id="rId139"/>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63" name="Freeform 7"/>
            <p:cNvSpPr>
              <a:spLocks noEditPoints="1"/>
            </p:cNvSpPr>
            <p:nvPr userDrawn="1">
              <p:custDataLst>
                <p:tags r:id="rId140"/>
              </p:custDataLst>
            </p:nvPr>
          </p:nvSpPr>
          <p:spPr bwMode="auto">
            <a:xfrm rot="20132266">
              <a:off x="7996220" y="3333169"/>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9"/>
            <p:cNvSpPr>
              <a:spLocks noEditPoints="1"/>
            </p:cNvSpPr>
            <p:nvPr userDrawn="1">
              <p:custDataLst>
                <p:tags r:id="rId141"/>
              </p:custDataLst>
            </p:nvPr>
          </p:nvSpPr>
          <p:spPr bwMode="auto">
            <a:xfrm>
              <a:off x="8803483" y="1209043"/>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5" name="组 173"/>
            <p:cNvGrpSpPr/>
            <p:nvPr userDrawn="1"/>
          </p:nvGrpSpPr>
          <p:grpSpPr>
            <a:xfrm rot="1396810">
              <a:off x="10293790" y="2099512"/>
              <a:ext cx="337162" cy="1815987"/>
              <a:chOff x="6099175" y="2627313"/>
              <a:chExt cx="411163" cy="2214563"/>
            </a:xfrm>
            <a:grpFill/>
          </p:grpSpPr>
          <p:sp>
            <p:nvSpPr>
              <p:cNvPr id="124" name="Freeform 13"/>
              <p:cNvSpPr>
                <a:spLocks noEditPoints="1"/>
              </p:cNvSpPr>
              <p:nvPr userDrawn="1">
                <p:custDataLst>
                  <p:tags r:id="rId142"/>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5" name="Freeform 14"/>
              <p:cNvSpPr/>
              <p:nvPr userDrawn="1">
                <p:custDataLst>
                  <p:tags r:id="rId143"/>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6" name="Freeform 15"/>
              <p:cNvSpPr/>
              <p:nvPr userDrawn="1">
                <p:custDataLst>
                  <p:tags r:id="rId144"/>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7" name="Freeform 17"/>
              <p:cNvSpPr>
                <a:spLocks noEditPoints="1"/>
              </p:cNvSpPr>
              <p:nvPr userDrawn="1">
                <p:custDataLst>
                  <p:tags r:id="rId145"/>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66" name="Freeform 19"/>
            <p:cNvSpPr>
              <a:spLocks noEditPoints="1"/>
            </p:cNvSpPr>
            <p:nvPr userDrawn="1">
              <p:custDataLst>
                <p:tags r:id="rId146"/>
              </p:custDataLst>
            </p:nvPr>
          </p:nvSpPr>
          <p:spPr bwMode="auto">
            <a:xfrm rot="1363540">
              <a:off x="9632402" y="4170211"/>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20"/>
            <p:cNvSpPr/>
            <p:nvPr userDrawn="1">
              <p:custDataLst>
                <p:tags r:id="rId147"/>
              </p:custDataLst>
            </p:nvPr>
          </p:nvSpPr>
          <p:spPr bwMode="auto">
            <a:xfrm rot="20253209">
              <a:off x="9453758" y="2862991"/>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8" name="组合 67"/>
            <p:cNvGrpSpPr/>
            <p:nvPr userDrawn="1"/>
          </p:nvGrpSpPr>
          <p:grpSpPr>
            <a:xfrm rot="2116298">
              <a:off x="10526081" y="3505998"/>
              <a:ext cx="722933" cy="629672"/>
              <a:chOff x="501650" y="3292475"/>
              <a:chExt cx="1735138" cy="1511300"/>
            </a:xfrm>
            <a:grpFill/>
          </p:grpSpPr>
          <p:sp>
            <p:nvSpPr>
              <p:cNvPr id="119" name="Freeform 5"/>
              <p:cNvSpPr/>
              <p:nvPr userDrawn="1">
                <p:custDataLst>
                  <p:tags r:id="rId148"/>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0" name="Freeform 6"/>
              <p:cNvSpPr/>
              <p:nvPr userDrawn="1">
                <p:custDataLst>
                  <p:tags r:id="rId149"/>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1" name="Freeform 7"/>
              <p:cNvSpPr/>
              <p:nvPr userDrawn="1">
                <p:custDataLst>
                  <p:tags r:id="rId150"/>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2" name="Freeform 8"/>
              <p:cNvSpPr/>
              <p:nvPr userDrawn="1">
                <p:custDataLst>
                  <p:tags r:id="rId151"/>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3" name="Freeform 9"/>
              <p:cNvSpPr/>
              <p:nvPr userDrawn="1">
                <p:custDataLst>
                  <p:tags r:id="rId152"/>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9" name="组合 68"/>
            <p:cNvGrpSpPr/>
            <p:nvPr userDrawn="1"/>
          </p:nvGrpSpPr>
          <p:grpSpPr>
            <a:xfrm rot="19680185">
              <a:off x="7879804" y="2119955"/>
              <a:ext cx="920458" cy="709092"/>
              <a:chOff x="2486025" y="3619500"/>
              <a:chExt cx="1500188" cy="1155700"/>
            </a:xfrm>
            <a:grpFill/>
          </p:grpSpPr>
          <p:sp>
            <p:nvSpPr>
              <p:cNvPr id="117" name="Freeform 26"/>
              <p:cNvSpPr>
                <a:spLocks noEditPoints="1"/>
              </p:cNvSpPr>
              <p:nvPr userDrawn="1">
                <p:custDataLst>
                  <p:tags r:id="rId153"/>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8" name="Freeform 27"/>
              <p:cNvSpPr/>
              <p:nvPr userDrawn="1">
                <p:custDataLst>
                  <p:tags r:id="rId154"/>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70" name="Freeform 29"/>
            <p:cNvSpPr>
              <a:spLocks noEditPoints="1"/>
            </p:cNvSpPr>
            <p:nvPr userDrawn="1">
              <p:custDataLst>
                <p:tags r:id="rId155"/>
              </p:custDataLst>
            </p:nvPr>
          </p:nvSpPr>
          <p:spPr bwMode="auto">
            <a:xfrm>
              <a:off x="10055814" y="1128906"/>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Freeform 5"/>
            <p:cNvSpPr>
              <a:spLocks noEditPoints="1"/>
            </p:cNvSpPr>
            <p:nvPr userDrawn="1">
              <p:custDataLst>
                <p:tags r:id="rId156"/>
              </p:custDataLst>
            </p:nvPr>
          </p:nvSpPr>
          <p:spPr bwMode="auto">
            <a:xfrm rot="1264384">
              <a:off x="11021415" y="4242039"/>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72" name="组合 71"/>
            <p:cNvGrpSpPr/>
            <p:nvPr userDrawn="1"/>
          </p:nvGrpSpPr>
          <p:grpSpPr>
            <a:xfrm rot="1013132">
              <a:off x="10896206" y="2815985"/>
              <a:ext cx="794889" cy="623974"/>
              <a:chOff x="3654425" y="5089525"/>
              <a:chExt cx="1860550" cy="1460500"/>
            </a:xfrm>
            <a:grpFill/>
          </p:grpSpPr>
          <p:sp>
            <p:nvSpPr>
              <p:cNvPr id="110" name="Freeform 12"/>
              <p:cNvSpPr>
                <a:spLocks noEditPoints="1"/>
              </p:cNvSpPr>
              <p:nvPr userDrawn="1">
                <p:custDataLst>
                  <p:tags r:id="rId157"/>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1" name="Freeform 13"/>
              <p:cNvSpPr/>
              <p:nvPr userDrawn="1">
                <p:custDataLst>
                  <p:tags r:id="rId158"/>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2" name="Freeform 14"/>
              <p:cNvSpPr/>
              <p:nvPr userDrawn="1">
                <p:custDataLst>
                  <p:tags r:id="rId159"/>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3" name="Freeform 15"/>
              <p:cNvSpPr/>
              <p:nvPr userDrawn="1">
                <p:custDataLst>
                  <p:tags r:id="rId160"/>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4" name="Freeform 16"/>
              <p:cNvSpPr/>
              <p:nvPr userDrawn="1">
                <p:custDataLst>
                  <p:tags r:id="rId161"/>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5" name="Freeform 17"/>
              <p:cNvSpPr/>
              <p:nvPr userDrawn="1">
                <p:custDataLst>
                  <p:tags r:id="rId162"/>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6" name="Freeform 18"/>
              <p:cNvSpPr/>
              <p:nvPr userDrawn="1">
                <p:custDataLst>
                  <p:tags r:id="rId163"/>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3" name="组合 72"/>
            <p:cNvGrpSpPr/>
            <p:nvPr userDrawn="1"/>
          </p:nvGrpSpPr>
          <p:grpSpPr>
            <a:xfrm>
              <a:off x="11093096" y="1325207"/>
              <a:ext cx="1301704" cy="1299270"/>
              <a:chOff x="6262688" y="5170488"/>
              <a:chExt cx="1697038" cy="1693863"/>
            </a:xfrm>
            <a:grpFill/>
          </p:grpSpPr>
          <p:sp>
            <p:nvSpPr>
              <p:cNvPr id="108" name="Freeform 19"/>
              <p:cNvSpPr>
                <a:spLocks noEditPoints="1"/>
              </p:cNvSpPr>
              <p:nvPr userDrawn="1">
                <p:custDataLst>
                  <p:tags r:id="rId164"/>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9" name="Freeform 20"/>
              <p:cNvSpPr/>
              <p:nvPr userDrawn="1">
                <p:custDataLst>
                  <p:tags r:id="rId165"/>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4" name="组合 73"/>
            <p:cNvGrpSpPr/>
            <p:nvPr userDrawn="1"/>
          </p:nvGrpSpPr>
          <p:grpSpPr>
            <a:xfrm rot="1013132">
              <a:off x="6176564" y="5290989"/>
              <a:ext cx="794889" cy="623974"/>
              <a:chOff x="3654425" y="5089525"/>
              <a:chExt cx="1860550" cy="1460500"/>
            </a:xfrm>
            <a:grpFill/>
          </p:grpSpPr>
          <p:sp>
            <p:nvSpPr>
              <p:cNvPr id="101" name="Freeform 12"/>
              <p:cNvSpPr>
                <a:spLocks noEditPoints="1"/>
              </p:cNvSpPr>
              <p:nvPr userDrawn="1">
                <p:custDataLst>
                  <p:tags r:id="rId166"/>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2" name="Freeform 13"/>
              <p:cNvSpPr/>
              <p:nvPr userDrawn="1">
                <p:custDataLst>
                  <p:tags r:id="rId167"/>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3" name="Freeform 14"/>
              <p:cNvSpPr/>
              <p:nvPr userDrawn="1">
                <p:custDataLst>
                  <p:tags r:id="rId168"/>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4" name="Freeform 15"/>
              <p:cNvSpPr/>
              <p:nvPr userDrawn="1">
                <p:custDataLst>
                  <p:tags r:id="rId169"/>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5" name="Freeform 16"/>
              <p:cNvSpPr/>
              <p:nvPr userDrawn="1">
                <p:custDataLst>
                  <p:tags r:id="rId170"/>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6" name="Freeform 17"/>
              <p:cNvSpPr/>
              <p:nvPr userDrawn="1">
                <p:custDataLst>
                  <p:tags r:id="rId171"/>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7" name="Freeform 18"/>
              <p:cNvSpPr/>
              <p:nvPr userDrawn="1">
                <p:custDataLst>
                  <p:tags r:id="rId172"/>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75" name="Freeform 19"/>
            <p:cNvSpPr>
              <a:spLocks noEditPoints="1"/>
            </p:cNvSpPr>
            <p:nvPr userDrawn="1">
              <p:custDataLst>
                <p:tags r:id="rId173"/>
              </p:custDataLst>
            </p:nvPr>
          </p:nvSpPr>
          <p:spPr bwMode="auto">
            <a:xfrm rot="3628785">
              <a:off x="4614671" y="6522288"/>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Freeform 7"/>
            <p:cNvSpPr>
              <a:spLocks noEditPoints="1"/>
            </p:cNvSpPr>
            <p:nvPr userDrawn="1">
              <p:custDataLst>
                <p:tags r:id="rId174"/>
              </p:custDataLst>
            </p:nvPr>
          </p:nvSpPr>
          <p:spPr bwMode="auto">
            <a:xfrm rot="20132266">
              <a:off x="-807207" y="5977073"/>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77" name="组合 76"/>
            <p:cNvGrpSpPr/>
            <p:nvPr userDrawn="1"/>
          </p:nvGrpSpPr>
          <p:grpSpPr>
            <a:xfrm rot="21086915">
              <a:off x="11056807" y="581802"/>
              <a:ext cx="920458" cy="709092"/>
              <a:chOff x="2486025" y="3619500"/>
              <a:chExt cx="1500188" cy="1155700"/>
            </a:xfrm>
            <a:grpFill/>
          </p:grpSpPr>
          <p:sp>
            <p:nvSpPr>
              <p:cNvPr id="99" name="Freeform 26"/>
              <p:cNvSpPr>
                <a:spLocks noEditPoints="1"/>
              </p:cNvSpPr>
              <p:nvPr userDrawn="1">
                <p:custDataLst>
                  <p:tags r:id="rId175"/>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0" name="Freeform 27"/>
              <p:cNvSpPr/>
              <p:nvPr userDrawn="1">
                <p:custDataLst>
                  <p:tags r:id="rId176"/>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8" name="组 215"/>
            <p:cNvGrpSpPr/>
            <p:nvPr userDrawn="1"/>
          </p:nvGrpSpPr>
          <p:grpSpPr>
            <a:xfrm rot="2803540">
              <a:off x="9225928" y="-1135170"/>
              <a:ext cx="337162" cy="1815987"/>
              <a:chOff x="6099175" y="2627313"/>
              <a:chExt cx="411163" cy="2214563"/>
            </a:xfrm>
            <a:grpFill/>
          </p:grpSpPr>
          <p:sp>
            <p:nvSpPr>
              <p:cNvPr id="95" name="Freeform 13"/>
              <p:cNvSpPr>
                <a:spLocks noEditPoints="1"/>
              </p:cNvSpPr>
              <p:nvPr userDrawn="1">
                <p:custDataLst>
                  <p:tags r:id="rId177"/>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6" name="Freeform 14"/>
              <p:cNvSpPr/>
              <p:nvPr userDrawn="1">
                <p:custDataLst>
                  <p:tags r:id="rId178"/>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7" name="Freeform 15"/>
              <p:cNvSpPr/>
              <p:nvPr userDrawn="1">
                <p:custDataLst>
                  <p:tags r:id="rId179"/>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8" name="Freeform 17"/>
              <p:cNvSpPr>
                <a:spLocks noEditPoints="1"/>
              </p:cNvSpPr>
              <p:nvPr userDrawn="1">
                <p:custDataLst>
                  <p:tags r:id="rId180"/>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9" name="组合 78"/>
            <p:cNvGrpSpPr/>
            <p:nvPr userDrawn="1"/>
          </p:nvGrpSpPr>
          <p:grpSpPr>
            <a:xfrm>
              <a:off x="5624277" y="6060101"/>
              <a:ext cx="1301704" cy="1299270"/>
              <a:chOff x="6262688" y="5170488"/>
              <a:chExt cx="1697038" cy="1693863"/>
            </a:xfrm>
            <a:grpFill/>
          </p:grpSpPr>
          <p:sp>
            <p:nvSpPr>
              <p:cNvPr id="93" name="Freeform 19"/>
              <p:cNvSpPr>
                <a:spLocks noEditPoints="1"/>
              </p:cNvSpPr>
              <p:nvPr userDrawn="1">
                <p:custDataLst>
                  <p:tags r:id="rId181"/>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4" name="Freeform 20"/>
              <p:cNvSpPr/>
              <p:nvPr userDrawn="1">
                <p:custDataLst>
                  <p:tags r:id="rId182"/>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0" name="Freeform 9"/>
            <p:cNvSpPr>
              <a:spLocks noEditPoints="1"/>
            </p:cNvSpPr>
            <p:nvPr userDrawn="1">
              <p:custDataLst>
                <p:tags r:id="rId183"/>
              </p:custDataLst>
            </p:nvPr>
          </p:nvSpPr>
          <p:spPr bwMode="auto">
            <a:xfrm>
              <a:off x="11714474" y="3298829"/>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81" name="组合 80"/>
            <p:cNvGrpSpPr/>
            <p:nvPr userDrawn="1"/>
          </p:nvGrpSpPr>
          <p:grpSpPr>
            <a:xfrm rot="2116298">
              <a:off x="718678" y="6474358"/>
              <a:ext cx="1228067" cy="1069643"/>
              <a:chOff x="501650" y="3292475"/>
              <a:chExt cx="1735138" cy="1511300"/>
            </a:xfrm>
            <a:grpFill/>
          </p:grpSpPr>
          <p:sp>
            <p:nvSpPr>
              <p:cNvPr id="88" name="Freeform 5"/>
              <p:cNvSpPr/>
              <p:nvPr userDrawn="1">
                <p:custDataLst>
                  <p:tags r:id="rId184"/>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9" name="Freeform 6"/>
              <p:cNvSpPr/>
              <p:nvPr userDrawn="1">
                <p:custDataLst>
                  <p:tags r:id="rId185"/>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0" name="Freeform 7"/>
              <p:cNvSpPr/>
              <p:nvPr userDrawn="1">
                <p:custDataLst>
                  <p:tags r:id="rId186"/>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Freeform 8"/>
              <p:cNvSpPr/>
              <p:nvPr userDrawn="1">
                <p:custDataLst>
                  <p:tags r:id="rId187"/>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2" name="Freeform 9"/>
              <p:cNvSpPr/>
              <p:nvPr userDrawn="1">
                <p:custDataLst>
                  <p:tags r:id="rId188"/>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2" name="Freeform 7"/>
            <p:cNvSpPr>
              <a:spLocks noEditPoints="1"/>
            </p:cNvSpPr>
            <p:nvPr userDrawn="1">
              <p:custDataLst>
                <p:tags r:id="rId189"/>
              </p:custDataLst>
            </p:nvPr>
          </p:nvSpPr>
          <p:spPr bwMode="auto">
            <a:xfrm rot="20132266">
              <a:off x="9763146" y="-248950"/>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83" name="组合 82"/>
            <p:cNvGrpSpPr/>
            <p:nvPr userDrawn="1"/>
          </p:nvGrpSpPr>
          <p:grpSpPr>
            <a:xfrm rot="1406730">
              <a:off x="10767933" y="5424446"/>
              <a:ext cx="1301704" cy="1299270"/>
              <a:chOff x="6262688" y="5170488"/>
              <a:chExt cx="1697038" cy="1693863"/>
            </a:xfrm>
            <a:grpFill/>
          </p:grpSpPr>
          <p:sp>
            <p:nvSpPr>
              <p:cNvPr id="86" name="Freeform 19"/>
              <p:cNvSpPr>
                <a:spLocks noEditPoints="1"/>
              </p:cNvSpPr>
              <p:nvPr userDrawn="1">
                <p:custDataLst>
                  <p:tags r:id="rId190"/>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Freeform 20"/>
              <p:cNvSpPr/>
              <p:nvPr userDrawn="1">
                <p:custDataLst>
                  <p:tags r:id="rId191"/>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4" name="Freeform 19"/>
            <p:cNvSpPr>
              <a:spLocks noEditPoints="1"/>
            </p:cNvSpPr>
            <p:nvPr userDrawn="1">
              <p:custDataLst>
                <p:tags r:id="rId192"/>
              </p:custDataLst>
            </p:nvPr>
          </p:nvSpPr>
          <p:spPr bwMode="auto">
            <a:xfrm rot="21418795">
              <a:off x="11264443" y="4898673"/>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Freeform 7"/>
            <p:cNvSpPr>
              <a:spLocks noEditPoints="1"/>
            </p:cNvSpPr>
            <p:nvPr userDrawn="1">
              <p:custDataLst>
                <p:tags r:id="rId193"/>
              </p:custDataLst>
            </p:nvPr>
          </p:nvSpPr>
          <p:spPr bwMode="auto">
            <a:xfrm rot="20132266">
              <a:off x="-1305" y="1375882"/>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5C1CEBB3-B506-43A5-8ADF-1F6228832779}"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02129656-F08C-4B6B-81EB-89FE10BFCF8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p:custDataLst>
              <p:tags r:id="rId3"/>
            </p:custDataLst>
          </p:nvPr>
        </p:nvSpPr>
        <p:spPr>
          <a:xfrm>
            <a:off x="910386" y="256837"/>
            <a:ext cx="5526505" cy="657559"/>
          </a:xfrm>
          <a:prstGeom prst="rect">
            <a:avLst/>
          </a:prstGeom>
        </p:spPr>
        <p:txBody>
          <a:bodyPr/>
          <a:lstStyle>
            <a:lvl1pPr>
              <a:defRPr sz="3200">
                <a:solidFill>
                  <a:schemeClr val="bg1"/>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5C1CEBB3-B506-43A5-8ADF-1F6228832779}"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02129656-F08C-4B6B-81EB-89FE10BFCF81}" type="slidenum">
              <a:rPr lang="zh-CN" altLang="en-US" smtClean="0"/>
            </a:fld>
            <a:endParaRPr lang="zh-CN" altLang="en-US"/>
          </a:p>
        </p:txBody>
      </p:sp>
      <p:pic>
        <p:nvPicPr>
          <p:cNvPr id="9" name="图形 8" descr="书籍"/>
          <p:cNvPicPr>
            <a:picLocks noChangeAspect="1"/>
          </p:cNvPicPr>
          <p:nvPr userDrawn="1">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0" name="矩形 9"/>
          <p:cNvSpPr/>
          <p:nvPr userDrawn="1">
            <p:custDataLst>
              <p:tags r:id="rId9"/>
            </p:custDataLst>
          </p:nvPr>
        </p:nvSpPr>
        <p:spPr>
          <a:xfrm>
            <a:off x="0" y="0"/>
            <a:ext cx="12192000" cy="926428"/>
          </a:xfrm>
          <a:prstGeom prst="rect">
            <a:avLst/>
          </a:prstGeom>
          <a:blipFill>
            <a:blip r:embed="rId10"/>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descr="logo"/>
          <p:cNvPicPr>
            <a:picLocks noChangeAspect="1"/>
          </p:cNvPicPr>
          <p:nvPr userDrawn="1">
            <p:custDataLst>
              <p:tags r:id="rId11"/>
            </p:custDataLst>
          </p:nvPr>
        </p:nvPicPr>
        <p:blipFill>
          <a:blip r:embed="rId12"/>
          <a:stretch>
            <a:fillRect/>
          </a:stretch>
        </p:blipFill>
        <p:spPr>
          <a:xfrm>
            <a:off x="9090025" y="0"/>
            <a:ext cx="993775" cy="926465"/>
          </a:xfrm>
          <a:prstGeom prst="rect">
            <a:avLst/>
          </a:prstGeom>
        </p:spPr>
      </p:pic>
      <p:sp>
        <p:nvSpPr>
          <p:cNvPr id="13" name="文本框 12"/>
          <p:cNvSpPr txBox="1"/>
          <p:nvPr userDrawn="1">
            <p:custDataLst>
              <p:tags r:id="rId13"/>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First Slide">
    <p:spTree>
      <p:nvGrpSpPr>
        <p:cNvPr id="1" name=""/>
        <p:cNvGrpSpPr/>
        <p:nvPr/>
      </p:nvGrpSpPr>
      <p:grpSpPr>
        <a:xfrm>
          <a:off x="0" y="0"/>
          <a:ext cx="0" cy="0"/>
          <a:chOff x="0" y="0"/>
          <a:chExt cx="0" cy="0"/>
        </a:xfrm>
      </p:grpSpPr>
      <p:sp>
        <p:nvSpPr>
          <p:cNvPr id="15" name="Picture Placeholder 2"/>
          <p:cNvSpPr>
            <a:spLocks noGrp="1"/>
          </p:cNvSpPr>
          <p:nvPr>
            <p:ph type="pic" sz="quarter" idx="17"/>
            <p:custDataLst>
              <p:tags r:id="rId2"/>
            </p:custDataLst>
          </p:nvPr>
        </p:nvSpPr>
        <p:spPr>
          <a:xfrm>
            <a:off x="4064000" y="441961"/>
            <a:ext cx="4368800" cy="3083564"/>
          </a:xfrm>
          <a:custGeom>
            <a:avLst/>
            <a:gdLst/>
            <a:ahLst/>
            <a:cxnLst/>
            <a:rect l="l" t="t" r="r" b="b"/>
            <a:pathLst>
              <a:path w="3276600" h="3124200">
                <a:moveTo>
                  <a:pt x="3028950" y="0"/>
                </a:moveTo>
                <a:cubicBezTo>
                  <a:pt x="3165723" y="0"/>
                  <a:pt x="3276600" y="110877"/>
                  <a:pt x="3276600" y="247650"/>
                </a:cubicBezTo>
                <a:lnTo>
                  <a:pt x="3276600" y="2876550"/>
                </a:lnTo>
                <a:cubicBezTo>
                  <a:pt x="3276600" y="3013323"/>
                  <a:pt x="3165723" y="3124200"/>
                  <a:pt x="3028950" y="3124200"/>
                </a:cubicBezTo>
                <a:cubicBezTo>
                  <a:pt x="2892177" y="3124200"/>
                  <a:pt x="2781300" y="3013323"/>
                  <a:pt x="2781300" y="2876550"/>
                </a:cubicBezTo>
                <a:lnTo>
                  <a:pt x="2781300" y="247650"/>
                </a:lnTo>
                <a:cubicBezTo>
                  <a:pt x="2781300" y="110877"/>
                  <a:pt x="2892177" y="0"/>
                  <a:pt x="3028950" y="0"/>
                </a:cubicBezTo>
                <a:close/>
                <a:moveTo>
                  <a:pt x="2317750" y="0"/>
                </a:moveTo>
                <a:cubicBezTo>
                  <a:pt x="2454523" y="0"/>
                  <a:pt x="2565400" y="110877"/>
                  <a:pt x="2565400" y="247650"/>
                </a:cubicBezTo>
                <a:lnTo>
                  <a:pt x="2565400" y="2876550"/>
                </a:lnTo>
                <a:cubicBezTo>
                  <a:pt x="2565400" y="3013323"/>
                  <a:pt x="2454523" y="3124200"/>
                  <a:pt x="2317750" y="3124200"/>
                </a:cubicBezTo>
                <a:cubicBezTo>
                  <a:pt x="2180977" y="3124200"/>
                  <a:pt x="2070100" y="3013323"/>
                  <a:pt x="2070100" y="2876550"/>
                </a:cubicBezTo>
                <a:lnTo>
                  <a:pt x="2070100" y="247650"/>
                </a:lnTo>
                <a:cubicBezTo>
                  <a:pt x="2070100" y="110877"/>
                  <a:pt x="2180977" y="0"/>
                  <a:pt x="2317750" y="0"/>
                </a:cubicBezTo>
                <a:close/>
                <a:moveTo>
                  <a:pt x="1606550" y="0"/>
                </a:moveTo>
                <a:cubicBezTo>
                  <a:pt x="1743323" y="0"/>
                  <a:pt x="1854200" y="110877"/>
                  <a:pt x="1854200" y="247650"/>
                </a:cubicBezTo>
                <a:lnTo>
                  <a:pt x="1854200" y="2876550"/>
                </a:lnTo>
                <a:cubicBezTo>
                  <a:pt x="1854200" y="3013323"/>
                  <a:pt x="1743323" y="3124200"/>
                  <a:pt x="1606550" y="3124200"/>
                </a:cubicBezTo>
                <a:cubicBezTo>
                  <a:pt x="1469777" y="3124200"/>
                  <a:pt x="1358900" y="3013323"/>
                  <a:pt x="1358900" y="2876550"/>
                </a:cubicBezTo>
                <a:lnTo>
                  <a:pt x="1358900" y="247650"/>
                </a:lnTo>
                <a:cubicBezTo>
                  <a:pt x="1358900" y="110877"/>
                  <a:pt x="1469777" y="0"/>
                  <a:pt x="1606550" y="0"/>
                </a:cubicBezTo>
                <a:close/>
                <a:moveTo>
                  <a:pt x="958850" y="0"/>
                </a:moveTo>
                <a:cubicBezTo>
                  <a:pt x="1095623" y="0"/>
                  <a:pt x="1206500" y="110877"/>
                  <a:pt x="1206500" y="247650"/>
                </a:cubicBezTo>
                <a:lnTo>
                  <a:pt x="1206500" y="2876550"/>
                </a:lnTo>
                <a:cubicBezTo>
                  <a:pt x="1206500" y="3013323"/>
                  <a:pt x="1095623" y="3124200"/>
                  <a:pt x="958850" y="3124200"/>
                </a:cubicBezTo>
                <a:cubicBezTo>
                  <a:pt x="822077" y="3124200"/>
                  <a:pt x="711200" y="3013323"/>
                  <a:pt x="711200" y="2876550"/>
                </a:cubicBezTo>
                <a:lnTo>
                  <a:pt x="711200" y="247650"/>
                </a:lnTo>
                <a:cubicBezTo>
                  <a:pt x="711200" y="110877"/>
                  <a:pt x="822077" y="0"/>
                  <a:pt x="958850" y="0"/>
                </a:cubicBezTo>
                <a:close/>
                <a:moveTo>
                  <a:pt x="247650" y="0"/>
                </a:moveTo>
                <a:cubicBezTo>
                  <a:pt x="384423" y="0"/>
                  <a:pt x="495300" y="110877"/>
                  <a:pt x="495300" y="247650"/>
                </a:cubicBezTo>
                <a:lnTo>
                  <a:pt x="495300" y="2876550"/>
                </a:lnTo>
                <a:cubicBezTo>
                  <a:pt x="495300" y="3013323"/>
                  <a:pt x="384423" y="3124200"/>
                  <a:pt x="247650" y="3124200"/>
                </a:cubicBezTo>
                <a:cubicBezTo>
                  <a:pt x="110877" y="3124200"/>
                  <a:pt x="0" y="3013323"/>
                  <a:pt x="0" y="2876550"/>
                </a:cubicBezTo>
                <a:lnTo>
                  <a:pt x="0" y="247650"/>
                </a:lnTo>
                <a:cubicBezTo>
                  <a:pt x="0" y="110877"/>
                  <a:pt x="110877" y="0"/>
                  <a:pt x="247650"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dirty="0"/>
          </a:p>
        </p:txBody>
      </p:sp>
      <p:sp>
        <p:nvSpPr>
          <p:cNvPr id="8" name="Text Placeholder 7"/>
          <p:cNvSpPr>
            <a:spLocks noGrp="1"/>
          </p:cNvSpPr>
          <p:nvPr>
            <p:ph type="body" sz="quarter" idx="10" hasCustomPrompt="1"/>
            <p:custDataLst>
              <p:tags r:id="rId3"/>
            </p:custDataLst>
          </p:nvPr>
        </p:nvSpPr>
        <p:spPr>
          <a:xfrm>
            <a:off x="3954706" y="3801452"/>
            <a:ext cx="4511964" cy="431780"/>
          </a:xfrm>
          <a:prstGeom prst="rect">
            <a:avLst/>
          </a:prstGeom>
        </p:spPr>
        <p:txBody>
          <a:bodyPr vert="horz" lIns="0" tIns="40504" rIns="0" bIns="40504" anchor="ctr"/>
          <a:lstStyle>
            <a:lvl1pPr marL="0" indent="0" algn="ctr">
              <a:lnSpc>
                <a:spcPct val="100000"/>
              </a:lnSpc>
              <a:spcBef>
                <a:spcPts val="0"/>
              </a:spcBef>
              <a:buNone/>
              <a:defRPr sz="3500" b="1">
                <a:solidFill>
                  <a:schemeClr val="bg1"/>
                </a:solidFill>
                <a:latin typeface="Lato Hairline" panose="020F0202020204030203"/>
                <a:cs typeface="Lato Hairline" panose="020F0202020204030203"/>
              </a:defRPr>
            </a:lvl1pPr>
          </a:lstStyle>
          <a:p>
            <a:pPr lvl="0"/>
            <a:r>
              <a:rPr lang="es-ES_tradnl" dirty="0"/>
              <a:t>TITLE HERE</a:t>
            </a:r>
            <a:endParaRPr lang="es-ES_tradnl" dirty="0"/>
          </a:p>
        </p:txBody>
      </p:sp>
      <p:sp>
        <p:nvSpPr>
          <p:cNvPr id="9" name="Text Placeholder 7"/>
          <p:cNvSpPr>
            <a:spLocks noGrp="1"/>
          </p:cNvSpPr>
          <p:nvPr>
            <p:ph type="body" sz="quarter" idx="11" hasCustomPrompt="1"/>
            <p:custDataLst>
              <p:tags r:id="rId4"/>
            </p:custDataLst>
          </p:nvPr>
        </p:nvSpPr>
        <p:spPr>
          <a:xfrm>
            <a:off x="3954706" y="4385250"/>
            <a:ext cx="4511964" cy="228451"/>
          </a:xfrm>
          <a:prstGeom prst="rect">
            <a:avLst/>
          </a:prstGeom>
        </p:spPr>
        <p:txBody>
          <a:bodyPr vert="horz" lIns="0" tIns="40504" rIns="0" bIns="40504" anchor="ctr"/>
          <a:lstStyle>
            <a:lvl1pPr marL="0" indent="0" algn="ctr">
              <a:lnSpc>
                <a:spcPct val="100000"/>
              </a:lnSpc>
              <a:spcBef>
                <a:spcPts val="0"/>
              </a:spcBef>
              <a:spcAft>
                <a:spcPts val="0"/>
              </a:spcAft>
              <a:buNone/>
              <a:defRPr sz="1500" b="0">
                <a:solidFill>
                  <a:schemeClr val="accent3"/>
                </a:solidFill>
                <a:latin typeface="Lato Light" panose="020F0302020204030203"/>
                <a:cs typeface="Lato Light" panose="020F0302020204030203"/>
              </a:defRPr>
            </a:lvl1pPr>
          </a:lstStyle>
          <a:p>
            <a:pPr lvl="0"/>
            <a:r>
              <a:rPr lang="es-ES_tradnl" dirty="0" err="1"/>
              <a:t>Ultimate</a:t>
            </a:r>
            <a:r>
              <a:rPr lang="es-ES_tradnl" dirty="0"/>
              <a:t> </a:t>
            </a:r>
            <a:r>
              <a:rPr lang="es-ES_tradnl" dirty="0" err="1"/>
              <a:t>Powerpoint</a:t>
            </a:r>
            <a:r>
              <a:rPr lang="es-ES_tradnl" dirty="0"/>
              <a:t> </a:t>
            </a:r>
            <a:r>
              <a:rPr lang="es-ES_tradnl" dirty="0" err="1"/>
              <a:t>Template</a:t>
            </a:r>
            <a:endParaRPr lang="es-ES_tradnl" dirty="0"/>
          </a:p>
        </p:txBody>
      </p:sp>
      <p:sp>
        <p:nvSpPr>
          <p:cNvPr id="10" name="Text Placeholder 2"/>
          <p:cNvSpPr>
            <a:spLocks noGrp="1"/>
          </p:cNvSpPr>
          <p:nvPr>
            <p:ph type="body" sz="quarter" idx="16" hasCustomPrompt="1"/>
            <p:custDataLst>
              <p:tags r:id="rId5"/>
            </p:custDataLst>
          </p:nvPr>
        </p:nvSpPr>
        <p:spPr>
          <a:xfrm>
            <a:off x="3975167" y="4817825"/>
            <a:ext cx="4488039" cy="1536868"/>
          </a:xfrm>
          <a:prstGeom prst="rect">
            <a:avLst/>
          </a:prstGeom>
        </p:spPr>
        <p:txBody>
          <a:bodyPr vert="horz" lIns="0" tIns="0" rIns="0" bIns="0"/>
          <a:lstStyle>
            <a:lvl1pPr marL="0" indent="0" algn="ctr">
              <a:lnSpc>
                <a:spcPct val="130000"/>
              </a:lnSpc>
              <a:buNone/>
              <a:defRPr sz="1200">
                <a:solidFill>
                  <a:schemeClr val="tx1">
                    <a:lumMod val="50000"/>
                    <a:lumOff val="50000"/>
                  </a:schemeClr>
                </a:solidFill>
                <a:latin typeface="Oxford Regular" panose="02010600010101010101" charset="-122"/>
                <a:cs typeface="Oxford Regular" panose="02010600010101010101" charset="-122"/>
                <a:sym typeface="Oxford Regular" panose="02010600010101010101" charset="-122"/>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400"/>
                                        <p:tgtEl>
                                          <p:spTgt spid="15"/>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400"/>
                                        <p:tgtEl>
                                          <p:spTgt spid="8">
                                            <p:txEl>
                                              <p:pRg st="0" end="0"/>
                                            </p:txEl>
                                          </p:spTgt>
                                        </p:tgtEl>
                                      </p:cBhvr>
                                    </p:animEffect>
                                    <p:anim calcmode="lin" valueType="num">
                                      <p:cBhvr>
                                        <p:cTn id="11" dur="4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2" dur="400" fill="hold"/>
                                        <p:tgtEl>
                                          <p:spTgt spid="8">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500"/>
                                        <p:tgtEl>
                                          <p:spTgt spid="9">
                                            <p:txEl>
                                              <p:pRg st="0" end="0"/>
                                            </p:txEl>
                                          </p:spTgt>
                                        </p:tgtEl>
                                      </p:cBhvr>
                                    </p:animEffect>
                                    <p:anim calcmode="lin" valueType="num">
                                      <p:cBhvr>
                                        <p:cTn id="16"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9">
                                            <p:txEl>
                                              <p:pRg st="0" end="0"/>
                                            </p:txEl>
                                          </p:spTgt>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80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fade">
                                      <p:cBhvr>
                                        <p:cTn id="20"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8" grpId="0" build="p">
        <p:tmplLst>
          <p:tmpl lvl="1">
            <p:tnLst>
              <p:par>
                <p:cTn presetID="42"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400"/>
                        <p:tgtEl>
                          <p:spTgt spid="8"/>
                        </p:tgtEl>
                      </p:cBhvr>
                    </p:animEffect>
                    <p:anim calcmode="lin" valueType="num">
                      <p:cBhvr>
                        <p:cTn dur="400" fill="hold"/>
                        <p:tgtEl>
                          <p:spTgt spid="8"/>
                        </p:tgtEl>
                        <p:attrNameLst>
                          <p:attrName>ppt_x</p:attrName>
                        </p:attrNameLst>
                      </p:cBhvr>
                      <p:tavLst>
                        <p:tav tm="0">
                          <p:val>
                            <p:strVal val="#ppt_x"/>
                          </p:val>
                        </p:tav>
                        <p:tav tm="100000">
                          <p:val>
                            <p:strVal val="#ppt_x"/>
                          </p:val>
                        </p:tav>
                      </p:tavLst>
                    </p:anim>
                    <p:anim calcmode="lin" valueType="num">
                      <p:cBhvr>
                        <p:cTn dur="400" fill="hold"/>
                        <p:tgtEl>
                          <p:spTgt spid="8"/>
                        </p:tgtEl>
                        <p:attrNameLst>
                          <p:attrName>ppt_y</p:attrName>
                        </p:attrNameLst>
                      </p:cBhvr>
                      <p:tavLst>
                        <p:tav tm="0">
                          <p:val>
                            <p:strVal val="#ppt_y+.1"/>
                          </p:val>
                        </p:tav>
                        <p:tav tm="100000">
                          <p:val>
                            <p:strVal val="#ppt_y"/>
                          </p:val>
                        </p:tav>
                      </p:tavLst>
                    </p:anim>
                  </p:childTnLst>
                </p:cTn>
              </p:par>
            </p:tnLst>
          </p:tmpl>
        </p:tmplLst>
      </p:bldP>
      <p:bldP spid="9" grpId="0" build="p">
        <p:tmplLst>
          <p:tmpl lvl="1">
            <p:tnLst>
              <p:par>
                <p:cTn presetID="42" presetClass="entr" presetSubtype="0" fill="hold" nodeType="withEffect">
                  <p:stCondLst>
                    <p:cond delay="2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anim calcmode="lin" valueType="num">
                      <p:cBhvr>
                        <p:cTn dur="500" fill="hold"/>
                        <p:tgtEl>
                          <p:spTgt spid="9"/>
                        </p:tgtEl>
                        <p:attrNameLst>
                          <p:attrName>ppt_x</p:attrName>
                        </p:attrNameLst>
                      </p:cBhvr>
                      <p:tavLst>
                        <p:tav tm="0">
                          <p:val>
                            <p:strVal val="#ppt_x"/>
                          </p:val>
                        </p:tav>
                        <p:tav tm="100000">
                          <p:val>
                            <p:strVal val="#ppt_x"/>
                          </p:val>
                        </p:tav>
                      </p:tavLst>
                    </p:anim>
                    <p:anim calcmode="lin" valueType="num">
                      <p:cBhvr>
                        <p:cTn dur="500" fill="hold"/>
                        <p:tgtEl>
                          <p:spTgt spid="9"/>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10" presetClass="entr" presetSubtype="0" fill="hold" nodeType="withEffect">
                  <p:stCondLst>
                    <p:cond delay="8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6" Type="http://schemas.openxmlformats.org/officeDocument/2006/relationships/theme" Target="../theme/theme3.xml"/><Relationship Id="rId15" Type="http://schemas.openxmlformats.org/officeDocument/2006/relationships/tags" Target="../tags/tag324.xml"/><Relationship Id="rId14" Type="http://schemas.openxmlformats.org/officeDocument/2006/relationships/tags" Target="../tags/tag323.xml"/><Relationship Id="rId13" Type="http://schemas.openxmlformats.org/officeDocument/2006/relationships/tags" Target="../tags/tag322.xml"/><Relationship Id="rId12" Type="http://schemas.openxmlformats.org/officeDocument/2006/relationships/tags" Target="../tags/tag321.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12"/>
            </p:custDataLst>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1CEBB3-B506-43A5-8ADF-1F6228832779}" type="datetimeFigureOut">
              <a:rPr lang="zh-CN" altLang="en-US" smtClean="0"/>
            </a:fld>
            <a:endParaRPr lang="zh-CN" altLang="en-US"/>
          </a:p>
        </p:txBody>
      </p:sp>
      <p:sp>
        <p:nvSpPr>
          <p:cNvPr id="5" name="页脚占位符 4"/>
          <p:cNvSpPr>
            <a:spLocks noGrp="1"/>
          </p:cNvSpPr>
          <p:nvPr>
            <p:ph type="ftr" sz="quarter" idx="3"/>
            <p:custDataLst>
              <p:tags r:id="rId13"/>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4"/>
            </p:custDataLst>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129656-F08C-4B6B-81EB-89FE10BFCF81}" type="slidenum">
              <a:rPr lang="zh-CN" altLang="en-US" smtClean="0"/>
            </a:fld>
            <a:endParaRPr lang="zh-CN" altLang="en-US"/>
          </a:p>
        </p:txBody>
      </p:sp>
    </p:spTree>
    <p:custDataLst>
      <p:tags r:id="rId15"/>
    </p:custData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mc:AlternateContent xmlns:mc="http://schemas.openxmlformats.org/markup-compatibility/2006">
    <mc:Choice xmlns:p14="http://schemas.microsoft.com/office/powerpoint/2010/main" Requires="p14">
      <p:transition spd="slow" p14:dur="1250"/>
    </mc:Choice>
    <mc:Fallback>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9.xml"/><Relationship Id="rId2" Type="http://schemas.openxmlformats.org/officeDocument/2006/relationships/tags" Target="../tags/tag326.xml"/><Relationship Id="rId1" Type="http://schemas.openxmlformats.org/officeDocument/2006/relationships/tags" Target="../tags/tag325.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9.xml"/><Relationship Id="rId2" Type="http://schemas.openxmlformats.org/officeDocument/2006/relationships/tags" Target="../tags/tag328.xml"/><Relationship Id="rId1" Type="http://schemas.openxmlformats.org/officeDocument/2006/relationships/tags" Target="../tags/tag327.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9.xml"/><Relationship Id="rId2" Type="http://schemas.openxmlformats.org/officeDocument/2006/relationships/tags" Target="../tags/tag330.xml"/><Relationship Id="rId1" Type="http://schemas.openxmlformats.org/officeDocument/2006/relationships/tags" Target="../tags/tag329.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9.xml"/><Relationship Id="rId6" Type="http://schemas.openxmlformats.org/officeDocument/2006/relationships/tags" Target="../tags/tag332.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ags" Target="../tags/tag331.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9.xml"/><Relationship Id="rId6" Type="http://schemas.openxmlformats.org/officeDocument/2006/relationships/tags" Target="../tags/tag334.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ags" Target="../tags/tag333.xml"/></Relationships>
</file>

<file path=ppt/slides/_rels/slide10.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6.png"/><Relationship Id="rId12" Type="http://schemas.openxmlformats.org/officeDocument/2006/relationships/notesSlide" Target="../notesSlides/notesSlide10.xml"/><Relationship Id="rId11" Type="http://schemas.openxmlformats.org/officeDocument/2006/relationships/slideLayout" Target="../slideLayouts/slideLayout19.xml"/><Relationship Id="rId10" Type="http://schemas.openxmlformats.org/officeDocument/2006/relationships/tags" Target="../tags/tag336.xml"/><Relationship Id="rId1" Type="http://schemas.openxmlformats.org/officeDocument/2006/relationships/tags" Target="../tags/tag335.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9.xml"/><Relationship Id="rId6" Type="http://schemas.openxmlformats.org/officeDocument/2006/relationships/tags" Target="../tags/tag338.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tags" Target="../tags/tag337.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9.xml"/><Relationship Id="rId3" Type="http://schemas.openxmlformats.org/officeDocument/2006/relationships/tags" Target="../tags/tag340.xml"/><Relationship Id="rId2" Type="http://schemas.openxmlformats.org/officeDocument/2006/relationships/image" Target="../media/image6.png"/><Relationship Id="rId1" Type="http://schemas.openxmlformats.org/officeDocument/2006/relationships/tags" Target="../tags/tag339.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19.xml"/><Relationship Id="rId7" Type="http://schemas.openxmlformats.org/officeDocument/2006/relationships/tags" Target="../tags/tag34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9.png"/><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tags" Target="../tags/tag341.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tags" Target="../tags/tag344.xml"/><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9.png"/><Relationship Id="rId3" Type="http://schemas.openxmlformats.org/officeDocument/2006/relationships/image" Target="../media/image19.png"/><Relationship Id="rId2" Type="http://schemas.openxmlformats.org/officeDocument/2006/relationships/image" Target="../media/image6.png"/><Relationship Id="rId10" Type="http://schemas.openxmlformats.org/officeDocument/2006/relationships/notesSlide" Target="../notesSlides/notesSlide14.xml"/><Relationship Id="rId1" Type="http://schemas.openxmlformats.org/officeDocument/2006/relationships/tags" Target="../tags/tag343.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tags" Target="../tags/tag346.xml"/><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9.png"/><Relationship Id="rId3" Type="http://schemas.openxmlformats.org/officeDocument/2006/relationships/image" Target="../media/image19.png"/><Relationship Id="rId2" Type="http://schemas.openxmlformats.org/officeDocument/2006/relationships/image" Target="../media/image6.png"/><Relationship Id="rId10" Type="http://schemas.openxmlformats.org/officeDocument/2006/relationships/notesSlide" Target="../notesSlides/notesSlide15.xml"/><Relationship Id="rId1" Type="http://schemas.openxmlformats.org/officeDocument/2006/relationships/tags" Target="../tags/tag345.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9.xml"/><Relationship Id="rId4" Type="http://schemas.openxmlformats.org/officeDocument/2006/relationships/tags" Target="../tags/tag348.xml"/><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tags" Target="../tags/tag347.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9.xml"/><Relationship Id="rId4" Type="http://schemas.openxmlformats.org/officeDocument/2006/relationships/tags" Target="../tags/tag350.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tags" Target="../tags/tag349.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9.xml"/><Relationship Id="rId4" Type="http://schemas.openxmlformats.org/officeDocument/2006/relationships/tags" Target="../tags/tag352.xml"/><Relationship Id="rId3" Type="http://schemas.openxmlformats.org/officeDocument/2006/relationships/image" Target="../media/image26.png"/><Relationship Id="rId2" Type="http://schemas.openxmlformats.org/officeDocument/2006/relationships/image" Target="../media/image6.png"/><Relationship Id="rId1" Type="http://schemas.openxmlformats.org/officeDocument/2006/relationships/tags" Target="../tags/tag351.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9.xml"/><Relationship Id="rId3" Type="http://schemas.openxmlformats.org/officeDocument/2006/relationships/tags" Target="../tags/tag354.xml"/><Relationship Id="rId2" Type="http://schemas.openxmlformats.org/officeDocument/2006/relationships/image" Target="../media/image6.png"/><Relationship Id="rId1" Type="http://schemas.openxmlformats.org/officeDocument/2006/relationships/tags" Target="../tags/tag353.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19.xml"/><Relationship Id="rId5" Type="http://schemas.openxmlformats.org/officeDocument/2006/relationships/tags" Target="../tags/tag356.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tags" Target="../tags/tag355.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9.xml"/><Relationship Id="rId4" Type="http://schemas.openxmlformats.org/officeDocument/2006/relationships/tags" Target="../tags/tag358.xml"/><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tags" Target="../tags/tag357.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2.xml"/><Relationship Id="rId4" Type="http://schemas.openxmlformats.org/officeDocument/2006/relationships/image" Target="../media/image30.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31.jpe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9" Type="http://schemas.openxmlformats.org/officeDocument/2006/relationships/tags" Target="../tags/tag364.xml"/><Relationship Id="rId8" Type="http://schemas.openxmlformats.org/officeDocument/2006/relationships/tags" Target="../tags/tag363.xml"/><Relationship Id="rId7" Type="http://schemas.openxmlformats.org/officeDocument/2006/relationships/tags" Target="../tags/tag362.xml"/><Relationship Id="rId6" Type="http://schemas.openxmlformats.org/officeDocument/2006/relationships/tags" Target="../tags/tag361.xml"/><Relationship Id="rId5" Type="http://schemas.openxmlformats.org/officeDocument/2006/relationships/tags" Target="../tags/tag360.xml"/><Relationship Id="rId4" Type="http://schemas.openxmlformats.org/officeDocument/2006/relationships/tags" Target="../tags/tag359.xml"/><Relationship Id="rId3" Type="http://schemas.openxmlformats.org/officeDocument/2006/relationships/image" Target="../media/image3.png"/><Relationship Id="rId2" Type="http://schemas.openxmlformats.org/officeDocument/2006/relationships/image" Target="../media/image2.png"/><Relationship Id="rId14" Type="http://schemas.openxmlformats.org/officeDocument/2006/relationships/notesSlide" Target="../notesSlides/notesSlide26.xml"/><Relationship Id="rId13" Type="http://schemas.openxmlformats.org/officeDocument/2006/relationships/slideLayout" Target="../slideLayouts/slideLayout12.xml"/><Relationship Id="rId12" Type="http://schemas.openxmlformats.org/officeDocument/2006/relationships/tags" Target="../tags/tag367.xml"/><Relationship Id="rId11" Type="http://schemas.openxmlformats.org/officeDocument/2006/relationships/tags" Target="../tags/tag366.xml"/><Relationship Id="rId10" Type="http://schemas.openxmlformats.org/officeDocument/2006/relationships/tags" Target="../tags/tag365.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3937000"/>
          </a:xfrm>
          <a:prstGeom prst="roundRect">
            <a:avLst>
              <a:gd name="adj" fmla="val 0"/>
            </a:avLst>
          </a:prstGeom>
          <a:solidFill>
            <a:srgbClr val="0D2C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889000"/>
            <a:ext cx="10922000" cy="2413000"/>
          </a:xfrm>
          <a:prstGeom prst="roundRect">
            <a:avLst>
              <a:gd name="adj" fmla="val 0"/>
            </a:avLst>
          </a:prstGeom>
          <a:solidFill>
            <a:srgbClr val="FFFFFF">
              <a:alpha val="5000"/>
            </a:srgbClr>
          </a:solidFill>
          <a:ln w="25400" cap="flat" cmpd="sng">
            <a:solidFill>
              <a:srgbClr val="FFFFFF">
                <a:alpha val="85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889000" y="1143000"/>
            <a:ext cx="10414000" cy="1397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处理器微架构侧信道漏洞安全测试技术研究</a:t>
            </a:r>
            <a:endParaRPr lang="en-US" sz="1100"/>
          </a:p>
        </p:txBody>
      </p:sp>
      <p:sp>
        <p:nvSpPr>
          <p:cNvPr id="5" name="AutoShape 5"/>
          <p:cNvSpPr/>
          <p:nvPr/>
        </p:nvSpPr>
        <p:spPr>
          <a:xfrm>
            <a:off x="889000" y="2667000"/>
            <a:ext cx="10414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D1DBE9"/>
                </a:solidFill>
                <a:latin typeface="Noto Sans SC" panose="020B0200000000000000" charset="-122"/>
                <a:ea typeface="Noto Sans SC" panose="020B0200000000000000" charset="-122"/>
                <a:cs typeface="Noto Sans SC" panose="020B0200000000000000" charset="-122"/>
                <a:sym typeface="Noto Sans SC" panose="020B0200000000000000" charset="-122"/>
              </a:rPr>
              <a:t>毕业论文答辩</a:t>
            </a:r>
            <a:endParaRPr lang="en-US" sz="1100"/>
          </a:p>
        </p:txBody>
      </p:sp>
      <p:sp>
        <p:nvSpPr>
          <p:cNvPr id="6" name="AutoShape 6"/>
          <p:cNvSpPr/>
          <p:nvPr/>
        </p:nvSpPr>
        <p:spPr>
          <a:xfrm>
            <a:off x="0" y="3937000"/>
            <a:ext cx="12192000" cy="2921000"/>
          </a:xfrm>
          <a:prstGeom prst="roundRect">
            <a:avLst>
              <a:gd name="adj" fmla="val 0"/>
            </a:avLst>
          </a:prstGeom>
          <a:solidFill>
            <a:srgbClr val="EBED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4254500"/>
            <a:ext cx="3365500" cy="1460500"/>
          </a:xfrm>
          <a:prstGeom prst="roundRect">
            <a:avLst>
              <a:gd name="adj" fmla="val 0"/>
            </a:avLst>
          </a:prstGeom>
          <a:solidFill>
            <a:srgbClr val="FFFFFF">
              <a:alpha val="100000"/>
            </a:srgbClr>
          </a:solidFill>
          <a:ln w="12700" cap="flat" cmpd="sng">
            <a:solidFill>
              <a:srgbClr val="0D2C54">
                <a:alpha val="15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4254500"/>
            <a:ext cx="50800" cy="1460500"/>
          </a:xfrm>
          <a:prstGeom prst="roundRect">
            <a:avLst>
              <a:gd name="adj" fmla="val 0"/>
            </a:avLst>
          </a:prstGeom>
          <a:solidFill>
            <a:srgbClr val="0D2C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4381500"/>
            <a:ext cx="2921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答辩人</a:t>
            </a:r>
            <a:endParaRPr lang="en-US" sz="1100"/>
          </a:p>
        </p:txBody>
      </p:sp>
      <p:sp>
        <p:nvSpPr>
          <p:cNvPr id="10" name="AutoShape 10"/>
          <p:cNvSpPr/>
          <p:nvPr/>
        </p:nvSpPr>
        <p:spPr>
          <a:xfrm>
            <a:off x="1016000" y="4826000"/>
            <a:ext cx="2921000" cy="698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D2C54"/>
                </a:solidFill>
                <a:latin typeface="Noto Sans SC" panose="020B0200000000000000" charset="-122"/>
                <a:ea typeface="Noto Sans SC" panose="020B0200000000000000" charset="-122"/>
                <a:cs typeface="Noto Sans SC" panose="020B0200000000000000" charset="-122"/>
                <a:sym typeface="Noto Sans SC" panose="020B0200000000000000" charset="-122"/>
              </a:rPr>
              <a:t>杨宇鑫</a:t>
            </a:r>
            <a:endParaRPr lang="en-US" sz="1100"/>
          </a:p>
        </p:txBody>
      </p:sp>
      <p:sp>
        <p:nvSpPr>
          <p:cNvPr id="11" name="AutoShape 11"/>
          <p:cNvSpPr/>
          <p:nvPr/>
        </p:nvSpPr>
        <p:spPr>
          <a:xfrm>
            <a:off x="4381500" y="4254500"/>
            <a:ext cx="3365500" cy="1460500"/>
          </a:xfrm>
          <a:prstGeom prst="roundRect">
            <a:avLst>
              <a:gd name="adj" fmla="val 0"/>
            </a:avLst>
          </a:prstGeom>
          <a:solidFill>
            <a:srgbClr val="FFFFFF">
              <a:alpha val="100000"/>
            </a:srgbClr>
          </a:solidFill>
          <a:ln w="12700" cap="flat" cmpd="sng">
            <a:solidFill>
              <a:srgbClr val="0D2C54">
                <a:alpha val="15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381500" y="4254500"/>
            <a:ext cx="50800" cy="1460500"/>
          </a:xfrm>
          <a:prstGeom prst="roundRect">
            <a:avLst>
              <a:gd name="adj" fmla="val 0"/>
            </a:avLst>
          </a:prstGeom>
          <a:solidFill>
            <a:srgbClr val="0D2C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635500" y="4381500"/>
            <a:ext cx="2921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a:t>
            </a:r>
            <a:endParaRPr lang="en-US" sz="1100"/>
          </a:p>
        </p:txBody>
      </p:sp>
      <p:sp>
        <p:nvSpPr>
          <p:cNvPr id="14" name="AutoShape 14"/>
          <p:cNvSpPr/>
          <p:nvPr/>
        </p:nvSpPr>
        <p:spPr>
          <a:xfrm>
            <a:off x="4635500" y="4826000"/>
            <a:ext cx="2921000" cy="698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D2C54"/>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软件工程</a:t>
            </a:r>
            <a:endParaRPr lang="en-US" sz="1100"/>
          </a:p>
        </p:txBody>
      </p:sp>
      <p:sp>
        <p:nvSpPr>
          <p:cNvPr id="15" name="AutoShape 15"/>
          <p:cNvSpPr/>
          <p:nvPr/>
        </p:nvSpPr>
        <p:spPr>
          <a:xfrm>
            <a:off x="8001000" y="4254500"/>
            <a:ext cx="3365500" cy="1460500"/>
          </a:xfrm>
          <a:prstGeom prst="roundRect">
            <a:avLst>
              <a:gd name="adj" fmla="val 0"/>
            </a:avLst>
          </a:prstGeom>
          <a:solidFill>
            <a:srgbClr val="FFFFFF">
              <a:alpha val="100000"/>
            </a:srgbClr>
          </a:solidFill>
          <a:ln w="12700" cap="flat" cmpd="sng">
            <a:solidFill>
              <a:srgbClr val="0D2C54">
                <a:alpha val="15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001000" y="4254500"/>
            <a:ext cx="50800" cy="1460500"/>
          </a:xfrm>
          <a:prstGeom prst="roundRect">
            <a:avLst>
              <a:gd name="adj" fmla="val 0"/>
            </a:avLst>
          </a:prstGeom>
          <a:solidFill>
            <a:srgbClr val="0D2C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255000" y="4381500"/>
            <a:ext cx="2921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指导教师</a:t>
            </a:r>
            <a:endParaRPr lang="en-US" sz="1100"/>
          </a:p>
        </p:txBody>
      </p:sp>
      <p:sp>
        <p:nvSpPr>
          <p:cNvPr id="18" name="AutoShape 18"/>
          <p:cNvSpPr/>
          <p:nvPr/>
        </p:nvSpPr>
        <p:spPr>
          <a:xfrm>
            <a:off x="8255000" y="4826000"/>
            <a:ext cx="2921000" cy="698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D2C54"/>
                </a:solidFill>
                <a:latin typeface="Noto Sans SC" panose="020B0200000000000000" charset="-122"/>
                <a:ea typeface="Noto Sans SC" panose="020B0200000000000000" charset="-122"/>
                <a:cs typeface="Noto Sans SC" panose="020B0200000000000000" charset="-122"/>
                <a:sym typeface="Noto Sans SC" panose="020B0200000000000000" charset="-122"/>
              </a:rPr>
              <a:t>鲁赵骏</a:t>
            </a:r>
            <a:endParaRPr lang="en-US" sz="1100"/>
          </a:p>
        </p:txBody>
      </p:sp>
      <p:sp>
        <p:nvSpPr>
          <p:cNvPr id="19" name="AutoShape 19"/>
          <p:cNvSpPr/>
          <p:nvPr/>
        </p:nvSpPr>
        <p:spPr>
          <a:xfrm>
            <a:off x="762000" y="5842000"/>
            <a:ext cx="10668000" cy="762000"/>
          </a:xfrm>
          <a:prstGeom prst="roundRect">
            <a:avLst>
              <a:gd name="adj" fmla="val 0"/>
            </a:avLst>
          </a:prstGeom>
          <a:solidFill>
            <a:srgbClr val="0D2C54">
              <a:alpha val="7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59055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100">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2026.05.31</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AutoShape 2"/>
          <p:cNvSpPr/>
          <p:nvPr/>
        </p:nvSpPr>
        <p:spPr>
          <a:xfrm>
            <a:off x="0" y="0"/>
            <a:ext cx="12192000" cy="9271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srcRect/>
          <a:stretch>
            <a:fillRect/>
          </a:stretch>
        </p:blipFill>
        <p:spPr>
          <a:xfrm>
            <a:off x="241300" y="139700"/>
            <a:ext cx="647700" cy="647700"/>
          </a:xfrm>
          <a:prstGeom prst="rect">
            <a:avLst/>
          </a:prstGeom>
          <a:noFill/>
          <a:ln w="25400" cap="flat" cmpd="sng">
            <a:noFill/>
            <a:prstDash val="solid"/>
            <a:round/>
          </a:ln>
        </p:spPr>
      </p:pic>
      <p:sp>
        <p:nvSpPr>
          <p:cNvPr id="4" name="AutoShape 4"/>
          <p:cNvSpPr/>
          <p:nvPr/>
        </p:nvSpPr>
        <p:spPr>
          <a:xfrm>
            <a:off x="0" y="0"/>
            <a:ext cx="12192000" cy="927100"/>
          </a:xfrm>
          <a:prstGeom prst="roundRect">
            <a:avLst>
              <a:gd name="adj" fmla="val 0"/>
            </a:avLst>
          </a:prstGeom>
          <a:blipFill rotWithShape="1">
            <a:blip r:embed="rId2"/>
            <a:tile tx="-3175000" ty="-1397000" sx="100000" sy="100000" flip="none" algn="tl"/>
          </a:blip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3"/>
          <a:srcRect l="217" r="217"/>
          <a:stretch>
            <a:fillRect/>
          </a:stretch>
        </p:blipFill>
        <p:spPr>
          <a:xfrm>
            <a:off x="9093200" y="0"/>
            <a:ext cx="990600" cy="927100"/>
          </a:xfrm>
          <a:prstGeom prst="rect">
            <a:avLst/>
          </a:prstGeom>
          <a:noFill/>
          <a:ln w="25400" cap="flat" cmpd="sng">
            <a:noFill/>
            <a:prstDash val="solid"/>
            <a:round/>
          </a:ln>
        </p:spPr>
      </p:pic>
      <p:sp>
        <p:nvSpPr>
          <p:cNvPr id="6" name="AutoShape 6"/>
          <p:cNvSpPr/>
          <p:nvPr/>
        </p:nvSpPr>
        <p:spPr>
          <a:xfrm>
            <a:off x="10083800" y="254000"/>
            <a:ext cx="1714500" cy="533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天津大学</a:t>
            </a:r>
            <a:endParaRPr lang="en-US" sz="1100"/>
          </a:p>
        </p:txBody>
      </p:sp>
      <p:sp>
        <p:nvSpPr>
          <p:cNvPr id="7" name="AutoShape 7"/>
          <p:cNvSpPr/>
          <p:nvPr/>
        </p:nvSpPr>
        <p:spPr>
          <a:xfrm>
            <a:off x="1016000" y="177800"/>
            <a:ext cx="10972800" cy="609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3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汇报目录</a:t>
            </a:r>
            <a:endParaRPr lang="en-US" sz="1100"/>
          </a:p>
        </p:txBody>
      </p:sp>
      <p:sp>
        <p:nvSpPr>
          <p:cNvPr id="8" name="AutoShape 8"/>
          <p:cNvSpPr/>
          <p:nvPr/>
        </p:nvSpPr>
        <p:spPr>
          <a:xfrm>
            <a:off x="254000" y="1397000"/>
            <a:ext cx="3759200" cy="2286000"/>
          </a:xfrm>
          <a:prstGeom prst="roundRect">
            <a:avLst>
              <a:gd name="adj" fmla="val 0"/>
            </a:avLst>
          </a:prstGeom>
          <a:solidFill>
            <a:srgbClr val="D6E2E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254000" y="1397000"/>
            <a:ext cx="3759200" cy="5080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254000" y="1397000"/>
            <a:ext cx="635000" cy="508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254000" y="1397000"/>
            <a:ext cx="63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sz="1100"/>
          </a:p>
        </p:txBody>
      </p:sp>
      <p:sp>
        <p:nvSpPr>
          <p:cNvPr id="12" name="AutoShape 12"/>
          <p:cNvSpPr/>
          <p:nvPr/>
        </p:nvSpPr>
        <p:spPr>
          <a:xfrm>
            <a:off x="1016000" y="1397000"/>
            <a:ext cx="2921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研究背景与意义</a:t>
            </a:r>
            <a:endParaRPr lang="en-US" sz="1100"/>
          </a:p>
        </p:txBody>
      </p:sp>
      <p:sp>
        <p:nvSpPr>
          <p:cNvPr id="13" name="AutoShape 13"/>
          <p:cNvSpPr/>
          <p:nvPr/>
        </p:nvSpPr>
        <p:spPr>
          <a:xfrm>
            <a:off x="355600" y="2032000"/>
            <a:ext cx="3556000" cy="1524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系统阐述微架构侧信道威胁的研究背景，剖析AES算法在硬件执行层面存在的缓存漏洞根源，明确该类漏洞对密码系统安全性的潜在危害，从而凸显开展本次研究在理论与工程实践中的重要价值。</a:t>
            </a:r>
            <a:endParaRPr lang="en-US" sz="1100"/>
          </a:p>
        </p:txBody>
      </p:sp>
      <p:sp>
        <p:nvSpPr>
          <p:cNvPr id="14" name="AutoShape 14"/>
          <p:cNvSpPr/>
          <p:nvPr/>
        </p:nvSpPr>
        <p:spPr>
          <a:xfrm>
            <a:off x="4191000" y="1397000"/>
            <a:ext cx="3759200" cy="2286000"/>
          </a:xfrm>
          <a:prstGeom prst="roundRect">
            <a:avLst>
              <a:gd name="adj" fmla="val 0"/>
            </a:avLst>
          </a:prstGeom>
          <a:solidFill>
            <a:srgbClr val="D6E2E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191000" y="1397000"/>
            <a:ext cx="3759200" cy="5080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191000" y="1397000"/>
            <a:ext cx="635000" cy="508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191000" y="1397000"/>
            <a:ext cx="63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1100"/>
          </a:p>
        </p:txBody>
      </p:sp>
      <p:sp>
        <p:nvSpPr>
          <p:cNvPr id="18" name="AutoShape 18"/>
          <p:cNvSpPr/>
          <p:nvPr/>
        </p:nvSpPr>
        <p:spPr>
          <a:xfrm>
            <a:off x="4953000" y="1397000"/>
            <a:ext cx="2921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核心攻击技术</a:t>
            </a:r>
            <a:endParaRPr lang="en-US" sz="1100"/>
          </a:p>
        </p:txBody>
      </p:sp>
      <p:sp>
        <p:nvSpPr>
          <p:cNvPr id="19" name="AutoShape 19"/>
          <p:cNvSpPr/>
          <p:nvPr/>
        </p:nvSpPr>
        <p:spPr>
          <a:xfrm>
            <a:off x="4292600" y="2032000"/>
            <a:ext cx="3556000" cy="1524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深度解析经典的Flush+Reload缓存侧信道攻击原理，重点介绍针对AES算法的两阶段密钥恢复核心方法，详细阐述攻击者如何利用缓存的时间特性窃取密钥信息，为后续防御方案设计提供攻击视角的技术支撑。</a:t>
            </a:r>
            <a:endParaRPr lang="en-US" sz="1100"/>
          </a:p>
        </p:txBody>
      </p:sp>
      <p:sp>
        <p:nvSpPr>
          <p:cNvPr id="20" name="AutoShape 20"/>
          <p:cNvSpPr/>
          <p:nvPr/>
        </p:nvSpPr>
        <p:spPr>
          <a:xfrm>
            <a:off x="8128000" y="1397000"/>
            <a:ext cx="3759200" cy="2286000"/>
          </a:xfrm>
          <a:prstGeom prst="roundRect">
            <a:avLst>
              <a:gd name="adj" fmla="val 0"/>
            </a:avLst>
          </a:prstGeom>
          <a:solidFill>
            <a:srgbClr val="D6E2E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128000" y="1397000"/>
            <a:ext cx="3759200" cy="5080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128000" y="1397000"/>
            <a:ext cx="635000" cy="508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128000" y="1397000"/>
            <a:ext cx="63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sz="1100"/>
          </a:p>
        </p:txBody>
      </p:sp>
      <p:sp>
        <p:nvSpPr>
          <p:cNvPr id="24" name="AutoShape 24"/>
          <p:cNvSpPr/>
          <p:nvPr/>
        </p:nvSpPr>
        <p:spPr>
          <a:xfrm>
            <a:off x="8890000" y="1397000"/>
            <a:ext cx="2921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实验设计与框架</a:t>
            </a:r>
            <a:endParaRPr lang="en-US" sz="1100"/>
          </a:p>
        </p:txBody>
      </p:sp>
      <p:sp>
        <p:nvSpPr>
          <p:cNvPr id="25" name="AutoShape 25"/>
          <p:cNvSpPr/>
          <p:nvPr/>
        </p:nvSpPr>
        <p:spPr>
          <a:xfrm>
            <a:off x="8229600" y="2032000"/>
            <a:ext cx="3556000" cy="1524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构建基于父子进程的实验验证模型，制定科学的量化评估指标体系，同时完成漏洞缓解措施的技术实现，搭建起可复现、可验证、可对比的实验环境，为后续攻击效果测试与防御能力验证提供坚实的基础框架。</a:t>
            </a:r>
            <a:endParaRPr lang="en-US" sz="1100"/>
          </a:p>
        </p:txBody>
      </p:sp>
      <p:sp>
        <p:nvSpPr>
          <p:cNvPr id="26" name="AutoShape 26"/>
          <p:cNvSpPr/>
          <p:nvPr/>
        </p:nvSpPr>
        <p:spPr>
          <a:xfrm>
            <a:off x="254000" y="3937000"/>
            <a:ext cx="5778500" cy="2286000"/>
          </a:xfrm>
          <a:prstGeom prst="roundRect">
            <a:avLst>
              <a:gd name="adj" fmla="val 0"/>
            </a:avLst>
          </a:prstGeom>
          <a:solidFill>
            <a:srgbClr val="EBED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254000" y="3937000"/>
            <a:ext cx="5778500" cy="508000"/>
          </a:xfrm>
          <a:prstGeom prst="roundRect">
            <a:avLst>
              <a:gd name="adj" fmla="val 0"/>
            </a:avLst>
          </a:prstGeom>
          <a:solidFill>
            <a:srgbClr val="4A6A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254000" y="3937000"/>
            <a:ext cx="635000" cy="508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254000" y="3937000"/>
            <a:ext cx="63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04</a:t>
            </a:r>
            <a:endParaRPr lang="en-US" sz="1100"/>
          </a:p>
        </p:txBody>
      </p:sp>
      <p:sp>
        <p:nvSpPr>
          <p:cNvPr id="30" name="AutoShape 30"/>
          <p:cNvSpPr/>
          <p:nvPr/>
        </p:nvSpPr>
        <p:spPr>
          <a:xfrm>
            <a:off x="1016000" y="3937000"/>
            <a:ext cx="444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实验结果与分析</a:t>
            </a:r>
            <a:endParaRPr lang="en-US" sz="1100"/>
          </a:p>
        </p:txBody>
      </p:sp>
      <p:sp>
        <p:nvSpPr>
          <p:cNvPr id="31" name="AutoShape 31"/>
          <p:cNvSpPr/>
          <p:nvPr/>
        </p:nvSpPr>
        <p:spPr>
          <a:xfrm>
            <a:off x="355600" y="4572000"/>
            <a:ext cx="5524500" cy="1524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基准攻击场景下的核心实验数据与攻击达成效果，通过横向对比不同缓解措施部署后的系统运行表现，从攻击成功率、密钥恢复效率及系统性能损耗等维度，全面分析各类方案的防御有效性与实际应用中的优缺点。</a:t>
            </a:r>
            <a:endParaRPr lang="en-US" sz="1100"/>
          </a:p>
        </p:txBody>
      </p:sp>
      <p:sp>
        <p:nvSpPr>
          <p:cNvPr id="32" name="AutoShape 32"/>
          <p:cNvSpPr/>
          <p:nvPr/>
        </p:nvSpPr>
        <p:spPr>
          <a:xfrm>
            <a:off x="6159500" y="3937000"/>
            <a:ext cx="5778500" cy="2286000"/>
          </a:xfrm>
          <a:prstGeom prst="roundRect">
            <a:avLst>
              <a:gd name="adj" fmla="val 0"/>
            </a:avLst>
          </a:prstGeom>
          <a:solidFill>
            <a:srgbClr val="EBED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6159500" y="3937000"/>
            <a:ext cx="5778500" cy="508000"/>
          </a:xfrm>
          <a:prstGeom prst="roundRect">
            <a:avLst>
              <a:gd name="adj" fmla="val 0"/>
            </a:avLst>
          </a:prstGeom>
          <a:solidFill>
            <a:srgbClr val="4A6A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6159500" y="3937000"/>
            <a:ext cx="635000" cy="508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6159500" y="3937000"/>
            <a:ext cx="63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05</a:t>
            </a:r>
            <a:endParaRPr lang="en-US" sz="1100"/>
          </a:p>
        </p:txBody>
      </p:sp>
      <p:sp>
        <p:nvSpPr>
          <p:cNvPr id="36" name="AutoShape 36"/>
          <p:cNvSpPr/>
          <p:nvPr/>
        </p:nvSpPr>
        <p:spPr>
          <a:xfrm>
            <a:off x="6921500" y="3937000"/>
            <a:ext cx="444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总结与展望</a:t>
            </a:r>
            <a:endParaRPr lang="en-US" sz="1100"/>
          </a:p>
        </p:txBody>
      </p:sp>
      <p:sp>
        <p:nvSpPr>
          <p:cNvPr id="37" name="AutoShape 37"/>
          <p:cNvSpPr/>
          <p:nvPr/>
        </p:nvSpPr>
        <p:spPr>
          <a:xfrm>
            <a:off x="6261100" y="4572000"/>
            <a:ext cx="5524500" cy="1524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总结本次在微架构侧信道漏洞领域的研究成果与技术突破，客观梳理当前研究存在的局限与不足。结合硬件安全与密码学的发展趋势，对未来在漏洞挖掘技术、高效防御机制以及新型攻击对抗等方向提出前瞻性的研究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9271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083800" y="254000"/>
            <a:ext cx="17145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天津大学</a:t>
            </a:r>
            <a:endParaRPr lang="en-US" sz="1100"/>
          </a:p>
        </p:txBody>
      </p:sp>
      <p:sp>
        <p:nvSpPr>
          <p:cNvPr id="4" name="AutoShape 4"/>
          <p:cNvSpPr/>
          <p:nvPr/>
        </p:nvSpPr>
        <p:spPr>
          <a:xfrm>
            <a:off x="1016000" y="1778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01 研究背景：看不见的风险</a:t>
            </a:r>
            <a:endParaRPr lang="en-US" sz="1100"/>
          </a:p>
        </p:txBody>
      </p:sp>
      <p:pic>
        <p:nvPicPr>
          <p:cNvPr id="5" name="Picture 5"/>
          <p:cNvPicPr>
            <a:picLocks noChangeAspect="1"/>
          </p:cNvPicPr>
          <p:nvPr/>
        </p:nvPicPr>
        <p:blipFill>
          <a:blip r:embed="rId1"/>
          <a:srcRect l="6038" r="6038"/>
          <a:stretch>
            <a:fillRect/>
          </a:stretch>
        </p:blipFill>
        <p:spPr>
          <a:xfrm>
            <a:off x="254000" y="1397000"/>
            <a:ext cx="3556000" cy="2286000"/>
          </a:xfrm>
          <a:prstGeom prst="rect">
            <a:avLst/>
          </a:prstGeom>
          <a:noFill/>
          <a:ln w="25400" cap="flat" cmpd="sng">
            <a:noFill/>
            <a:prstDash val="solid"/>
            <a:round/>
          </a:ln>
        </p:spPr>
      </p:pic>
      <p:sp>
        <p:nvSpPr>
          <p:cNvPr id="6" name="AutoShape 6"/>
          <p:cNvSpPr/>
          <p:nvPr/>
        </p:nvSpPr>
        <p:spPr>
          <a:xfrm>
            <a:off x="4064000" y="1397000"/>
            <a:ext cx="7874000" cy="2286000"/>
          </a:xfrm>
          <a:prstGeom prst="roundRect">
            <a:avLst>
              <a:gd name="adj" fmla="val 0"/>
            </a:avLst>
          </a:prstGeom>
          <a:solidFill>
            <a:srgbClr val="DCE1E8">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4191000" y="1460500"/>
            <a:ext cx="7620000" cy="444500"/>
          </a:xfrm>
          <a:prstGeom prst="rect">
            <a:avLst/>
          </a:prstGeom>
          <a:noFill/>
          <a:ln w="12700" cap="flat" cmpd="sng">
            <a:noFill/>
            <a:prstDash val="solid"/>
            <a:round/>
          </a:ln>
        </p:spPr>
        <p:txBody>
          <a:bodyPr vert="horz" wrap="square" lIns="63500" tIns="25400" rIns="63500" bIns="25400" rtlCol="0" anchor="t" anchorCtr="0"/>
          <a:lstStyle/>
          <a:p>
            <a:pPr marL="0" indent="0" algn="l">
              <a:lnSpc>
                <a:spcPct val="100000"/>
              </a:lnSpc>
              <a:defRPr/>
            </a:pPr>
            <a:r>
              <a:rPr lang="en-US" sz="1800" b="1" i="0" u="none" strike="noStrike">
                <a:solidFill>
                  <a:srgbClr val="DC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微架构侧信道威胁：共享硬件的“隐形窥探”</a:t>
            </a:r>
            <a:endParaRPr lang="en-US" sz="1100"/>
          </a:p>
        </p:txBody>
      </p:sp>
      <p:sp>
        <p:nvSpPr>
          <p:cNvPr id="8" name="AutoShape 8"/>
          <p:cNvSpPr/>
          <p:nvPr/>
        </p:nvSpPr>
        <p:spPr>
          <a:xfrm>
            <a:off x="4191000" y="1968500"/>
            <a:ext cx="7620000" cy="1587500"/>
          </a:xfrm>
          <a:prstGeom prst="rect">
            <a:avLst/>
          </a:prstGeom>
          <a:noFill/>
          <a:ln w="12700" cap="flat" cmpd="sng">
            <a:noFill/>
            <a:prstDash val="solid"/>
            <a:round/>
          </a:ln>
        </p:spPr>
        <p:txBody>
          <a:bodyPr vert="horz" wrap="square" lIns="63500" tIns="50800" rIns="63500" bIns="50800" rtlCol="0" anchor="t"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云计算与虚拟化技术的普及，多租户共享CPU、缓存等底层硬件资源已成为常态。现代处理器为提升性能设计的缓存、流水线等机制，会在数据运算中留下可被感知的物理痕迹（如访问时间差异）。攻击者无需直接访问内存，仅通过分析这类“侧信道”信息，即可突破软件隔离边界，精准推断出加密密钥、用户数据等敏感信息，成为当前硬件安全领域最隐蔽且极具破坏性的威胁之一。</a:t>
            </a:r>
            <a:endParaRPr lang="en-US" sz="1100"/>
          </a:p>
        </p:txBody>
      </p:sp>
      <p:sp>
        <p:nvSpPr>
          <p:cNvPr id="9" name="AutoShape 9"/>
          <p:cNvSpPr/>
          <p:nvPr/>
        </p:nvSpPr>
        <p:spPr>
          <a:xfrm>
            <a:off x="254000" y="3937000"/>
            <a:ext cx="11684000" cy="2476500"/>
          </a:xfrm>
          <a:prstGeom prst="roundRect">
            <a:avLst>
              <a:gd name="adj" fmla="val 0"/>
            </a:avLst>
          </a:prstGeom>
          <a:solidFill>
            <a:srgbClr val="BED2EB">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81000" y="4000500"/>
            <a:ext cx="11430000" cy="444500"/>
          </a:xfrm>
          <a:prstGeom prst="rect">
            <a:avLst/>
          </a:prstGeom>
          <a:noFill/>
          <a:ln w="12700" cap="flat" cmpd="sng">
            <a:noFill/>
            <a:prstDash val="solid"/>
            <a:round/>
          </a:ln>
        </p:spPr>
        <p:txBody>
          <a:bodyPr vert="horz" wrap="square" lIns="63500" tIns="25400" rIns="63500" bIns="25400" rtlCol="0" anchor="t" anchorCtr="0"/>
          <a:lstStyle/>
          <a:p>
            <a:pPr marL="0" indent="0" algn="l">
              <a:lnSpc>
                <a:spcPct val="100000"/>
              </a:lnSpc>
              <a:defRPr/>
            </a:pPr>
            <a:r>
              <a:rPr lang="en-US" sz="1800" b="1" i="0" u="none" strike="noStrike">
                <a:solidFill>
                  <a:srgbClr val="1E4264"/>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研究聚焦：AES加密算法的缓存漏洞根源</a:t>
            </a:r>
            <a:endParaRPr lang="en-US" sz="1100"/>
          </a:p>
        </p:txBody>
      </p:sp>
      <p:sp>
        <p:nvSpPr>
          <p:cNvPr id="11" name="AutoShape 11"/>
          <p:cNvSpPr/>
          <p:nvPr/>
        </p:nvSpPr>
        <p:spPr>
          <a:xfrm>
            <a:off x="381000" y="4508500"/>
            <a:ext cx="11430000" cy="1778000"/>
          </a:xfrm>
          <a:prstGeom prst="rect">
            <a:avLst/>
          </a:prstGeom>
          <a:noFill/>
          <a:ln w="12700" cap="flat" cmpd="sng">
            <a:noFill/>
            <a:prstDash val="solid"/>
            <a:round/>
          </a:ln>
        </p:spPr>
        <p:txBody>
          <a:bodyPr vert="horz" wrap="square" lIns="63500" tIns="50800" rIns="63500" bIns="50800" rtlCol="0" anchor="t" anchorCtr="0"/>
          <a:lstStyle/>
          <a:p>
            <a:pPr marL="0" indent="0" algn="l">
              <a:lnSpc>
                <a:spcPct val="117000"/>
              </a:lnSpc>
              <a:defRPr/>
            </a:pPr>
            <a:r>
              <a:rPr lang="en-US" sz="1400" b="0" i="0" u="none" strike="noStrike">
                <a:solidFill>
                  <a:srgbClr val="212529"/>
                </a:solidFill>
                <a:latin typeface="Noto Sans SC" panose="020B0200000000000000" charset="-122"/>
                <a:ea typeface="Noto Sans SC" panose="020B0200000000000000" charset="-122"/>
                <a:cs typeface="Noto Sans SC" panose="020B0200000000000000" charset="-122"/>
                <a:sym typeface="Noto Sans SC" panose="020B0200000000000000" charset="-122"/>
              </a:rPr>
              <a:t>AES作为目前应用最广泛的分组加密标准，为追求高性能在实现中普遍采用了预计算T表（查找表）技术。其核心安全隐患在于：T表的内存访问模式与密钥值存在强关联性——不同的密钥会触发不同的数组索引，进而导致特定的缓存行命中或未命中。攻击者可利用Flush+Reload等缓存攻击技术，实时监控CPU缓存的状态变化，反向还原出内存访问的模式特征，最终推导出完整的密钥信息。这种由算法实现特性与硬件微架构耦合引发的漏洞，使得即使是理论上安全的AES算法，在共享硬件环境中也面临被破解的现实风险。</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9271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083800" y="254000"/>
            <a:ext cx="17145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天津大学</a:t>
            </a:r>
            <a:endParaRPr lang="en-US" sz="1100"/>
          </a:p>
        </p:txBody>
      </p:sp>
      <p:sp>
        <p:nvSpPr>
          <p:cNvPr id="4" name="AutoShape 4"/>
          <p:cNvSpPr/>
          <p:nvPr/>
        </p:nvSpPr>
        <p:spPr>
          <a:xfrm>
            <a:off x="914400" y="165100"/>
            <a:ext cx="101600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 攻击技术：Flush+Reload</a:t>
            </a:r>
            <a:endParaRPr lang="en-US" sz="1100"/>
          </a:p>
        </p:txBody>
      </p:sp>
      <p:sp>
        <p:nvSpPr>
          <p:cNvPr id="5" name="AutoShape 5"/>
          <p:cNvSpPr/>
          <p:nvPr/>
        </p:nvSpPr>
        <p:spPr>
          <a:xfrm>
            <a:off x="508000" y="1206500"/>
            <a:ext cx="5842000" cy="1079500"/>
          </a:xfrm>
          <a:prstGeom prst="roundRect">
            <a:avLst>
              <a:gd name="adj" fmla="val 0"/>
            </a:avLst>
          </a:prstGeom>
          <a:solidFill>
            <a:srgbClr val="1E4264">
              <a:alpha val="8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35000" y="1270000"/>
            <a:ext cx="558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Flush+Reload 是一种高分辨率的缓存侧信道攻击技术，其核心在于通过不断重复的四步操作循环，突破 CPU 缓存的透明性。攻击者利用这一机制，能够将不可见的内存访问行为转化为可测量的时间差异，从而统计出受害者的内存访问模式，窃取敏感数据。</a:t>
            </a:r>
            <a:endParaRPr lang="en-US" sz="1100"/>
          </a:p>
        </p:txBody>
      </p:sp>
      <p:sp>
        <p:nvSpPr>
          <p:cNvPr id="7" name="AutoShape 7"/>
          <p:cNvSpPr/>
          <p:nvPr/>
        </p:nvSpPr>
        <p:spPr>
          <a:xfrm>
            <a:off x="508000" y="2476500"/>
            <a:ext cx="2857500" cy="1714500"/>
          </a:xfrm>
          <a:prstGeom prst="roundRect">
            <a:avLst>
              <a:gd name="adj" fmla="val 0"/>
            </a:avLst>
          </a:prstGeom>
          <a:solidFill>
            <a:srgbClr val="1E4264">
              <a:alpha val="1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71500" y="25400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264"/>
                </a:solidFill>
                <a:latin typeface="微软雅黑" panose="020B0503020204020204" charset="-122"/>
                <a:ea typeface="微软雅黑" panose="020B0503020204020204" charset="-122"/>
                <a:cs typeface="微软雅黑" panose="020B0503020204020204" charset="-122"/>
                <a:sym typeface="微软雅黑" panose="020B0503020204020204" charset="-122"/>
              </a:rPr>
              <a:t>01 Flush · 逐出缓存</a:t>
            </a:r>
            <a:endParaRPr lang="en-US" sz="1100"/>
          </a:p>
        </p:txBody>
      </p:sp>
      <p:sp>
        <p:nvSpPr>
          <p:cNvPr id="9" name="AutoShape 9"/>
          <p:cNvSpPr/>
          <p:nvPr/>
        </p:nvSpPr>
        <p:spPr>
          <a:xfrm>
            <a:off x="571500" y="2984500"/>
            <a:ext cx="2730500" cy="1079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2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主动调用 CPU 的</a:t>
            </a:r>
            <a:r>
              <a:rPr lang="en-US" sz="12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CLFLUSH</a:t>
            </a:r>
            <a:r>
              <a:rPr lang="en-US" sz="12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指令，强制将目标内存地址对应的数据行从各级缓存中彻底清除。这一步是攻击的起点，确保缓存处于“干净”的初始状态。</a:t>
            </a:r>
            <a:endParaRPr lang="en-US" sz="1100"/>
          </a:p>
        </p:txBody>
      </p:sp>
      <p:sp>
        <p:nvSpPr>
          <p:cNvPr id="10" name="AutoShape 10"/>
          <p:cNvSpPr/>
          <p:nvPr/>
        </p:nvSpPr>
        <p:spPr>
          <a:xfrm>
            <a:off x="3492500" y="2476500"/>
            <a:ext cx="2857500" cy="1714500"/>
          </a:xfrm>
          <a:prstGeom prst="roundRect">
            <a:avLst>
              <a:gd name="adj" fmla="val 0"/>
            </a:avLst>
          </a:prstGeom>
          <a:solidFill>
            <a:srgbClr val="1E4264">
              <a:alpha val="1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556000" y="25400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264"/>
                </a:solidFill>
                <a:latin typeface="微软雅黑" panose="020B0503020204020204" charset="-122"/>
                <a:ea typeface="微软雅黑" panose="020B0503020204020204" charset="-122"/>
                <a:cs typeface="微软雅黑" panose="020B0503020204020204" charset="-122"/>
                <a:sym typeface="微软雅黑" panose="020B0503020204020204" charset="-122"/>
              </a:rPr>
              <a:t>02 Wait · 等待窗口期</a:t>
            </a:r>
            <a:endParaRPr lang="en-US" sz="1100"/>
          </a:p>
        </p:txBody>
      </p:sp>
      <p:sp>
        <p:nvSpPr>
          <p:cNvPr id="12" name="AutoShape 12"/>
          <p:cNvSpPr/>
          <p:nvPr/>
        </p:nvSpPr>
        <p:spPr>
          <a:xfrm>
            <a:off x="3556000" y="2984500"/>
            <a:ext cx="2730500" cy="1079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2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攻击者进程进入短暂休眠，给予受害者进程足够的时间片，使其在正常执行过程中对刚刚被清空的目标内存地址进行潜在的读写访问操作。</a:t>
            </a:r>
            <a:endParaRPr lang="en-US" sz="1100"/>
          </a:p>
        </p:txBody>
      </p:sp>
      <p:sp>
        <p:nvSpPr>
          <p:cNvPr id="13" name="AutoShape 13"/>
          <p:cNvSpPr/>
          <p:nvPr/>
        </p:nvSpPr>
        <p:spPr>
          <a:xfrm>
            <a:off x="508000" y="4318000"/>
            <a:ext cx="2857500" cy="1714500"/>
          </a:xfrm>
          <a:prstGeom prst="roundRect">
            <a:avLst>
              <a:gd name="adj" fmla="val 0"/>
            </a:avLst>
          </a:prstGeom>
          <a:solidFill>
            <a:srgbClr val="1E4264">
              <a:alpha val="1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71500" y="43815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264"/>
                </a:solidFill>
                <a:latin typeface="微软雅黑" panose="020B0503020204020204" charset="-122"/>
                <a:ea typeface="微软雅黑" panose="020B0503020204020204" charset="-122"/>
                <a:cs typeface="微软雅黑" panose="020B0503020204020204" charset="-122"/>
                <a:sym typeface="微软雅黑" panose="020B0503020204020204" charset="-122"/>
              </a:rPr>
              <a:t>03 Reload · 重载计时</a:t>
            </a:r>
            <a:endParaRPr lang="en-US" sz="1100"/>
          </a:p>
        </p:txBody>
      </p:sp>
      <p:sp>
        <p:nvSpPr>
          <p:cNvPr id="15" name="AutoShape 15"/>
          <p:cNvSpPr/>
          <p:nvPr/>
        </p:nvSpPr>
        <p:spPr>
          <a:xfrm>
            <a:off x="571500" y="4826000"/>
            <a:ext cx="2730500" cy="1079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2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重新发起对目标数据的访问请求，同时利用高精度时钟指令（如 RDTSC）记录数据加载的耗时。这一步是将缓存状态转化为时间信号的关键环节。</a:t>
            </a:r>
            <a:endParaRPr lang="en-US" sz="1100"/>
          </a:p>
        </p:txBody>
      </p:sp>
      <p:sp>
        <p:nvSpPr>
          <p:cNvPr id="16" name="AutoShape 16"/>
          <p:cNvSpPr/>
          <p:nvPr/>
        </p:nvSpPr>
        <p:spPr>
          <a:xfrm>
            <a:off x="3492500" y="4318000"/>
            <a:ext cx="2857500" cy="1714500"/>
          </a:xfrm>
          <a:prstGeom prst="roundRect">
            <a:avLst>
              <a:gd name="adj" fmla="val 0"/>
            </a:avLst>
          </a:prstGeom>
          <a:solidFill>
            <a:srgbClr val="1E4264">
              <a:alpha val="1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3556000" y="43815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264"/>
                </a:solidFill>
                <a:latin typeface="微软雅黑" panose="020B0503020204020204" charset="-122"/>
                <a:ea typeface="微软雅黑" panose="020B0503020204020204" charset="-122"/>
                <a:cs typeface="微软雅黑" panose="020B0503020204020204" charset="-122"/>
                <a:sym typeface="微软雅黑" panose="020B0503020204020204" charset="-122"/>
              </a:rPr>
              <a:t>04 Infer · 状态推断</a:t>
            </a:r>
            <a:endParaRPr lang="en-US" sz="1100"/>
          </a:p>
        </p:txBody>
      </p:sp>
      <p:sp>
        <p:nvSpPr>
          <p:cNvPr id="18" name="AutoShape 18"/>
          <p:cNvSpPr/>
          <p:nvPr/>
        </p:nvSpPr>
        <p:spPr>
          <a:xfrm>
            <a:off x="3556000" y="4826000"/>
            <a:ext cx="2730500" cy="1079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2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对比实测时间与预设阈值：耗时极短则为缓存命中（受害者访问过），耗时较长则为未命中。通过大量样本统计，还原出受害者的核心内存访问序列。</a:t>
            </a:r>
            <a:endParaRPr lang="en-US" sz="1100"/>
          </a:p>
        </p:txBody>
      </p:sp>
      <p:cxnSp>
        <p:nvCxnSpPr>
          <p:cNvPr id="19" name="Connector 19"/>
          <p:cNvCxnSpPr/>
          <p:nvPr/>
        </p:nvCxnSpPr>
        <p:spPr>
          <a:xfrm rot="5391296">
            <a:off x="4159250" y="3708408"/>
            <a:ext cx="5016500" cy="12700"/>
          </a:xfrm>
          <a:prstGeom prst="straightConnector1">
            <a:avLst/>
          </a:prstGeom>
          <a:solidFill>
            <a:srgbClr val="DEE0E3">
              <a:alpha val="100000"/>
            </a:srgbClr>
          </a:solidFill>
          <a:ln w="12700" cap="flat" cmpd="sng">
            <a:solidFill>
              <a:srgbClr val="1E4264">
                <a:alpha val="20000"/>
              </a:srgbClr>
            </a:solidFill>
            <a:prstDash val="solid"/>
            <a:round/>
            <a:headEnd type="none" w="med" len="med"/>
            <a:tailEnd type="none" w="med" len="med"/>
          </a:ln>
        </p:spPr>
      </p:cxnSp>
      <p:pic>
        <p:nvPicPr>
          <p:cNvPr id="20" name="Picture 20"/>
          <p:cNvPicPr>
            <a:picLocks noChangeAspect="1"/>
          </p:cNvPicPr>
          <p:nvPr/>
        </p:nvPicPr>
        <p:blipFill>
          <a:blip r:embed="rId1"/>
          <a:srcRect t="113" b="113"/>
          <a:stretch>
            <a:fillRect/>
          </a:stretch>
        </p:blipFill>
        <p:spPr>
          <a:xfrm>
            <a:off x="6858000" y="1270000"/>
            <a:ext cx="2794000" cy="2921000"/>
          </a:xfrm>
          <a:prstGeom prst="rect">
            <a:avLst/>
          </a:prstGeom>
          <a:noFill/>
          <a:ln w="25400" cap="flat" cmpd="sng">
            <a:noFill/>
            <a:prstDash val="solid"/>
            <a:round/>
          </a:ln>
        </p:spPr>
      </p:pic>
      <p:sp>
        <p:nvSpPr>
          <p:cNvPr id="21" name="AutoShape 21"/>
          <p:cNvSpPr/>
          <p:nvPr/>
        </p:nvSpPr>
        <p:spPr>
          <a:xfrm>
            <a:off x="6858000" y="4318000"/>
            <a:ext cx="4953000" cy="1841500"/>
          </a:xfrm>
          <a:prstGeom prst="roundRect">
            <a:avLst>
              <a:gd name="adj" fmla="val 0"/>
            </a:avLst>
          </a:prstGeom>
          <a:solidFill>
            <a:srgbClr val="F2F4F6">
              <a:alpha val="100000"/>
            </a:srgbClr>
          </a:solidFill>
          <a:ln w="12700" cap="flat" cmpd="sng">
            <a:solidFill>
              <a:srgbClr val="1E4264">
                <a:alpha val="25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985000" y="44196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4264"/>
                </a:solidFill>
                <a:latin typeface="微软雅黑" panose="020B0503020204020204" charset="-122"/>
                <a:ea typeface="微软雅黑" panose="020B0503020204020204" charset="-122"/>
                <a:cs typeface="微软雅黑" panose="020B0503020204020204" charset="-122"/>
                <a:sym typeface="微软雅黑" panose="020B0503020204020204" charset="-122"/>
              </a:rPr>
              <a:t>攻击闭环：从物理层到逻辑层的突破</a:t>
            </a:r>
            <a:endParaRPr lang="en-US" sz="1100"/>
          </a:p>
        </p:txBody>
      </p:sp>
      <p:sp>
        <p:nvSpPr>
          <p:cNvPr id="23" name="AutoShape 23"/>
          <p:cNvSpPr/>
          <p:nvPr/>
        </p:nvSpPr>
        <p:spPr>
          <a:xfrm>
            <a:off x="6985000" y="4851400"/>
            <a:ext cx="4699000" cy="1143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如流程图所示，攻击循环往复直至获取有效信息。当 Reload 时间超过阈值时，说明受害者未访问数据，数据被丢弃；若低于阈值，则捕获到有效访问痕迹。这种高频、自动化的循环执行，使得该技术能够以极高的分辨率还原出受害者的机密计算过程。</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1021853" y="180041"/>
            <a:ext cx="10972800" cy="609600"/>
          </a:xfrm>
        </p:spPr>
        <p:txBody>
          <a:bodyPr>
            <a:normAutofit/>
          </a:bodyPr>
          <a:p>
            <a:pPr algn="l">
              <a:lnSpc>
                <a:spcPct val="111000"/>
              </a:lnSpc>
            </a:pPr>
            <a:r>
              <a:rPr lang="en-US" altLang="zh-CN">
                <a:solidFill>
                  <a:schemeClr val="bg1"/>
                </a:solidFill>
              </a:rPr>
              <a:t>2.1 AES128</a:t>
            </a:r>
            <a:r>
              <a:rPr lang="zh-CN" altLang="en-US">
                <a:solidFill>
                  <a:schemeClr val="bg1"/>
                </a:solidFill>
              </a:rPr>
              <a:t>算法加密</a:t>
            </a:r>
            <a:endParaRPr lang="zh-CN" altLang="en-US">
              <a:solidFill>
                <a:schemeClr val="bg1"/>
              </a:solidFill>
            </a:endParaRPr>
          </a:p>
        </p:txBody>
      </p:sp>
      <p:sp>
        <p:nvSpPr>
          <p:cNvPr id="6" name="文本框 5"/>
          <p:cNvSpPr txBox="1"/>
          <p:nvPr/>
        </p:nvSpPr>
        <p:spPr>
          <a:xfrm>
            <a:off x="238760" y="982980"/>
            <a:ext cx="11846560" cy="1802765"/>
          </a:xfrm>
          <a:prstGeom prst="rect">
            <a:avLst/>
          </a:prstGeom>
          <a:noFill/>
        </p:spPr>
        <p:txBody>
          <a:bodyPr wrap="square" rtlCol="0">
            <a:noAutofit/>
          </a:bodyPr>
          <a:p>
            <a:r>
              <a:rPr lang="zh-CN" altLang="en-US" sz="1800">
                <a:solidFill>
                  <a:srgbClr val="FF0000"/>
                </a:solidFill>
              </a:rPr>
              <a:t>密钥预处理</a:t>
            </a:r>
            <a:r>
              <a:rPr lang="zh-CN" altLang="en-US" sz="1800"/>
              <a:t>：</a:t>
            </a:r>
            <a:r>
              <a:rPr lang="en-US" altLang="zh-CN" sz="1800"/>
              <a:t>128</a:t>
            </a:r>
            <a:r>
              <a:rPr lang="zh-CN" altLang="en-US" sz="1800"/>
              <a:t>位种子密钥</a:t>
            </a:r>
            <a:r>
              <a:rPr lang="en-US" altLang="zh-CN" sz="1800"/>
              <a:t> -&gt; </a:t>
            </a:r>
            <a:r>
              <a:rPr lang="zh-CN" altLang="en-US" sz="1800"/>
              <a:t>按列填充到</a:t>
            </a:r>
            <a:r>
              <a:rPr lang="en-US" altLang="zh-CN" sz="1800"/>
              <a:t> 4</a:t>
            </a:r>
            <a:r>
              <a:rPr lang="en-US" altLang="en-US" sz="1800"/>
              <a:t>×</a:t>
            </a:r>
            <a:r>
              <a:rPr lang="en-US" altLang="zh-CN" sz="1800"/>
              <a:t>4 </a:t>
            </a:r>
            <a:r>
              <a:rPr lang="zh-CN" altLang="en-US" sz="1800"/>
              <a:t>的矩阵中</a:t>
            </a:r>
            <a:r>
              <a:rPr lang="en-US" altLang="zh-CN" sz="1800"/>
              <a:t> -&gt; </a:t>
            </a:r>
            <a:r>
              <a:rPr lang="zh-CN" altLang="en-US" sz="1800">
                <a:solidFill>
                  <a:srgbClr val="2177F9"/>
                </a:solidFill>
              </a:rPr>
              <a:t>密钥扩展</a:t>
            </a:r>
            <a:r>
              <a:rPr lang="en-US" altLang="zh-CN" sz="1800"/>
              <a:t> -&gt; </a:t>
            </a:r>
            <a:r>
              <a:rPr lang="zh-CN" altLang="en-US" sz="1800"/>
              <a:t>扩展出</a:t>
            </a:r>
            <a:r>
              <a:rPr lang="en-US" altLang="zh-CN" sz="1800"/>
              <a:t> </a:t>
            </a:r>
            <a:r>
              <a:rPr lang="en-US" altLang="zh-CN" sz="1800">
                <a:solidFill>
                  <a:srgbClr val="2177F9"/>
                </a:solidFill>
              </a:rPr>
              <a:t>11 </a:t>
            </a:r>
            <a:r>
              <a:rPr lang="zh-CN" altLang="en-US" sz="1800">
                <a:solidFill>
                  <a:srgbClr val="2177F9"/>
                </a:solidFill>
              </a:rPr>
              <a:t>个</a:t>
            </a:r>
            <a:r>
              <a:rPr lang="en-US" altLang="zh-CN" sz="1800">
                <a:solidFill>
                  <a:srgbClr val="2177F9"/>
                </a:solidFill>
              </a:rPr>
              <a:t> 128 </a:t>
            </a:r>
            <a:r>
              <a:rPr lang="zh-CN" altLang="en-US" sz="1800">
                <a:solidFill>
                  <a:srgbClr val="2177F9"/>
                </a:solidFill>
              </a:rPr>
              <a:t>位的子密钥</a:t>
            </a:r>
            <a:r>
              <a:rPr lang="zh-CN" altLang="en-US" sz="1800"/>
              <a:t>，</a:t>
            </a:r>
            <a:endParaRPr lang="zh-CN" altLang="en-US" sz="1800"/>
          </a:p>
          <a:p>
            <a:r>
              <a:rPr lang="zh-CN" altLang="en-US" sz="1800"/>
              <a:t> </a:t>
            </a:r>
            <a:r>
              <a:rPr lang="en-US" altLang="zh-CN" sz="1800"/>
              <a:t>                   </a:t>
            </a:r>
            <a:r>
              <a:rPr lang="zh-CN" altLang="en-US" sz="1800"/>
              <a:t>每个子密钥也是</a:t>
            </a:r>
            <a:r>
              <a:rPr lang="en-US" altLang="zh-CN" sz="1800"/>
              <a:t> 4</a:t>
            </a:r>
            <a:r>
              <a:rPr lang="en-US" altLang="en-US" sz="1800"/>
              <a:t>×</a:t>
            </a:r>
            <a:r>
              <a:rPr lang="en-US" altLang="zh-CN" sz="1800"/>
              <a:t>4 </a:t>
            </a:r>
            <a:r>
              <a:rPr lang="zh-CN" altLang="en-US" sz="1800"/>
              <a:t>的字节矩阵。</a:t>
            </a:r>
            <a:endParaRPr lang="zh-CN" altLang="en-US" sz="1800"/>
          </a:p>
          <a:p>
            <a:r>
              <a:rPr lang="zh-CN" altLang="en-US" sz="1800">
                <a:solidFill>
                  <a:srgbClr val="FF0000"/>
                </a:solidFill>
              </a:rPr>
              <a:t>明文处理</a:t>
            </a:r>
            <a:r>
              <a:rPr lang="zh-CN" altLang="en-US" sz="1800"/>
              <a:t>：</a:t>
            </a:r>
            <a:r>
              <a:rPr lang="en-US" altLang="zh-CN" sz="1800"/>
              <a:t>   </a:t>
            </a:r>
            <a:r>
              <a:rPr lang="zh-CN" altLang="en-US" sz="1800"/>
              <a:t>取</a:t>
            </a:r>
            <a:r>
              <a:rPr lang="en-US" altLang="zh-CN" sz="1800">
                <a:solidFill>
                  <a:srgbClr val="2177F9"/>
                </a:solidFill>
              </a:rPr>
              <a:t>1</a:t>
            </a:r>
            <a:r>
              <a:rPr lang="en-US" altLang="zh-CN" sz="1800">
                <a:solidFill>
                  <a:srgbClr val="2177F9"/>
                </a:solidFill>
                <a:sym typeface="+mn-ea"/>
              </a:rPr>
              <a:t>28bit</a:t>
            </a:r>
            <a:r>
              <a:rPr lang="zh-CN" altLang="en-US" sz="1800"/>
              <a:t>明文（分组加密）</a:t>
            </a:r>
            <a:r>
              <a:rPr lang="en-US" altLang="zh-CN" sz="1800"/>
              <a:t> -&gt; </a:t>
            </a:r>
            <a:r>
              <a:rPr lang="zh-CN" altLang="en-US" sz="1800"/>
              <a:t>经</a:t>
            </a:r>
            <a:r>
              <a:rPr lang="en-US" altLang="zh-CN" sz="1800">
                <a:solidFill>
                  <a:srgbClr val="FF0000"/>
                </a:solidFill>
              </a:rPr>
              <a:t>11</a:t>
            </a:r>
            <a:r>
              <a:rPr lang="zh-CN" altLang="en-US" sz="1800">
                <a:solidFill>
                  <a:srgbClr val="FF0000"/>
                </a:solidFill>
              </a:rPr>
              <a:t>轮</a:t>
            </a:r>
            <a:r>
              <a:rPr lang="zh-CN" altLang="en-US" sz="1800"/>
              <a:t>加密：</a:t>
            </a:r>
            <a:endParaRPr lang="en-US" altLang="zh-CN" sz="1800"/>
          </a:p>
          <a:p>
            <a:r>
              <a:rPr lang="en-US" altLang="zh-CN" sz="1800"/>
              <a:t>                    </a:t>
            </a:r>
            <a:r>
              <a:rPr lang="zh-CN" altLang="en-US" sz="1800">
                <a:solidFill>
                  <a:srgbClr val="FF0000"/>
                </a:solidFill>
              </a:rPr>
              <a:t>初始轮</a:t>
            </a:r>
            <a:r>
              <a:rPr lang="zh-CN" altLang="en-US" sz="1800"/>
              <a:t>：仅进行</a:t>
            </a:r>
            <a:r>
              <a:rPr lang="en-US" altLang="zh-CN" sz="1800"/>
              <a:t> AddRoundKey</a:t>
            </a:r>
            <a:r>
              <a:rPr lang="zh-CN" altLang="en-US" sz="1800"/>
              <a:t>（与第</a:t>
            </a:r>
            <a:r>
              <a:rPr lang="en-US" altLang="zh-CN" sz="1800"/>
              <a:t> 0 </a:t>
            </a:r>
            <a:r>
              <a:rPr lang="zh-CN" altLang="en-US" sz="1800"/>
              <a:t>轮密钥异或）。</a:t>
            </a:r>
            <a:endParaRPr lang="zh-CN" altLang="en-US" sz="1800"/>
          </a:p>
          <a:p>
            <a:r>
              <a:rPr lang="en-US" altLang="zh-CN" sz="1800">
                <a:solidFill>
                  <a:srgbClr val="FF0000"/>
                </a:solidFill>
              </a:rPr>
              <a:t>                    9 </a:t>
            </a:r>
            <a:r>
              <a:rPr lang="zh-CN" altLang="en-US" sz="1800">
                <a:solidFill>
                  <a:srgbClr val="FF0000"/>
                </a:solidFill>
              </a:rPr>
              <a:t>轮标准轮</a:t>
            </a:r>
            <a:r>
              <a:rPr lang="zh-CN" altLang="en-US" sz="1800"/>
              <a:t>：每轮依次执行</a:t>
            </a:r>
            <a:r>
              <a:rPr lang="en-US" altLang="zh-CN" sz="1800"/>
              <a:t> SubBytes </a:t>
            </a:r>
            <a:r>
              <a:rPr lang="en-US" altLang="en-US" sz="1800"/>
              <a:t>→</a:t>
            </a:r>
            <a:r>
              <a:rPr lang="en-US" altLang="zh-CN" sz="1800"/>
              <a:t> ShiftRows </a:t>
            </a:r>
            <a:r>
              <a:rPr lang="en-US" altLang="en-US" sz="1800"/>
              <a:t>→</a:t>
            </a:r>
            <a:r>
              <a:rPr lang="en-US" altLang="zh-CN" sz="1800"/>
              <a:t> MixColumns </a:t>
            </a:r>
            <a:r>
              <a:rPr lang="en-US" altLang="en-US" sz="1800"/>
              <a:t>→</a:t>
            </a:r>
            <a:r>
              <a:rPr lang="en-US" altLang="zh-CN" sz="1800"/>
              <a:t> AddRoundKey</a:t>
            </a:r>
            <a:r>
              <a:rPr lang="zh-CN" altLang="en-US" sz="1800"/>
              <a:t>。</a:t>
            </a:r>
            <a:endParaRPr lang="zh-CN" altLang="en-US" sz="1800"/>
          </a:p>
          <a:p>
            <a:r>
              <a:rPr lang="en-US" altLang="zh-CN" sz="1800">
                <a:solidFill>
                  <a:srgbClr val="FF0000"/>
                </a:solidFill>
              </a:rPr>
              <a:t>                    </a:t>
            </a:r>
            <a:r>
              <a:rPr lang="zh-CN" altLang="en-US" sz="1800">
                <a:solidFill>
                  <a:srgbClr val="FF0000"/>
                </a:solidFill>
              </a:rPr>
              <a:t>最终轮</a:t>
            </a:r>
            <a:r>
              <a:rPr lang="zh-CN" altLang="en-US" sz="1800"/>
              <a:t>：依次执行</a:t>
            </a:r>
            <a:r>
              <a:rPr lang="en-US" altLang="zh-CN" sz="1800"/>
              <a:t> SubBytes </a:t>
            </a:r>
            <a:r>
              <a:rPr lang="en-US" altLang="en-US" sz="1800"/>
              <a:t>→</a:t>
            </a:r>
            <a:r>
              <a:rPr lang="en-US" altLang="zh-CN" sz="1800"/>
              <a:t> ShiftRows </a:t>
            </a:r>
            <a:r>
              <a:rPr lang="en-US" altLang="en-US" sz="1800"/>
              <a:t>→</a:t>
            </a:r>
            <a:r>
              <a:rPr lang="en-US" altLang="zh-CN" sz="1800"/>
              <a:t> AddRoundKey</a:t>
            </a:r>
            <a:r>
              <a:rPr lang="zh-CN" altLang="en-US" sz="1800"/>
              <a:t>（没有</a:t>
            </a:r>
            <a:r>
              <a:rPr lang="en-US" altLang="zh-CN" sz="1800"/>
              <a:t> MixColumns</a:t>
            </a:r>
            <a:r>
              <a:rPr lang="zh-CN" altLang="en-US" sz="1800"/>
              <a:t>）。</a:t>
            </a:r>
            <a:endParaRPr lang="zh-CN" altLang="en-US" sz="1800"/>
          </a:p>
          <a:p>
            <a:endParaRPr lang="en-US" altLang="zh-CN" sz="1800"/>
          </a:p>
          <a:p>
            <a:endParaRPr lang="en-US" altLang="zh-CN" sz="1800"/>
          </a:p>
          <a:p>
            <a:endParaRPr lang="en-US" altLang="zh-CN" sz="1800"/>
          </a:p>
          <a:p>
            <a:endParaRPr lang="en-US" altLang="zh-CN" sz="180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1021853" y="180041"/>
            <a:ext cx="10972800" cy="609600"/>
          </a:xfrm>
        </p:spPr>
        <p:txBody>
          <a:bodyPr>
            <a:normAutofit/>
          </a:bodyPr>
          <a:p>
            <a:pPr algn="l">
              <a:lnSpc>
                <a:spcPct val="111000"/>
              </a:lnSpc>
            </a:pPr>
            <a:r>
              <a:rPr lang="en-US" altLang="zh-CN">
                <a:solidFill>
                  <a:schemeClr val="bg1"/>
                </a:solidFill>
              </a:rPr>
              <a:t>2.1 AES128</a:t>
            </a:r>
            <a:r>
              <a:rPr lang="zh-CN" altLang="en-US">
                <a:solidFill>
                  <a:schemeClr val="bg1"/>
                </a:solidFill>
              </a:rPr>
              <a:t>算法加密</a:t>
            </a:r>
            <a:endParaRPr lang="zh-CN" altLang="en-US">
              <a:solidFill>
                <a:schemeClr val="bg1"/>
              </a:solidFill>
            </a:endParaRPr>
          </a:p>
        </p:txBody>
      </p:sp>
      <p:sp>
        <p:nvSpPr>
          <p:cNvPr id="6" name="文本框 5"/>
          <p:cNvSpPr txBox="1"/>
          <p:nvPr/>
        </p:nvSpPr>
        <p:spPr>
          <a:xfrm>
            <a:off x="238760" y="982980"/>
            <a:ext cx="11846560" cy="1802765"/>
          </a:xfrm>
          <a:prstGeom prst="rect">
            <a:avLst/>
          </a:prstGeom>
          <a:noFill/>
        </p:spPr>
        <p:txBody>
          <a:bodyPr wrap="square" rtlCol="0">
            <a:noAutofit/>
          </a:bodyPr>
          <a:p>
            <a:r>
              <a:rPr lang="zh-CN" altLang="en-US" sz="1800">
                <a:solidFill>
                  <a:srgbClr val="FF0000"/>
                </a:solidFill>
              </a:rPr>
              <a:t>密钥预处理</a:t>
            </a:r>
            <a:r>
              <a:rPr lang="zh-CN" altLang="en-US" sz="1800"/>
              <a:t>：</a:t>
            </a:r>
            <a:r>
              <a:rPr lang="en-US" altLang="zh-CN" sz="1800"/>
              <a:t>128</a:t>
            </a:r>
            <a:r>
              <a:rPr lang="zh-CN" altLang="en-US" sz="1800"/>
              <a:t>位种子密钥</a:t>
            </a:r>
            <a:r>
              <a:rPr lang="en-US" altLang="zh-CN" sz="1800"/>
              <a:t> -&gt; </a:t>
            </a:r>
            <a:r>
              <a:rPr lang="zh-CN" altLang="en-US" sz="1800"/>
              <a:t>按列填充到</a:t>
            </a:r>
            <a:r>
              <a:rPr lang="en-US" altLang="zh-CN" sz="1800"/>
              <a:t> 4</a:t>
            </a:r>
            <a:r>
              <a:rPr lang="en-US" altLang="en-US" sz="1800"/>
              <a:t>×</a:t>
            </a:r>
            <a:r>
              <a:rPr lang="en-US" altLang="zh-CN" sz="1800"/>
              <a:t>4 </a:t>
            </a:r>
            <a:r>
              <a:rPr lang="zh-CN" altLang="en-US" sz="1800"/>
              <a:t>的矩阵中</a:t>
            </a:r>
            <a:r>
              <a:rPr lang="en-US" altLang="zh-CN" sz="1800"/>
              <a:t> -&gt; </a:t>
            </a:r>
            <a:r>
              <a:rPr lang="zh-CN" altLang="en-US" sz="1800">
                <a:solidFill>
                  <a:srgbClr val="2177F9"/>
                </a:solidFill>
              </a:rPr>
              <a:t>密钥扩展</a:t>
            </a:r>
            <a:r>
              <a:rPr lang="en-US" altLang="zh-CN" sz="1800"/>
              <a:t> -&gt; </a:t>
            </a:r>
            <a:r>
              <a:rPr lang="zh-CN" altLang="en-US" sz="1800"/>
              <a:t>扩展出</a:t>
            </a:r>
            <a:r>
              <a:rPr lang="en-US" altLang="zh-CN" sz="1800"/>
              <a:t> </a:t>
            </a:r>
            <a:r>
              <a:rPr lang="en-US" altLang="zh-CN" sz="1800">
                <a:solidFill>
                  <a:srgbClr val="2177F9"/>
                </a:solidFill>
              </a:rPr>
              <a:t>11 </a:t>
            </a:r>
            <a:r>
              <a:rPr lang="zh-CN" altLang="en-US" sz="1800">
                <a:solidFill>
                  <a:srgbClr val="2177F9"/>
                </a:solidFill>
              </a:rPr>
              <a:t>个</a:t>
            </a:r>
            <a:r>
              <a:rPr lang="en-US" altLang="zh-CN" sz="1800">
                <a:solidFill>
                  <a:srgbClr val="2177F9"/>
                </a:solidFill>
              </a:rPr>
              <a:t> 128 </a:t>
            </a:r>
            <a:r>
              <a:rPr lang="zh-CN" altLang="en-US" sz="1800">
                <a:solidFill>
                  <a:srgbClr val="2177F9"/>
                </a:solidFill>
              </a:rPr>
              <a:t>位的子密钥</a:t>
            </a:r>
            <a:r>
              <a:rPr lang="zh-CN" altLang="en-US" sz="1800"/>
              <a:t>，</a:t>
            </a:r>
            <a:endParaRPr lang="zh-CN" altLang="en-US" sz="1800"/>
          </a:p>
          <a:p>
            <a:r>
              <a:rPr lang="zh-CN" altLang="en-US" sz="1800"/>
              <a:t> </a:t>
            </a:r>
            <a:r>
              <a:rPr lang="en-US" altLang="zh-CN" sz="1800"/>
              <a:t>                   </a:t>
            </a:r>
            <a:r>
              <a:rPr lang="zh-CN" altLang="en-US" sz="1800"/>
              <a:t>每个子密钥也是</a:t>
            </a:r>
            <a:r>
              <a:rPr lang="en-US" altLang="zh-CN" sz="1800"/>
              <a:t> 4</a:t>
            </a:r>
            <a:r>
              <a:rPr lang="en-US" altLang="en-US" sz="1800"/>
              <a:t>×</a:t>
            </a:r>
            <a:r>
              <a:rPr lang="en-US" altLang="zh-CN" sz="1800"/>
              <a:t>4 </a:t>
            </a:r>
            <a:r>
              <a:rPr lang="zh-CN" altLang="en-US" sz="1800"/>
              <a:t>的字节矩阵。</a:t>
            </a:r>
            <a:endParaRPr lang="zh-CN" altLang="en-US" sz="1800"/>
          </a:p>
          <a:p>
            <a:r>
              <a:rPr lang="zh-CN" altLang="en-US" sz="1800">
                <a:solidFill>
                  <a:srgbClr val="FF0000"/>
                </a:solidFill>
              </a:rPr>
              <a:t>明文处理</a:t>
            </a:r>
            <a:r>
              <a:rPr lang="zh-CN" altLang="en-US" sz="1800"/>
              <a:t>：</a:t>
            </a:r>
            <a:r>
              <a:rPr lang="en-US" altLang="zh-CN" sz="1800"/>
              <a:t>   </a:t>
            </a:r>
            <a:r>
              <a:rPr lang="zh-CN" altLang="en-US" sz="1800"/>
              <a:t>取</a:t>
            </a:r>
            <a:r>
              <a:rPr lang="en-US" altLang="zh-CN" sz="1800">
                <a:solidFill>
                  <a:srgbClr val="2177F9"/>
                </a:solidFill>
              </a:rPr>
              <a:t>1</a:t>
            </a:r>
            <a:r>
              <a:rPr lang="en-US" altLang="zh-CN" sz="1800">
                <a:solidFill>
                  <a:srgbClr val="2177F9"/>
                </a:solidFill>
                <a:sym typeface="+mn-ea"/>
              </a:rPr>
              <a:t>28bit</a:t>
            </a:r>
            <a:r>
              <a:rPr lang="zh-CN" altLang="en-US" sz="1800"/>
              <a:t>明文（分组加密）</a:t>
            </a:r>
            <a:r>
              <a:rPr lang="en-US" altLang="zh-CN" sz="1800"/>
              <a:t> -&gt; </a:t>
            </a:r>
            <a:r>
              <a:rPr lang="zh-CN" altLang="en-US" sz="1800"/>
              <a:t>经</a:t>
            </a:r>
            <a:r>
              <a:rPr lang="en-US" altLang="zh-CN" sz="1800">
                <a:solidFill>
                  <a:srgbClr val="FF0000"/>
                </a:solidFill>
              </a:rPr>
              <a:t>11</a:t>
            </a:r>
            <a:r>
              <a:rPr lang="zh-CN" altLang="en-US" sz="1800">
                <a:solidFill>
                  <a:srgbClr val="FF0000"/>
                </a:solidFill>
              </a:rPr>
              <a:t>轮</a:t>
            </a:r>
            <a:r>
              <a:rPr lang="zh-CN" altLang="en-US" sz="1800"/>
              <a:t>加密：</a:t>
            </a:r>
            <a:endParaRPr lang="en-US" altLang="zh-CN" sz="1800"/>
          </a:p>
          <a:p>
            <a:r>
              <a:rPr lang="en-US" altLang="zh-CN" sz="1800"/>
              <a:t>                    </a:t>
            </a:r>
            <a:r>
              <a:rPr lang="zh-CN" altLang="en-US" sz="1800">
                <a:solidFill>
                  <a:srgbClr val="FF0000"/>
                </a:solidFill>
              </a:rPr>
              <a:t>初始轮</a:t>
            </a:r>
            <a:r>
              <a:rPr lang="zh-CN" altLang="en-US" sz="1800"/>
              <a:t>：仅进行</a:t>
            </a:r>
            <a:r>
              <a:rPr lang="en-US" altLang="zh-CN" sz="1800"/>
              <a:t> AddRoundKey</a:t>
            </a:r>
            <a:r>
              <a:rPr lang="zh-CN" altLang="en-US" sz="1800"/>
              <a:t>（与第</a:t>
            </a:r>
            <a:r>
              <a:rPr lang="en-US" altLang="zh-CN" sz="1800"/>
              <a:t> 0 </a:t>
            </a:r>
            <a:r>
              <a:rPr lang="zh-CN" altLang="en-US" sz="1800"/>
              <a:t>轮密钥异或）。</a:t>
            </a:r>
            <a:endParaRPr lang="zh-CN" altLang="en-US" sz="1800"/>
          </a:p>
          <a:p>
            <a:r>
              <a:rPr lang="en-US" altLang="zh-CN" sz="1800">
                <a:solidFill>
                  <a:srgbClr val="FF0000"/>
                </a:solidFill>
              </a:rPr>
              <a:t>                    9 </a:t>
            </a:r>
            <a:r>
              <a:rPr lang="zh-CN" altLang="en-US" sz="1800">
                <a:solidFill>
                  <a:srgbClr val="FF0000"/>
                </a:solidFill>
              </a:rPr>
              <a:t>轮标准轮</a:t>
            </a:r>
            <a:r>
              <a:rPr lang="zh-CN" altLang="en-US" sz="1800"/>
              <a:t>：每轮依次执行</a:t>
            </a:r>
            <a:r>
              <a:rPr lang="en-US" altLang="zh-CN" sz="1800"/>
              <a:t> </a:t>
            </a:r>
            <a:r>
              <a:rPr lang="en-US" altLang="zh-CN" sz="1800">
                <a:solidFill>
                  <a:srgbClr val="00B050"/>
                </a:solidFill>
              </a:rPr>
              <a:t>SubBytes </a:t>
            </a:r>
            <a:r>
              <a:rPr lang="en-US" altLang="en-US" sz="1800">
                <a:solidFill>
                  <a:srgbClr val="00B050"/>
                </a:solidFill>
              </a:rPr>
              <a:t>→</a:t>
            </a:r>
            <a:r>
              <a:rPr lang="en-US" altLang="zh-CN" sz="1800">
                <a:solidFill>
                  <a:srgbClr val="00B050"/>
                </a:solidFill>
              </a:rPr>
              <a:t> ShiftRows </a:t>
            </a:r>
            <a:r>
              <a:rPr lang="en-US" altLang="en-US" sz="1800">
                <a:solidFill>
                  <a:srgbClr val="00B050"/>
                </a:solidFill>
              </a:rPr>
              <a:t>→</a:t>
            </a:r>
            <a:r>
              <a:rPr lang="en-US" altLang="zh-CN" sz="1800">
                <a:solidFill>
                  <a:srgbClr val="00B050"/>
                </a:solidFill>
              </a:rPr>
              <a:t> MixColumns</a:t>
            </a:r>
            <a:r>
              <a:rPr lang="en-US" altLang="zh-CN" sz="1800"/>
              <a:t> </a:t>
            </a:r>
            <a:r>
              <a:rPr lang="en-US" altLang="en-US" sz="1800"/>
              <a:t>→</a:t>
            </a:r>
            <a:r>
              <a:rPr lang="en-US" altLang="zh-CN" sz="1800"/>
              <a:t> AddRoundKey</a:t>
            </a:r>
            <a:r>
              <a:rPr lang="zh-CN" altLang="en-US" sz="1800"/>
              <a:t>。</a:t>
            </a:r>
            <a:endParaRPr lang="zh-CN" altLang="en-US" sz="1800"/>
          </a:p>
          <a:p>
            <a:r>
              <a:rPr lang="en-US" altLang="zh-CN" sz="1800">
                <a:solidFill>
                  <a:srgbClr val="FF0000"/>
                </a:solidFill>
              </a:rPr>
              <a:t>                    </a:t>
            </a:r>
            <a:r>
              <a:rPr lang="zh-CN" altLang="en-US" sz="1800">
                <a:solidFill>
                  <a:srgbClr val="FF0000"/>
                </a:solidFill>
              </a:rPr>
              <a:t>最终轮</a:t>
            </a:r>
            <a:r>
              <a:rPr lang="zh-CN" altLang="en-US" sz="1800"/>
              <a:t>：依次执行</a:t>
            </a:r>
            <a:r>
              <a:rPr lang="en-US" altLang="zh-CN" sz="1800"/>
              <a:t> </a:t>
            </a:r>
            <a:r>
              <a:rPr lang="en-US" altLang="zh-CN" sz="1800">
                <a:solidFill>
                  <a:srgbClr val="00B050"/>
                </a:solidFill>
              </a:rPr>
              <a:t>SubBytes </a:t>
            </a:r>
            <a:r>
              <a:rPr lang="en-US" altLang="en-US" sz="1800">
                <a:solidFill>
                  <a:srgbClr val="00B050"/>
                </a:solidFill>
              </a:rPr>
              <a:t>→</a:t>
            </a:r>
            <a:r>
              <a:rPr lang="en-US" altLang="zh-CN" sz="1800">
                <a:solidFill>
                  <a:srgbClr val="00B050"/>
                </a:solidFill>
              </a:rPr>
              <a:t> ShiftRows</a:t>
            </a:r>
            <a:r>
              <a:rPr lang="en-US" altLang="zh-CN" sz="1800"/>
              <a:t> </a:t>
            </a:r>
            <a:r>
              <a:rPr lang="en-US" altLang="en-US" sz="1800"/>
              <a:t>→</a:t>
            </a:r>
            <a:r>
              <a:rPr lang="en-US" altLang="zh-CN" sz="1800"/>
              <a:t> AddRoundKey</a:t>
            </a:r>
            <a:r>
              <a:rPr lang="zh-CN" altLang="en-US" sz="1800"/>
              <a:t>（没有</a:t>
            </a:r>
            <a:r>
              <a:rPr lang="en-US" altLang="zh-CN" sz="1800"/>
              <a:t> MixColumns</a:t>
            </a:r>
            <a:r>
              <a:rPr lang="zh-CN" altLang="en-US" sz="1800"/>
              <a:t>）。</a:t>
            </a:r>
            <a:endParaRPr lang="zh-CN" altLang="en-US" sz="1800"/>
          </a:p>
          <a:p>
            <a:endParaRPr lang="en-US" altLang="zh-CN" sz="1800"/>
          </a:p>
          <a:p>
            <a:endParaRPr lang="en-US" altLang="zh-CN" sz="1800"/>
          </a:p>
          <a:p>
            <a:endParaRPr lang="en-US" altLang="zh-CN" sz="1800"/>
          </a:p>
          <a:p>
            <a:endParaRPr lang="en-US" altLang="zh-CN" sz="1800"/>
          </a:p>
        </p:txBody>
      </p:sp>
      <p:sp>
        <p:nvSpPr>
          <p:cNvPr id="3" name="文本框 2"/>
          <p:cNvSpPr txBox="1"/>
          <p:nvPr/>
        </p:nvSpPr>
        <p:spPr>
          <a:xfrm>
            <a:off x="238760" y="4003675"/>
            <a:ext cx="11755755" cy="922020"/>
          </a:xfrm>
          <a:prstGeom prst="rect">
            <a:avLst/>
          </a:prstGeom>
          <a:noFill/>
        </p:spPr>
        <p:txBody>
          <a:bodyPr wrap="square" rtlCol="0" anchor="t">
            <a:spAutoFit/>
          </a:bodyPr>
          <a:p>
            <a:r>
              <a:rPr lang="zh-CN" altLang="en-US" sz="1800">
                <a:sym typeface="+mn-ea"/>
              </a:rPr>
              <a:t>可以预先计算</a:t>
            </a:r>
            <a:r>
              <a:rPr lang="en-US" altLang="zh-CN" sz="1800">
                <a:solidFill>
                  <a:srgbClr val="00B050"/>
                </a:solidFill>
                <a:sym typeface="+mn-ea"/>
              </a:rPr>
              <a:t>SubBytes </a:t>
            </a:r>
            <a:r>
              <a:rPr lang="en-US" altLang="en-US" sz="1800">
                <a:solidFill>
                  <a:srgbClr val="00B050"/>
                </a:solidFill>
                <a:sym typeface="+mn-ea"/>
              </a:rPr>
              <a:t>→</a:t>
            </a:r>
            <a:r>
              <a:rPr lang="en-US" altLang="zh-CN" sz="1800">
                <a:solidFill>
                  <a:srgbClr val="00B050"/>
                </a:solidFill>
                <a:sym typeface="+mn-ea"/>
              </a:rPr>
              <a:t> ShiftRows </a:t>
            </a:r>
            <a:r>
              <a:rPr lang="en-US" altLang="en-US" sz="1800">
                <a:solidFill>
                  <a:srgbClr val="00B050"/>
                </a:solidFill>
                <a:sym typeface="+mn-ea"/>
              </a:rPr>
              <a:t>→</a:t>
            </a:r>
            <a:r>
              <a:rPr lang="en-US" altLang="zh-CN" sz="1800">
                <a:solidFill>
                  <a:srgbClr val="00B050"/>
                </a:solidFill>
                <a:sym typeface="+mn-ea"/>
              </a:rPr>
              <a:t> MixColumns</a:t>
            </a:r>
            <a:r>
              <a:rPr lang="zh-CN" altLang="en-US" sz="1800">
                <a:sym typeface="+mn-ea"/>
              </a:rPr>
              <a:t>，得到</a:t>
            </a:r>
            <a:r>
              <a:rPr lang="en-US" altLang="zh-CN" sz="1800">
                <a:sym typeface="+mn-ea"/>
              </a:rPr>
              <a:t>4</a:t>
            </a:r>
            <a:r>
              <a:rPr lang="zh-CN" altLang="en-US" sz="1800">
                <a:sym typeface="+mn-ea"/>
              </a:rPr>
              <a:t>张</a:t>
            </a:r>
            <a:r>
              <a:rPr lang="en-US" altLang="zh-CN" sz="1800">
                <a:sym typeface="+mn-ea"/>
              </a:rPr>
              <a:t>256</a:t>
            </a:r>
            <a:r>
              <a:rPr lang="zh-CN" altLang="en-US" sz="1800">
                <a:sym typeface="+mn-ea"/>
              </a:rPr>
              <a:t>×</a:t>
            </a:r>
            <a:r>
              <a:rPr lang="en-US" altLang="zh-CN" sz="1800">
                <a:sym typeface="+mn-ea"/>
              </a:rPr>
              <a:t>32bit</a:t>
            </a:r>
            <a:r>
              <a:rPr lang="zh-CN" altLang="en-US" sz="1800">
                <a:sym typeface="+mn-ea"/>
              </a:rPr>
              <a:t>的</a:t>
            </a:r>
            <a:r>
              <a:rPr lang="en-US" altLang="zh-CN" sz="1800">
                <a:solidFill>
                  <a:srgbClr val="00B050"/>
                </a:solidFill>
                <a:sym typeface="+mn-ea"/>
              </a:rPr>
              <a:t>T</a:t>
            </a:r>
            <a:r>
              <a:rPr lang="zh-CN" altLang="en-US" sz="1800">
                <a:solidFill>
                  <a:srgbClr val="00B050"/>
                </a:solidFill>
                <a:sym typeface="+mn-ea"/>
              </a:rPr>
              <a:t>表</a:t>
            </a:r>
            <a:r>
              <a:rPr lang="zh-CN" altLang="en-US" sz="1800">
                <a:sym typeface="+mn-ea"/>
              </a:rPr>
              <a:t>（</a:t>
            </a:r>
            <a:r>
              <a:rPr lang="en-US" altLang="zh-CN" sz="1800">
                <a:sym typeface="+mn-ea"/>
              </a:rPr>
              <a:t>Te0~Te3</a:t>
            </a:r>
            <a:r>
              <a:rPr lang="zh-CN" altLang="en-US" sz="1800">
                <a:sym typeface="+mn-ea"/>
              </a:rPr>
              <a:t>）</a:t>
            </a:r>
            <a:endParaRPr lang="zh-CN" altLang="en-US" sz="1800">
              <a:sym typeface="+mn-ea"/>
            </a:endParaRPr>
          </a:p>
          <a:p>
            <a:r>
              <a:rPr lang="en-US" altLang="zh-CN" sz="1800">
                <a:solidFill>
                  <a:srgbClr val="FF0000"/>
                </a:solidFill>
                <a:sym typeface="+mn-ea"/>
              </a:rPr>
              <a:t>9</a:t>
            </a:r>
            <a:r>
              <a:rPr lang="zh-CN" altLang="en-US" sz="1800">
                <a:solidFill>
                  <a:srgbClr val="FF0000"/>
                </a:solidFill>
                <a:sym typeface="+mn-ea"/>
              </a:rPr>
              <a:t>轮标准轮：</a:t>
            </a:r>
            <a:r>
              <a:rPr lang="zh-CN" altLang="en-US" sz="1800">
                <a:sym typeface="+mn-ea"/>
              </a:rPr>
              <a:t>每轮输入状态直接通过查询</a:t>
            </a:r>
            <a:r>
              <a:rPr lang="en-US" altLang="zh-CN" sz="1800">
                <a:sym typeface="+mn-ea"/>
              </a:rPr>
              <a:t>T</a:t>
            </a:r>
            <a:r>
              <a:rPr lang="zh-CN" altLang="en-US" sz="1800">
                <a:sym typeface="+mn-ea"/>
              </a:rPr>
              <a:t>表得到结果，然后与轮密钥异或</a:t>
            </a:r>
            <a:endParaRPr lang="zh-CN" altLang="en-US" sz="1800">
              <a:sym typeface="+mn-ea"/>
            </a:endParaRPr>
          </a:p>
          <a:p>
            <a:r>
              <a:rPr lang="zh-CN" altLang="en-US" sz="1800">
                <a:solidFill>
                  <a:srgbClr val="FF0000"/>
                </a:solidFill>
                <a:sym typeface="+mn-ea"/>
              </a:rPr>
              <a:t>最终轮：</a:t>
            </a:r>
            <a:r>
              <a:rPr lang="zh-CN" altLang="en-US" sz="1800">
                <a:solidFill>
                  <a:srgbClr val="2177F9"/>
                </a:solidFill>
                <a:sym typeface="+mn-ea"/>
              </a:rPr>
              <a:t>仍然使用</a:t>
            </a:r>
            <a:r>
              <a:rPr lang="en-US" altLang="zh-CN" sz="1800">
                <a:solidFill>
                  <a:srgbClr val="2177F9"/>
                </a:solidFill>
                <a:sym typeface="+mn-ea"/>
              </a:rPr>
              <a:t>T</a:t>
            </a:r>
            <a:r>
              <a:rPr lang="zh-CN" altLang="en-US" sz="1800">
                <a:solidFill>
                  <a:srgbClr val="2177F9"/>
                </a:solidFill>
                <a:sym typeface="+mn-ea"/>
              </a:rPr>
              <a:t>表，但只提取其包含的</a:t>
            </a:r>
            <a:r>
              <a:rPr lang="en-US" altLang="zh-CN" sz="1800">
                <a:solidFill>
                  <a:srgbClr val="2177F9"/>
                </a:solidFill>
                <a:sym typeface="+mn-ea"/>
              </a:rPr>
              <a:t>S</a:t>
            </a:r>
            <a:r>
              <a:rPr lang="zh-CN" altLang="en-US" sz="1800">
                <a:solidFill>
                  <a:srgbClr val="2177F9"/>
                </a:solidFill>
                <a:sym typeface="+mn-ea"/>
              </a:rPr>
              <a:t>盒结果的那些字节（因为不进行列混淆），然后与轮密钥异或</a:t>
            </a:r>
            <a:endParaRPr lang="zh-CN" altLang="en-US" sz="1800">
              <a:solidFill>
                <a:srgbClr val="2177F9"/>
              </a:solidFill>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1021853" y="180041"/>
            <a:ext cx="10972800" cy="609600"/>
          </a:xfrm>
        </p:spPr>
        <p:txBody>
          <a:bodyPr>
            <a:normAutofit/>
          </a:bodyPr>
          <a:p>
            <a:pPr algn="l">
              <a:lnSpc>
                <a:spcPct val="111000"/>
              </a:lnSpc>
            </a:pPr>
            <a:r>
              <a:rPr lang="en-US" altLang="zh-CN">
                <a:solidFill>
                  <a:schemeClr val="bg1"/>
                </a:solidFill>
                <a:sym typeface="+mn-ea"/>
              </a:rPr>
              <a:t>2.1</a:t>
            </a:r>
            <a:r>
              <a:rPr lang="en-US" altLang="zh-CN">
                <a:solidFill>
                  <a:schemeClr val="bg1"/>
                </a:solidFill>
              </a:rPr>
              <a:t> </a:t>
            </a:r>
            <a:r>
              <a:rPr lang="zh-CN" altLang="en-US">
                <a:solidFill>
                  <a:schemeClr val="bg1"/>
                </a:solidFill>
              </a:rPr>
              <a:t>带查表加速的</a:t>
            </a:r>
            <a:r>
              <a:rPr lang="en-US" altLang="zh-CN">
                <a:solidFill>
                  <a:schemeClr val="bg1"/>
                </a:solidFill>
              </a:rPr>
              <a:t>AES128</a:t>
            </a:r>
            <a:r>
              <a:rPr lang="zh-CN" altLang="en-US">
                <a:solidFill>
                  <a:schemeClr val="bg1"/>
                </a:solidFill>
              </a:rPr>
              <a:t>算法加密</a:t>
            </a:r>
            <a:endParaRPr lang="zh-CN" altLang="en-US">
              <a:solidFill>
                <a:schemeClr val="bg1"/>
              </a:solidFill>
            </a:endParaRPr>
          </a:p>
        </p:txBody>
      </p:sp>
      <p:sp>
        <p:nvSpPr>
          <p:cNvPr id="6" name="文本框 5"/>
          <p:cNvSpPr txBox="1"/>
          <p:nvPr/>
        </p:nvSpPr>
        <p:spPr>
          <a:xfrm>
            <a:off x="238760" y="982980"/>
            <a:ext cx="11846560" cy="1802765"/>
          </a:xfrm>
          <a:prstGeom prst="rect">
            <a:avLst/>
          </a:prstGeom>
          <a:noFill/>
        </p:spPr>
        <p:txBody>
          <a:bodyPr wrap="square" rtlCol="0">
            <a:noAutofit/>
          </a:bodyPr>
          <a:p>
            <a:r>
              <a:rPr lang="zh-CN" altLang="en-US" sz="1800">
                <a:solidFill>
                  <a:srgbClr val="FF0000"/>
                </a:solidFill>
              </a:rPr>
              <a:t>密钥预处理</a:t>
            </a:r>
            <a:r>
              <a:rPr lang="zh-CN" altLang="en-US" sz="1800"/>
              <a:t>：</a:t>
            </a:r>
            <a:r>
              <a:rPr lang="en-US" altLang="zh-CN" sz="1800"/>
              <a:t>128</a:t>
            </a:r>
            <a:r>
              <a:rPr lang="zh-CN" altLang="en-US" sz="1800"/>
              <a:t>位种子密钥</a:t>
            </a:r>
            <a:r>
              <a:rPr lang="en-US" altLang="zh-CN" sz="1800"/>
              <a:t> -&gt; </a:t>
            </a:r>
            <a:r>
              <a:rPr lang="zh-CN" altLang="en-US" sz="1800"/>
              <a:t>按列填充到</a:t>
            </a:r>
            <a:r>
              <a:rPr lang="en-US" altLang="zh-CN" sz="1800"/>
              <a:t> 4</a:t>
            </a:r>
            <a:r>
              <a:rPr lang="en-US" altLang="en-US" sz="1800"/>
              <a:t>×</a:t>
            </a:r>
            <a:r>
              <a:rPr lang="en-US" altLang="zh-CN" sz="1800"/>
              <a:t>4 </a:t>
            </a:r>
            <a:r>
              <a:rPr lang="zh-CN" altLang="en-US" sz="1800"/>
              <a:t>的矩阵中</a:t>
            </a:r>
            <a:r>
              <a:rPr lang="en-US" altLang="zh-CN" sz="1800"/>
              <a:t> -&gt; </a:t>
            </a:r>
            <a:r>
              <a:rPr lang="zh-CN" altLang="en-US" sz="1800">
                <a:solidFill>
                  <a:srgbClr val="2177F9"/>
                </a:solidFill>
              </a:rPr>
              <a:t>密钥扩展</a:t>
            </a:r>
            <a:r>
              <a:rPr lang="en-US" altLang="zh-CN" sz="1800"/>
              <a:t> -&gt; </a:t>
            </a:r>
            <a:r>
              <a:rPr lang="zh-CN" altLang="en-US" sz="1800"/>
              <a:t>扩展出</a:t>
            </a:r>
            <a:r>
              <a:rPr lang="en-US" altLang="zh-CN" sz="1800"/>
              <a:t> </a:t>
            </a:r>
            <a:r>
              <a:rPr lang="en-US" altLang="zh-CN" sz="1800">
                <a:solidFill>
                  <a:srgbClr val="2177F9"/>
                </a:solidFill>
              </a:rPr>
              <a:t>11 </a:t>
            </a:r>
            <a:r>
              <a:rPr lang="zh-CN" altLang="en-US" sz="1800">
                <a:solidFill>
                  <a:srgbClr val="2177F9"/>
                </a:solidFill>
              </a:rPr>
              <a:t>个</a:t>
            </a:r>
            <a:r>
              <a:rPr lang="en-US" altLang="zh-CN" sz="1800">
                <a:solidFill>
                  <a:srgbClr val="2177F9"/>
                </a:solidFill>
              </a:rPr>
              <a:t> 128 </a:t>
            </a:r>
            <a:r>
              <a:rPr lang="zh-CN" altLang="en-US" sz="1800">
                <a:solidFill>
                  <a:srgbClr val="2177F9"/>
                </a:solidFill>
              </a:rPr>
              <a:t>位的子密钥</a:t>
            </a:r>
            <a:r>
              <a:rPr lang="zh-CN" altLang="en-US" sz="1800"/>
              <a:t>，</a:t>
            </a:r>
            <a:endParaRPr lang="zh-CN" altLang="en-US" sz="1800"/>
          </a:p>
          <a:p>
            <a:r>
              <a:rPr lang="zh-CN" altLang="en-US" sz="1800"/>
              <a:t> </a:t>
            </a:r>
            <a:r>
              <a:rPr lang="en-US" altLang="zh-CN" sz="1800"/>
              <a:t>                   </a:t>
            </a:r>
            <a:r>
              <a:rPr lang="zh-CN" altLang="en-US" sz="1800"/>
              <a:t>每个子密钥也是</a:t>
            </a:r>
            <a:r>
              <a:rPr lang="en-US" altLang="zh-CN" sz="1800"/>
              <a:t> 4</a:t>
            </a:r>
            <a:r>
              <a:rPr lang="en-US" altLang="en-US" sz="1800"/>
              <a:t>×</a:t>
            </a:r>
            <a:r>
              <a:rPr lang="en-US" altLang="zh-CN" sz="1800"/>
              <a:t>4 </a:t>
            </a:r>
            <a:r>
              <a:rPr lang="zh-CN" altLang="en-US" sz="1800"/>
              <a:t>的字节矩阵。</a:t>
            </a:r>
            <a:endParaRPr lang="zh-CN" altLang="en-US" sz="1800"/>
          </a:p>
          <a:p>
            <a:r>
              <a:rPr lang="zh-CN" altLang="en-US" sz="1800">
                <a:solidFill>
                  <a:srgbClr val="FF0000"/>
                </a:solidFill>
              </a:rPr>
              <a:t>明文处理</a:t>
            </a:r>
            <a:r>
              <a:rPr lang="zh-CN" altLang="en-US" sz="1800"/>
              <a:t>：</a:t>
            </a:r>
            <a:r>
              <a:rPr lang="en-US" altLang="zh-CN" sz="1800"/>
              <a:t>   </a:t>
            </a:r>
            <a:r>
              <a:rPr lang="zh-CN" altLang="en-US" sz="1800"/>
              <a:t>取</a:t>
            </a:r>
            <a:r>
              <a:rPr lang="en-US" altLang="zh-CN" sz="1800">
                <a:solidFill>
                  <a:srgbClr val="2177F9"/>
                </a:solidFill>
              </a:rPr>
              <a:t>1</a:t>
            </a:r>
            <a:r>
              <a:rPr lang="en-US" altLang="zh-CN" sz="1800">
                <a:solidFill>
                  <a:srgbClr val="2177F9"/>
                </a:solidFill>
                <a:sym typeface="+mn-ea"/>
              </a:rPr>
              <a:t>28bit</a:t>
            </a:r>
            <a:r>
              <a:rPr lang="zh-CN" altLang="en-US" sz="1800"/>
              <a:t>明文（分组加密）</a:t>
            </a:r>
            <a:r>
              <a:rPr lang="en-US" altLang="zh-CN" sz="1800"/>
              <a:t> -&gt; </a:t>
            </a:r>
            <a:r>
              <a:rPr lang="zh-CN" altLang="en-US" sz="1800"/>
              <a:t>经</a:t>
            </a:r>
            <a:r>
              <a:rPr lang="en-US" altLang="zh-CN" sz="1800">
                <a:solidFill>
                  <a:srgbClr val="FF0000"/>
                </a:solidFill>
              </a:rPr>
              <a:t>11</a:t>
            </a:r>
            <a:r>
              <a:rPr lang="zh-CN" altLang="en-US" sz="1800">
                <a:solidFill>
                  <a:srgbClr val="FF0000"/>
                </a:solidFill>
              </a:rPr>
              <a:t>轮</a:t>
            </a:r>
            <a:r>
              <a:rPr lang="zh-CN" altLang="en-US" sz="1800"/>
              <a:t>加密：</a:t>
            </a:r>
            <a:endParaRPr lang="en-US" altLang="zh-CN" sz="1800"/>
          </a:p>
          <a:p>
            <a:r>
              <a:rPr lang="en-US" altLang="zh-CN" sz="1800"/>
              <a:t>                    </a:t>
            </a:r>
            <a:r>
              <a:rPr lang="zh-CN" altLang="en-US" sz="1800">
                <a:solidFill>
                  <a:srgbClr val="FF0000"/>
                </a:solidFill>
              </a:rPr>
              <a:t>初始轮</a:t>
            </a:r>
            <a:r>
              <a:rPr lang="zh-CN" altLang="en-US" sz="1800"/>
              <a:t>：仅进行</a:t>
            </a:r>
            <a:r>
              <a:rPr lang="en-US" altLang="zh-CN" sz="1800"/>
              <a:t> AddRoundKey</a:t>
            </a:r>
            <a:r>
              <a:rPr lang="zh-CN" altLang="en-US" sz="1800"/>
              <a:t>（与第</a:t>
            </a:r>
            <a:r>
              <a:rPr lang="en-US" altLang="zh-CN" sz="1800"/>
              <a:t> 0 </a:t>
            </a:r>
            <a:r>
              <a:rPr lang="zh-CN" altLang="en-US" sz="1800"/>
              <a:t>轮密钥异或）。</a:t>
            </a:r>
            <a:endParaRPr lang="zh-CN" altLang="en-US" sz="1800"/>
          </a:p>
          <a:p>
            <a:r>
              <a:rPr lang="en-US" altLang="zh-CN" sz="1800">
                <a:solidFill>
                  <a:srgbClr val="FF0000"/>
                </a:solidFill>
              </a:rPr>
              <a:t>                    9 </a:t>
            </a:r>
            <a:r>
              <a:rPr lang="zh-CN" altLang="en-US" sz="1800">
                <a:solidFill>
                  <a:srgbClr val="FF0000"/>
                </a:solidFill>
              </a:rPr>
              <a:t>轮标准轮</a:t>
            </a:r>
            <a:r>
              <a:rPr lang="zh-CN" altLang="en-US" sz="1800"/>
              <a:t>：每轮依次执行</a:t>
            </a:r>
            <a:r>
              <a:rPr lang="en-US" altLang="zh-CN" sz="1800"/>
              <a:t>                           </a:t>
            </a:r>
            <a:r>
              <a:rPr lang="zh-CN" altLang="en-US" sz="1800">
                <a:solidFill>
                  <a:srgbClr val="00B050"/>
                </a:solidFill>
              </a:rPr>
              <a:t>查</a:t>
            </a:r>
            <a:r>
              <a:rPr lang="en-US" altLang="zh-CN" sz="1800">
                <a:solidFill>
                  <a:srgbClr val="00B050"/>
                </a:solidFill>
              </a:rPr>
              <a:t>T</a:t>
            </a:r>
            <a:r>
              <a:rPr lang="zh-CN" altLang="en-US" sz="1800">
                <a:solidFill>
                  <a:srgbClr val="00B050"/>
                </a:solidFill>
              </a:rPr>
              <a:t>表</a:t>
            </a:r>
            <a:r>
              <a:rPr lang="en-US" altLang="zh-CN" sz="1800">
                <a:sym typeface="+mn-ea"/>
              </a:rPr>
              <a:t>                           </a:t>
            </a:r>
            <a:r>
              <a:rPr lang="en-US" altLang="en-US" sz="1800"/>
              <a:t>→</a:t>
            </a:r>
            <a:r>
              <a:rPr lang="en-US" altLang="zh-CN" sz="1800"/>
              <a:t> AddRoundKey</a:t>
            </a:r>
            <a:r>
              <a:rPr lang="zh-CN" altLang="en-US" sz="1800"/>
              <a:t>。</a:t>
            </a:r>
            <a:endParaRPr lang="zh-CN" altLang="en-US" sz="1800"/>
          </a:p>
          <a:p>
            <a:r>
              <a:rPr lang="en-US" altLang="zh-CN" sz="1800">
                <a:solidFill>
                  <a:srgbClr val="FF0000"/>
                </a:solidFill>
              </a:rPr>
              <a:t>                    </a:t>
            </a:r>
            <a:r>
              <a:rPr lang="zh-CN" altLang="en-US" sz="1800">
                <a:solidFill>
                  <a:srgbClr val="FF0000"/>
                </a:solidFill>
              </a:rPr>
              <a:t>最终轮</a:t>
            </a:r>
            <a:r>
              <a:rPr lang="zh-CN" altLang="en-US" sz="1800"/>
              <a:t>：依次执行</a:t>
            </a:r>
            <a:r>
              <a:rPr lang="en-US" altLang="zh-CN" sz="1800"/>
              <a:t>               </a:t>
            </a:r>
            <a:r>
              <a:rPr lang="zh-CN" altLang="en-US" sz="1800">
                <a:solidFill>
                  <a:srgbClr val="00B050"/>
                </a:solidFill>
                <a:sym typeface="+mn-ea"/>
              </a:rPr>
              <a:t>查</a:t>
            </a:r>
            <a:r>
              <a:rPr lang="en-US" altLang="zh-CN" sz="1800">
                <a:solidFill>
                  <a:srgbClr val="00B050"/>
                </a:solidFill>
                <a:sym typeface="+mn-ea"/>
              </a:rPr>
              <a:t>T</a:t>
            </a:r>
            <a:r>
              <a:rPr lang="zh-CN" altLang="en-US" sz="1800">
                <a:solidFill>
                  <a:srgbClr val="00B050"/>
                </a:solidFill>
                <a:sym typeface="+mn-ea"/>
              </a:rPr>
              <a:t>表</a:t>
            </a:r>
            <a:r>
              <a:rPr lang="en-US" altLang="zh-CN" sz="1800">
                <a:sym typeface="+mn-ea"/>
              </a:rPr>
              <a:t>               </a:t>
            </a:r>
            <a:r>
              <a:rPr lang="en-US" altLang="en-US" sz="1800"/>
              <a:t>→</a:t>
            </a:r>
            <a:r>
              <a:rPr lang="en-US" altLang="zh-CN" sz="1800"/>
              <a:t> AddRoundKey</a:t>
            </a:r>
            <a:r>
              <a:rPr lang="zh-CN" altLang="en-US" sz="1800"/>
              <a:t>（没有</a:t>
            </a:r>
            <a:r>
              <a:rPr lang="en-US" altLang="zh-CN" sz="1800"/>
              <a:t> MixColumns</a:t>
            </a:r>
            <a:r>
              <a:rPr lang="zh-CN" altLang="en-US" sz="1800"/>
              <a:t>）。</a:t>
            </a:r>
            <a:endParaRPr lang="zh-CN" altLang="en-US" sz="1800"/>
          </a:p>
          <a:p>
            <a:endParaRPr lang="en-US" altLang="zh-CN" sz="1800"/>
          </a:p>
          <a:p>
            <a:endParaRPr lang="en-US" altLang="zh-CN" sz="1800"/>
          </a:p>
          <a:p>
            <a:endParaRPr lang="en-US" altLang="zh-CN" sz="1800"/>
          </a:p>
          <a:p>
            <a:endParaRPr lang="zh-CN" altLang="en-US" sz="1800">
              <a:sym typeface="+mn-ea"/>
            </a:endParaRPr>
          </a:p>
          <a:p>
            <a:endParaRPr lang="zh-CN" altLang="en-US" sz="1800">
              <a:sym typeface="+mn-ea"/>
            </a:endParaRPr>
          </a:p>
          <a:p>
            <a:r>
              <a:rPr lang="zh-CN" altLang="en-US" sz="1800">
                <a:sym typeface="+mn-ea"/>
              </a:rPr>
              <a:t>可以预先计算</a:t>
            </a:r>
            <a:r>
              <a:rPr lang="en-US" altLang="zh-CN" sz="1800">
                <a:sym typeface="+mn-ea"/>
              </a:rPr>
              <a:t>SubBytes </a:t>
            </a:r>
            <a:r>
              <a:rPr lang="en-US" altLang="en-US" sz="1800">
                <a:sym typeface="+mn-ea"/>
              </a:rPr>
              <a:t>→</a:t>
            </a:r>
            <a:r>
              <a:rPr lang="en-US" altLang="zh-CN" sz="1800">
                <a:sym typeface="+mn-ea"/>
              </a:rPr>
              <a:t> ShiftRows </a:t>
            </a:r>
            <a:r>
              <a:rPr lang="en-US" altLang="en-US" sz="1800">
                <a:sym typeface="+mn-ea"/>
              </a:rPr>
              <a:t>→</a:t>
            </a:r>
            <a:r>
              <a:rPr lang="en-US" altLang="zh-CN" sz="1800">
                <a:sym typeface="+mn-ea"/>
              </a:rPr>
              <a:t> MixColumns</a:t>
            </a:r>
            <a:r>
              <a:rPr lang="zh-CN" altLang="en-US" sz="1800">
                <a:sym typeface="+mn-ea"/>
              </a:rPr>
              <a:t>，得到</a:t>
            </a:r>
            <a:r>
              <a:rPr lang="en-US" altLang="zh-CN" sz="1800">
                <a:sym typeface="+mn-ea"/>
              </a:rPr>
              <a:t>4</a:t>
            </a:r>
            <a:r>
              <a:rPr lang="zh-CN" altLang="en-US" sz="1800">
                <a:sym typeface="+mn-ea"/>
              </a:rPr>
              <a:t>张</a:t>
            </a:r>
            <a:r>
              <a:rPr lang="en-US" altLang="zh-CN" sz="1800">
                <a:sym typeface="+mn-ea"/>
              </a:rPr>
              <a:t>256</a:t>
            </a:r>
            <a:r>
              <a:rPr lang="zh-CN" altLang="en-US" sz="1800">
                <a:sym typeface="+mn-ea"/>
              </a:rPr>
              <a:t>×</a:t>
            </a:r>
            <a:r>
              <a:rPr lang="en-US" altLang="zh-CN" sz="1800">
                <a:sym typeface="+mn-ea"/>
              </a:rPr>
              <a:t>32bit</a:t>
            </a:r>
            <a:r>
              <a:rPr lang="zh-CN" altLang="en-US" sz="1800">
                <a:sym typeface="+mn-ea"/>
              </a:rPr>
              <a:t>的</a:t>
            </a:r>
            <a:r>
              <a:rPr lang="en-US" altLang="zh-CN" sz="1800">
                <a:sym typeface="+mn-ea"/>
              </a:rPr>
              <a:t>T</a:t>
            </a:r>
            <a:r>
              <a:rPr lang="zh-CN" altLang="en-US" sz="1800">
                <a:sym typeface="+mn-ea"/>
              </a:rPr>
              <a:t>表（</a:t>
            </a:r>
            <a:r>
              <a:rPr lang="en-US" altLang="zh-CN" sz="1800">
                <a:sym typeface="+mn-ea"/>
              </a:rPr>
              <a:t>Te0~Te3</a:t>
            </a:r>
            <a:r>
              <a:rPr lang="zh-CN" altLang="en-US" sz="1800">
                <a:sym typeface="+mn-ea"/>
              </a:rPr>
              <a:t>）</a:t>
            </a:r>
            <a:endParaRPr lang="zh-CN" altLang="en-US" sz="1800">
              <a:sym typeface="+mn-ea"/>
            </a:endParaRPr>
          </a:p>
          <a:p>
            <a:r>
              <a:rPr lang="en-US" altLang="zh-CN" sz="1800">
                <a:sym typeface="+mn-ea"/>
              </a:rPr>
              <a:t>9</a:t>
            </a:r>
            <a:r>
              <a:rPr lang="zh-CN" altLang="en-US" sz="1800">
                <a:sym typeface="+mn-ea"/>
              </a:rPr>
              <a:t>轮标准轮：每轮输入状态直接通过查询</a:t>
            </a:r>
            <a:r>
              <a:rPr lang="en-US" altLang="zh-CN" sz="1800">
                <a:sym typeface="+mn-ea"/>
              </a:rPr>
              <a:t>T</a:t>
            </a:r>
            <a:r>
              <a:rPr lang="zh-CN" altLang="en-US" sz="1800">
                <a:sym typeface="+mn-ea"/>
              </a:rPr>
              <a:t>表得到结果，然后与轮密钥异或</a:t>
            </a:r>
            <a:endParaRPr lang="zh-CN" altLang="en-US" sz="1800">
              <a:sym typeface="+mn-ea"/>
            </a:endParaRPr>
          </a:p>
          <a:p>
            <a:r>
              <a:rPr lang="zh-CN" altLang="en-US" sz="1800">
                <a:solidFill>
                  <a:srgbClr val="2177F9"/>
                </a:solidFill>
                <a:sym typeface="+mn-ea"/>
              </a:rPr>
              <a:t>最终轮：仍然使用</a:t>
            </a:r>
            <a:r>
              <a:rPr lang="en-US" altLang="zh-CN" sz="1800">
                <a:solidFill>
                  <a:srgbClr val="2177F9"/>
                </a:solidFill>
                <a:sym typeface="+mn-ea"/>
              </a:rPr>
              <a:t>T</a:t>
            </a:r>
            <a:r>
              <a:rPr lang="zh-CN" altLang="en-US" sz="1800">
                <a:solidFill>
                  <a:srgbClr val="2177F9"/>
                </a:solidFill>
                <a:sym typeface="+mn-ea"/>
              </a:rPr>
              <a:t>表，但只提取其包含的</a:t>
            </a:r>
            <a:r>
              <a:rPr lang="en-US" altLang="zh-CN" sz="1800">
                <a:solidFill>
                  <a:srgbClr val="2177F9"/>
                </a:solidFill>
                <a:sym typeface="+mn-ea"/>
              </a:rPr>
              <a:t>S</a:t>
            </a:r>
            <a:r>
              <a:rPr lang="zh-CN" altLang="en-US" sz="1800">
                <a:solidFill>
                  <a:srgbClr val="2177F9"/>
                </a:solidFill>
                <a:sym typeface="+mn-ea"/>
              </a:rPr>
              <a:t>盒结果的那些字节（因为不进行列混淆），然后与轮密钥异或</a:t>
            </a:r>
            <a:endParaRPr lang="en-US" altLang="zh-CN" sz="1800">
              <a:solidFill>
                <a:srgbClr val="2177F9"/>
              </a:solidFill>
            </a:endParaRPr>
          </a:p>
          <a:p>
            <a:endParaRPr lang="en-US" altLang="zh-CN" sz="1800">
              <a:solidFill>
                <a:srgbClr val="2177F9"/>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rPr>
              <a:t>2.1 </a:t>
            </a:r>
            <a:r>
              <a:rPr lang="zh-CN" altLang="en-US">
                <a:solidFill>
                  <a:schemeClr val="bg1"/>
                </a:solidFill>
              </a:rPr>
              <a:t>攻击思想</a:t>
            </a:r>
            <a:r>
              <a:rPr lang="en-US" altLang="zh-CN">
                <a:solidFill>
                  <a:schemeClr val="bg1"/>
                </a:solidFill>
              </a:rPr>
              <a:t> - </a:t>
            </a:r>
            <a:r>
              <a:rPr lang="zh-CN" altLang="en-US">
                <a:solidFill>
                  <a:schemeClr val="bg1"/>
                </a:solidFill>
              </a:rPr>
              <a:t>最终轮</a:t>
            </a:r>
            <a:r>
              <a:rPr lang="en-US" altLang="zh-CN">
                <a:solidFill>
                  <a:schemeClr val="bg1"/>
                </a:solidFill>
              </a:rPr>
              <a:t> </a:t>
            </a:r>
            <a:endParaRPr lang="en-US" altLang="zh-CN">
              <a:solidFill>
                <a:schemeClr val="bg1"/>
              </a:solidFill>
            </a:endParaRPr>
          </a:p>
        </p:txBody>
      </p:sp>
      <p:pic>
        <p:nvPicPr>
          <p:cNvPr id="4" name="图片 3"/>
          <p:cNvPicPr>
            <a:picLocks noChangeAspect="1"/>
          </p:cNvPicPr>
          <p:nvPr/>
        </p:nvPicPr>
        <p:blipFill>
          <a:blip r:embed="rId2"/>
          <a:stretch>
            <a:fillRect/>
          </a:stretch>
        </p:blipFill>
        <p:spPr>
          <a:xfrm>
            <a:off x="6090920" y="3419475"/>
            <a:ext cx="9525" cy="19050"/>
          </a:xfrm>
          <a:prstGeom prst="rect">
            <a:avLst/>
          </a:prstGeom>
        </p:spPr>
      </p:pic>
      <p:sp>
        <p:nvSpPr>
          <p:cNvPr id="10" name="文本框 9"/>
          <p:cNvSpPr txBox="1"/>
          <p:nvPr/>
        </p:nvSpPr>
        <p:spPr>
          <a:xfrm>
            <a:off x="0" y="934720"/>
            <a:ext cx="4064000" cy="645160"/>
          </a:xfrm>
          <a:prstGeom prst="rect">
            <a:avLst/>
          </a:prstGeom>
          <a:noFill/>
        </p:spPr>
        <p:txBody>
          <a:bodyPr wrap="square" rtlCol="0">
            <a:spAutoFit/>
          </a:bodyPr>
          <a:p>
            <a:r>
              <a:rPr lang="zh-CN" altLang="en-US" sz="1800"/>
              <a:t>在</a:t>
            </a:r>
            <a:r>
              <a:rPr lang="zh-CN" altLang="en-US" sz="1800">
                <a:solidFill>
                  <a:srgbClr val="FF0000"/>
                </a:solidFill>
              </a:rPr>
              <a:t>最终轮</a:t>
            </a:r>
            <a:r>
              <a:rPr lang="zh-CN" altLang="en-US" sz="1800"/>
              <a:t>中基于如下关系：</a:t>
            </a:r>
            <a:endParaRPr lang="zh-CN" altLang="en-US" sz="1800"/>
          </a:p>
          <a:p>
            <a:r>
              <a:rPr lang="zh-CN" altLang="en-US" sz="1800"/>
              <a:t>其中：</a:t>
            </a:r>
            <a:endParaRPr lang="zh-CN" altLang="en-US" sz="1800"/>
          </a:p>
        </p:txBody>
      </p:sp>
      <p:pic>
        <p:nvPicPr>
          <p:cNvPr id="11" name="图片 10"/>
          <p:cNvPicPr>
            <a:picLocks noChangeAspect="1"/>
          </p:cNvPicPr>
          <p:nvPr/>
        </p:nvPicPr>
        <p:blipFill>
          <a:blip r:embed="rId3"/>
          <a:stretch>
            <a:fillRect/>
          </a:stretch>
        </p:blipFill>
        <p:spPr>
          <a:xfrm>
            <a:off x="2790190" y="941070"/>
            <a:ext cx="1685925" cy="361950"/>
          </a:xfrm>
          <a:prstGeom prst="rect">
            <a:avLst/>
          </a:prstGeom>
        </p:spPr>
      </p:pic>
      <p:pic>
        <p:nvPicPr>
          <p:cNvPr id="12" name="图片 11"/>
          <p:cNvPicPr>
            <a:picLocks noChangeAspect="1"/>
          </p:cNvPicPr>
          <p:nvPr/>
        </p:nvPicPr>
        <p:blipFill>
          <a:blip r:embed="rId4"/>
          <a:stretch>
            <a:fillRect/>
          </a:stretch>
        </p:blipFill>
        <p:spPr>
          <a:xfrm>
            <a:off x="99695" y="1555115"/>
            <a:ext cx="3600450" cy="1495425"/>
          </a:xfrm>
          <a:prstGeom prst="rect">
            <a:avLst/>
          </a:prstGeom>
        </p:spPr>
      </p:pic>
      <p:sp>
        <p:nvSpPr>
          <p:cNvPr id="13" name="文本框 12"/>
          <p:cNvSpPr txBox="1"/>
          <p:nvPr/>
        </p:nvSpPr>
        <p:spPr>
          <a:xfrm>
            <a:off x="100330" y="3168015"/>
            <a:ext cx="4064000" cy="368300"/>
          </a:xfrm>
          <a:prstGeom prst="rect">
            <a:avLst/>
          </a:prstGeom>
          <a:noFill/>
        </p:spPr>
        <p:txBody>
          <a:bodyPr wrap="square" rtlCol="0">
            <a:spAutoFit/>
          </a:bodyPr>
          <a:p>
            <a:r>
              <a:rPr lang="zh-CN" altLang="en-US" sz="1800"/>
              <a:t>故，由位运算结论：</a:t>
            </a:r>
            <a:endParaRPr lang="zh-CN" altLang="en-US" sz="1800"/>
          </a:p>
        </p:txBody>
      </p:sp>
      <p:pic>
        <p:nvPicPr>
          <p:cNvPr id="14" name="图片 13"/>
          <p:cNvPicPr>
            <a:picLocks noChangeAspect="1"/>
          </p:cNvPicPr>
          <p:nvPr/>
        </p:nvPicPr>
        <p:blipFill>
          <a:blip r:embed="rId5"/>
          <a:stretch>
            <a:fillRect/>
          </a:stretch>
        </p:blipFill>
        <p:spPr>
          <a:xfrm>
            <a:off x="2197100" y="3207385"/>
            <a:ext cx="1743075" cy="361950"/>
          </a:xfrm>
          <a:prstGeom prst="rect">
            <a:avLst/>
          </a:prstGeom>
        </p:spPr>
      </p:pic>
      <p:sp>
        <p:nvSpPr>
          <p:cNvPr id="18" name="圆角矩形 17"/>
          <p:cNvSpPr/>
          <p:nvPr/>
        </p:nvSpPr>
        <p:spPr>
          <a:xfrm>
            <a:off x="2774950" y="970915"/>
            <a:ext cx="1642110" cy="33528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19" name="圆角矩形 18"/>
          <p:cNvSpPr/>
          <p:nvPr/>
        </p:nvSpPr>
        <p:spPr>
          <a:xfrm>
            <a:off x="2192655" y="3176905"/>
            <a:ext cx="1668145" cy="35306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rPr>
              <a:t>2.1 </a:t>
            </a:r>
            <a:r>
              <a:rPr lang="zh-CN" altLang="en-US">
                <a:solidFill>
                  <a:schemeClr val="bg1"/>
                </a:solidFill>
              </a:rPr>
              <a:t>攻击思想</a:t>
            </a:r>
            <a:r>
              <a:rPr lang="en-US" altLang="zh-CN">
                <a:solidFill>
                  <a:schemeClr val="bg1"/>
                </a:solidFill>
              </a:rPr>
              <a:t> - </a:t>
            </a:r>
            <a:r>
              <a:rPr lang="zh-CN" altLang="en-US">
                <a:solidFill>
                  <a:schemeClr val="bg1"/>
                </a:solidFill>
              </a:rPr>
              <a:t>最终轮</a:t>
            </a:r>
            <a:r>
              <a:rPr lang="en-US" altLang="zh-CN">
                <a:solidFill>
                  <a:schemeClr val="bg1"/>
                </a:solidFill>
              </a:rPr>
              <a:t> </a:t>
            </a:r>
            <a:endParaRPr lang="en-US" altLang="zh-CN">
              <a:solidFill>
                <a:schemeClr val="bg1"/>
              </a:solidFill>
            </a:endParaRPr>
          </a:p>
        </p:txBody>
      </p:sp>
      <p:pic>
        <p:nvPicPr>
          <p:cNvPr id="4" name="图片 3"/>
          <p:cNvPicPr>
            <a:picLocks noChangeAspect="1"/>
          </p:cNvPicPr>
          <p:nvPr/>
        </p:nvPicPr>
        <p:blipFill>
          <a:blip r:embed="rId2"/>
          <a:stretch>
            <a:fillRect/>
          </a:stretch>
        </p:blipFill>
        <p:spPr>
          <a:xfrm>
            <a:off x="6090920" y="3419475"/>
            <a:ext cx="9525" cy="19050"/>
          </a:xfrm>
          <a:prstGeom prst="rect">
            <a:avLst/>
          </a:prstGeom>
        </p:spPr>
      </p:pic>
      <p:sp>
        <p:nvSpPr>
          <p:cNvPr id="10" name="文本框 9"/>
          <p:cNvSpPr txBox="1"/>
          <p:nvPr/>
        </p:nvSpPr>
        <p:spPr>
          <a:xfrm>
            <a:off x="0" y="934720"/>
            <a:ext cx="4064000" cy="645160"/>
          </a:xfrm>
          <a:prstGeom prst="rect">
            <a:avLst/>
          </a:prstGeom>
          <a:noFill/>
        </p:spPr>
        <p:txBody>
          <a:bodyPr wrap="square" rtlCol="0">
            <a:spAutoFit/>
          </a:bodyPr>
          <a:p>
            <a:r>
              <a:rPr lang="zh-CN" altLang="en-US" sz="1800"/>
              <a:t>在最终轮中基于如下关系：</a:t>
            </a:r>
            <a:endParaRPr lang="zh-CN" altLang="en-US" sz="1800"/>
          </a:p>
          <a:p>
            <a:r>
              <a:rPr lang="zh-CN" altLang="en-US" sz="1800"/>
              <a:t>其中：</a:t>
            </a:r>
            <a:endParaRPr lang="zh-CN" altLang="en-US" sz="1800"/>
          </a:p>
        </p:txBody>
      </p:sp>
      <p:pic>
        <p:nvPicPr>
          <p:cNvPr id="11" name="图片 10"/>
          <p:cNvPicPr>
            <a:picLocks noChangeAspect="1"/>
          </p:cNvPicPr>
          <p:nvPr/>
        </p:nvPicPr>
        <p:blipFill>
          <a:blip r:embed="rId3"/>
          <a:stretch>
            <a:fillRect/>
          </a:stretch>
        </p:blipFill>
        <p:spPr>
          <a:xfrm>
            <a:off x="2790190" y="941070"/>
            <a:ext cx="1685925" cy="361950"/>
          </a:xfrm>
          <a:prstGeom prst="rect">
            <a:avLst/>
          </a:prstGeom>
        </p:spPr>
      </p:pic>
      <p:pic>
        <p:nvPicPr>
          <p:cNvPr id="12" name="图片 11"/>
          <p:cNvPicPr>
            <a:picLocks noChangeAspect="1"/>
          </p:cNvPicPr>
          <p:nvPr/>
        </p:nvPicPr>
        <p:blipFill>
          <a:blip r:embed="rId4"/>
          <a:stretch>
            <a:fillRect/>
          </a:stretch>
        </p:blipFill>
        <p:spPr>
          <a:xfrm>
            <a:off x="99695" y="1555115"/>
            <a:ext cx="3600450" cy="1495425"/>
          </a:xfrm>
          <a:prstGeom prst="rect">
            <a:avLst/>
          </a:prstGeom>
        </p:spPr>
      </p:pic>
      <p:sp>
        <p:nvSpPr>
          <p:cNvPr id="13" name="文本框 12"/>
          <p:cNvSpPr txBox="1"/>
          <p:nvPr/>
        </p:nvSpPr>
        <p:spPr>
          <a:xfrm>
            <a:off x="100330" y="3168015"/>
            <a:ext cx="4064000" cy="368300"/>
          </a:xfrm>
          <a:prstGeom prst="rect">
            <a:avLst/>
          </a:prstGeom>
          <a:noFill/>
        </p:spPr>
        <p:txBody>
          <a:bodyPr wrap="square" rtlCol="0">
            <a:spAutoFit/>
          </a:bodyPr>
          <a:p>
            <a:r>
              <a:rPr lang="zh-CN" altLang="en-US" sz="1800"/>
              <a:t>故，由位运算结论：</a:t>
            </a:r>
            <a:endParaRPr lang="zh-CN" altLang="en-US" sz="1800"/>
          </a:p>
        </p:txBody>
      </p:sp>
      <p:pic>
        <p:nvPicPr>
          <p:cNvPr id="14" name="图片 13"/>
          <p:cNvPicPr>
            <a:picLocks noChangeAspect="1"/>
          </p:cNvPicPr>
          <p:nvPr/>
        </p:nvPicPr>
        <p:blipFill>
          <a:blip r:embed="rId5"/>
          <a:stretch>
            <a:fillRect/>
          </a:stretch>
        </p:blipFill>
        <p:spPr>
          <a:xfrm>
            <a:off x="2197100" y="3207385"/>
            <a:ext cx="1743075" cy="361950"/>
          </a:xfrm>
          <a:prstGeom prst="rect">
            <a:avLst/>
          </a:prstGeom>
        </p:spPr>
      </p:pic>
      <p:sp>
        <p:nvSpPr>
          <p:cNvPr id="17" name="文本框 16"/>
          <p:cNvSpPr txBox="1"/>
          <p:nvPr/>
        </p:nvSpPr>
        <p:spPr>
          <a:xfrm>
            <a:off x="144780" y="3900805"/>
            <a:ext cx="4064000" cy="1198880"/>
          </a:xfrm>
          <a:prstGeom prst="rect">
            <a:avLst/>
          </a:prstGeom>
          <a:noFill/>
        </p:spPr>
        <p:txBody>
          <a:bodyPr wrap="square" rtlCol="0">
            <a:spAutoFit/>
          </a:bodyPr>
          <a:p>
            <a:r>
              <a:rPr lang="zh-CN" altLang="en-US" sz="1800"/>
              <a:t>如何求出</a:t>
            </a:r>
            <a:r>
              <a:rPr lang="en-US" altLang="zh-CN" sz="1800"/>
              <a:t>x</a:t>
            </a:r>
            <a:r>
              <a:rPr lang="zh-CN" altLang="en-US" sz="1800"/>
              <a:t>？</a:t>
            </a:r>
            <a:endParaRPr lang="zh-CN" altLang="en-US" sz="1800"/>
          </a:p>
          <a:p>
            <a:r>
              <a:rPr lang="zh-CN" altLang="en-US" sz="1800"/>
              <a:t>因为需要进行</a:t>
            </a:r>
            <a:r>
              <a:rPr lang="zh-CN" altLang="en-US" sz="1800">
                <a:solidFill>
                  <a:srgbClr val="2177F9"/>
                </a:solidFill>
              </a:rPr>
              <a:t>针对</a:t>
            </a:r>
            <a:r>
              <a:rPr lang="en-US" altLang="zh-CN" sz="1800">
                <a:solidFill>
                  <a:srgbClr val="2177F9"/>
                </a:solidFill>
              </a:rPr>
              <a:t>x</a:t>
            </a:r>
            <a:r>
              <a:rPr lang="zh-CN" altLang="en-US" sz="1800">
                <a:solidFill>
                  <a:srgbClr val="2177F9"/>
                </a:solidFill>
              </a:rPr>
              <a:t>的查表</a:t>
            </a:r>
            <a:r>
              <a:rPr lang="zh-CN" altLang="en-US" sz="1800"/>
              <a:t>操作，</a:t>
            </a:r>
            <a:endParaRPr lang="zh-CN" altLang="en-US" sz="1800"/>
          </a:p>
          <a:p>
            <a:r>
              <a:rPr lang="zh-CN" altLang="en-US" sz="1800"/>
              <a:t>所以</a:t>
            </a:r>
            <a:r>
              <a:rPr lang="zh-CN" altLang="en-US" sz="1800">
                <a:solidFill>
                  <a:srgbClr val="FF0000"/>
                </a:solidFill>
              </a:rPr>
              <a:t>对表进行</a:t>
            </a:r>
            <a:r>
              <a:rPr lang="en-US" altLang="zh-CN" sz="1800">
                <a:solidFill>
                  <a:srgbClr val="FF0000"/>
                </a:solidFill>
              </a:rPr>
              <a:t>flush and reload</a:t>
            </a:r>
            <a:r>
              <a:rPr lang="zh-CN" altLang="en-US" sz="1800">
                <a:solidFill>
                  <a:srgbClr val="FF0000"/>
                </a:solidFill>
              </a:rPr>
              <a:t>监测</a:t>
            </a:r>
            <a:r>
              <a:rPr lang="zh-CN" altLang="en-US" sz="1800"/>
              <a:t>，</a:t>
            </a:r>
            <a:endParaRPr lang="zh-CN" altLang="en-US" sz="1800"/>
          </a:p>
          <a:p>
            <a:r>
              <a:rPr lang="zh-CN" altLang="en-US" sz="1800"/>
              <a:t>进而</a:t>
            </a:r>
            <a:r>
              <a:rPr lang="zh-CN" altLang="en-US" sz="1800">
                <a:solidFill>
                  <a:srgbClr val="2177F9"/>
                </a:solidFill>
              </a:rPr>
              <a:t>泄露</a:t>
            </a:r>
            <a:r>
              <a:rPr lang="en-US" altLang="zh-CN" sz="1800">
                <a:solidFill>
                  <a:srgbClr val="2177F9"/>
                </a:solidFill>
              </a:rPr>
              <a:t>x</a:t>
            </a:r>
            <a:r>
              <a:rPr lang="zh-CN" altLang="en-US" sz="1800">
                <a:solidFill>
                  <a:srgbClr val="2177F9"/>
                </a:solidFill>
              </a:rPr>
              <a:t>的值</a:t>
            </a:r>
            <a:endParaRPr lang="zh-CN" altLang="en-US" sz="1800">
              <a:solidFill>
                <a:srgbClr val="2177F9"/>
              </a:solidFill>
            </a:endParaRPr>
          </a:p>
        </p:txBody>
      </p:sp>
      <p:sp>
        <p:nvSpPr>
          <p:cNvPr id="18" name="圆角矩形 17"/>
          <p:cNvSpPr/>
          <p:nvPr/>
        </p:nvSpPr>
        <p:spPr>
          <a:xfrm>
            <a:off x="2774950" y="970915"/>
            <a:ext cx="1642110" cy="33528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19" name="圆角矩形 18"/>
          <p:cNvSpPr/>
          <p:nvPr/>
        </p:nvSpPr>
        <p:spPr>
          <a:xfrm>
            <a:off x="2192655" y="3176905"/>
            <a:ext cx="1668145" cy="35306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2.1</a:t>
            </a:r>
            <a:r>
              <a:rPr lang="en-US" altLang="zh-CN">
                <a:solidFill>
                  <a:schemeClr val="bg1"/>
                </a:solidFill>
              </a:rPr>
              <a:t> </a:t>
            </a:r>
            <a:r>
              <a:rPr lang="zh-CN" altLang="en-US">
                <a:solidFill>
                  <a:schemeClr val="bg1"/>
                </a:solidFill>
              </a:rPr>
              <a:t>加密细节</a:t>
            </a:r>
            <a:r>
              <a:rPr lang="en-US" altLang="zh-CN">
                <a:solidFill>
                  <a:schemeClr val="bg1"/>
                </a:solidFill>
              </a:rPr>
              <a:t> - </a:t>
            </a:r>
            <a:r>
              <a:rPr lang="zh-CN" altLang="en-US">
                <a:solidFill>
                  <a:schemeClr val="bg1"/>
                </a:solidFill>
              </a:rPr>
              <a:t>最终轮</a:t>
            </a:r>
            <a:r>
              <a:rPr lang="en-US" altLang="zh-CN">
                <a:solidFill>
                  <a:schemeClr val="bg1"/>
                </a:solidFill>
              </a:rPr>
              <a:t> </a:t>
            </a:r>
            <a:endParaRPr lang="en-US" altLang="zh-CN">
              <a:solidFill>
                <a:schemeClr val="bg1"/>
              </a:solidFill>
            </a:endParaRPr>
          </a:p>
        </p:txBody>
      </p:sp>
      <p:pic>
        <p:nvPicPr>
          <p:cNvPr id="4" name="图片 3"/>
          <p:cNvPicPr>
            <a:picLocks noChangeAspect="1"/>
          </p:cNvPicPr>
          <p:nvPr/>
        </p:nvPicPr>
        <p:blipFill>
          <a:blip r:embed="rId2"/>
          <a:stretch>
            <a:fillRect/>
          </a:stretch>
        </p:blipFill>
        <p:spPr>
          <a:xfrm>
            <a:off x="6090920" y="3419475"/>
            <a:ext cx="9525" cy="19050"/>
          </a:xfrm>
          <a:prstGeom prst="rect">
            <a:avLst/>
          </a:prstGeom>
        </p:spPr>
      </p:pic>
      <p:pic>
        <p:nvPicPr>
          <p:cNvPr id="3" name="图片 2"/>
          <p:cNvPicPr>
            <a:picLocks noChangeAspect="1"/>
          </p:cNvPicPr>
          <p:nvPr/>
        </p:nvPicPr>
        <p:blipFill>
          <a:blip r:embed="rId3"/>
          <a:stretch>
            <a:fillRect/>
          </a:stretch>
        </p:blipFill>
        <p:spPr>
          <a:xfrm>
            <a:off x="560705" y="1325245"/>
            <a:ext cx="3886200" cy="1524000"/>
          </a:xfrm>
          <a:prstGeom prst="rect">
            <a:avLst/>
          </a:prstGeom>
        </p:spPr>
      </p:pic>
      <p:pic>
        <p:nvPicPr>
          <p:cNvPr id="5" name="图片 4"/>
          <p:cNvPicPr>
            <a:picLocks noChangeAspect="1"/>
          </p:cNvPicPr>
          <p:nvPr/>
        </p:nvPicPr>
        <p:blipFill>
          <a:blip r:embed="rId4"/>
          <a:stretch>
            <a:fillRect/>
          </a:stretch>
        </p:blipFill>
        <p:spPr>
          <a:xfrm>
            <a:off x="0" y="935355"/>
            <a:ext cx="5410200" cy="323850"/>
          </a:xfrm>
          <a:prstGeom prst="rect">
            <a:avLst/>
          </a:prstGeom>
        </p:spPr>
      </p:pic>
      <p:pic>
        <p:nvPicPr>
          <p:cNvPr id="6" name="图片 5"/>
          <p:cNvPicPr>
            <a:picLocks noChangeAspect="1"/>
          </p:cNvPicPr>
          <p:nvPr/>
        </p:nvPicPr>
        <p:blipFill>
          <a:blip r:embed="rId5"/>
          <a:stretch>
            <a:fillRect/>
          </a:stretch>
        </p:blipFill>
        <p:spPr>
          <a:xfrm>
            <a:off x="90805" y="2903220"/>
            <a:ext cx="5019675" cy="314325"/>
          </a:xfrm>
          <a:prstGeom prst="rect">
            <a:avLst/>
          </a:prstGeom>
        </p:spPr>
      </p:pic>
      <p:pic>
        <p:nvPicPr>
          <p:cNvPr id="7" name="图片 6"/>
          <p:cNvPicPr>
            <a:picLocks noChangeAspect="1"/>
          </p:cNvPicPr>
          <p:nvPr/>
        </p:nvPicPr>
        <p:blipFill>
          <a:blip r:embed="rId6"/>
          <a:stretch>
            <a:fillRect/>
          </a:stretch>
        </p:blipFill>
        <p:spPr>
          <a:xfrm>
            <a:off x="560705" y="3271520"/>
            <a:ext cx="3314700" cy="1485900"/>
          </a:xfrm>
          <a:prstGeom prst="rect">
            <a:avLst/>
          </a:prstGeom>
        </p:spPr>
      </p:pic>
      <p:sp>
        <p:nvSpPr>
          <p:cNvPr id="8" name="文本框 7"/>
          <p:cNvSpPr txBox="1"/>
          <p:nvPr/>
        </p:nvSpPr>
        <p:spPr>
          <a:xfrm>
            <a:off x="5939790" y="935355"/>
            <a:ext cx="4064000" cy="337185"/>
          </a:xfrm>
          <a:prstGeom prst="rect">
            <a:avLst/>
          </a:prstGeom>
          <a:noFill/>
        </p:spPr>
        <p:txBody>
          <a:bodyPr wrap="square" rtlCol="0">
            <a:spAutoFit/>
          </a:bodyPr>
          <a:p>
            <a:r>
              <a:rPr lang="zh-CN" altLang="en-US" sz="1600"/>
              <a:t>依然使用</a:t>
            </a:r>
            <a:r>
              <a:rPr lang="en-US" altLang="zh-CN" sz="1600"/>
              <a:t>T</a:t>
            </a:r>
            <a:r>
              <a:rPr lang="zh-CN" altLang="en-US" sz="1600"/>
              <a:t>表加速加密最终轮</a:t>
            </a:r>
            <a:endParaRPr lang="zh-CN" altLang="en-US" sz="1600"/>
          </a:p>
        </p:txBody>
      </p:sp>
      <p:pic>
        <p:nvPicPr>
          <p:cNvPr id="15" name="图片 14"/>
          <p:cNvPicPr>
            <a:picLocks noChangeAspect="1"/>
          </p:cNvPicPr>
          <p:nvPr/>
        </p:nvPicPr>
        <p:blipFill>
          <a:blip r:embed="rId7"/>
          <a:stretch>
            <a:fillRect/>
          </a:stretch>
        </p:blipFill>
        <p:spPr>
          <a:xfrm>
            <a:off x="5939790" y="1325245"/>
            <a:ext cx="3590925" cy="304800"/>
          </a:xfrm>
          <a:prstGeom prst="rect">
            <a:avLst/>
          </a:prstGeom>
        </p:spPr>
      </p:pic>
      <p:pic>
        <p:nvPicPr>
          <p:cNvPr id="20" name="图片 19"/>
          <p:cNvPicPr>
            <a:picLocks noChangeAspect="1"/>
          </p:cNvPicPr>
          <p:nvPr/>
        </p:nvPicPr>
        <p:blipFill>
          <a:blip r:embed="rId8"/>
          <a:stretch>
            <a:fillRect/>
          </a:stretch>
        </p:blipFill>
        <p:spPr>
          <a:xfrm>
            <a:off x="5939790" y="1718310"/>
            <a:ext cx="6252210" cy="1547495"/>
          </a:xfrm>
          <a:prstGeom prst="rect">
            <a:avLst/>
          </a:prstGeom>
        </p:spPr>
      </p:pic>
      <p:sp>
        <p:nvSpPr>
          <p:cNvPr id="9" name="圆角矩形 8"/>
          <p:cNvSpPr/>
          <p:nvPr/>
        </p:nvSpPr>
        <p:spPr>
          <a:xfrm>
            <a:off x="6360160" y="1711960"/>
            <a:ext cx="5596255" cy="1226820"/>
          </a:xfrm>
          <a:prstGeom prst="roundRect">
            <a:avLst/>
          </a:prstGeom>
          <a:ln>
            <a:solidFill>
              <a:srgbClr val="00B05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10" name="圆角矩形 9"/>
          <p:cNvSpPr/>
          <p:nvPr/>
        </p:nvSpPr>
        <p:spPr>
          <a:xfrm>
            <a:off x="6356985" y="2954655"/>
            <a:ext cx="1374140" cy="262255"/>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11" name="文本框 10"/>
          <p:cNvSpPr txBox="1"/>
          <p:nvPr/>
        </p:nvSpPr>
        <p:spPr>
          <a:xfrm>
            <a:off x="5565775" y="2108200"/>
            <a:ext cx="4064000" cy="368300"/>
          </a:xfrm>
          <a:prstGeom prst="rect">
            <a:avLst/>
          </a:prstGeom>
          <a:noFill/>
        </p:spPr>
        <p:txBody>
          <a:bodyPr wrap="square" rtlCol="0">
            <a:spAutoFit/>
          </a:bodyPr>
          <a:p>
            <a:r>
              <a:rPr lang="zh-CN" altLang="en-US" sz="1800">
                <a:solidFill>
                  <a:srgbClr val="00B050"/>
                </a:solidFill>
              </a:rPr>
              <a:t>查</a:t>
            </a:r>
            <a:r>
              <a:rPr lang="en-US" altLang="zh-CN" sz="1800">
                <a:solidFill>
                  <a:srgbClr val="00B050"/>
                </a:solidFill>
              </a:rPr>
              <a:t>T</a:t>
            </a:r>
            <a:r>
              <a:rPr lang="zh-CN" altLang="en-US" sz="1800">
                <a:solidFill>
                  <a:srgbClr val="00B050"/>
                </a:solidFill>
              </a:rPr>
              <a:t>表</a:t>
            </a:r>
            <a:endParaRPr lang="zh-CN" altLang="en-US" sz="1800">
              <a:solidFill>
                <a:srgbClr val="00B050"/>
              </a:solidFill>
            </a:endParaRPr>
          </a:p>
        </p:txBody>
      </p:sp>
      <p:sp>
        <p:nvSpPr>
          <p:cNvPr id="12" name="文本框 11"/>
          <p:cNvSpPr txBox="1"/>
          <p:nvPr/>
        </p:nvSpPr>
        <p:spPr>
          <a:xfrm>
            <a:off x="5262880" y="2889250"/>
            <a:ext cx="4064000" cy="368300"/>
          </a:xfrm>
          <a:prstGeom prst="rect">
            <a:avLst/>
          </a:prstGeom>
          <a:noFill/>
        </p:spPr>
        <p:txBody>
          <a:bodyPr wrap="square" rtlCol="0">
            <a:spAutoFit/>
          </a:bodyPr>
          <a:p>
            <a:r>
              <a:rPr lang="zh-CN" altLang="en-US" sz="1800">
                <a:solidFill>
                  <a:srgbClr val="FF0000"/>
                </a:solidFill>
              </a:rPr>
              <a:t>轮密钥加</a:t>
            </a:r>
            <a:endParaRPr lang="zh-CN" altLang="en-US" sz="1800">
              <a:solidFill>
                <a:srgbClr val="FF0000"/>
              </a:solidFill>
            </a:endParaRPr>
          </a:p>
        </p:txBody>
      </p:sp>
      <p:pic>
        <p:nvPicPr>
          <p:cNvPr id="13" name="图片 12"/>
          <p:cNvPicPr>
            <a:picLocks noChangeAspect="1"/>
          </p:cNvPicPr>
          <p:nvPr/>
        </p:nvPicPr>
        <p:blipFill>
          <a:blip r:embed="rId9"/>
          <a:stretch>
            <a:fillRect/>
          </a:stretch>
        </p:blipFill>
        <p:spPr>
          <a:xfrm>
            <a:off x="297180" y="4953000"/>
            <a:ext cx="2682240" cy="1572895"/>
          </a:xfrm>
          <a:prstGeom prst="rect">
            <a:avLst/>
          </a:prstGeom>
        </p:spPr>
      </p:pic>
    </p:spTree>
    <p:custDataLst>
      <p:tags r:id="rId10"/>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2.1</a:t>
            </a:r>
            <a:r>
              <a:rPr lang="en-US" altLang="zh-CN">
                <a:solidFill>
                  <a:schemeClr val="bg1"/>
                </a:solidFill>
                <a:sym typeface="+mn-ea"/>
              </a:rPr>
              <a:t> </a:t>
            </a:r>
            <a:r>
              <a:rPr lang="zh-CN" altLang="en-US">
                <a:solidFill>
                  <a:schemeClr val="bg1"/>
                </a:solidFill>
                <a:sym typeface="+mn-ea"/>
              </a:rPr>
              <a:t>攻击切入点</a:t>
            </a:r>
            <a:r>
              <a:rPr lang="en-US" altLang="zh-CN">
                <a:solidFill>
                  <a:schemeClr val="bg1"/>
                </a:solidFill>
                <a:sym typeface="+mn-ea"/>
              </a:rPr>
              <a:t> - </a:t>
            </a:r>
            <a:r>
              <a:rPr lang="zh-CN" altLang="en-US">
                <a:solidFill>
                  <a:schemeClr val="bg1"/>
                </a:solidFill>
                <a:sym typeface="+mn-ea"/>
              </a:rPr>
              <a:t>最终轮</a:t>
            </a:r>
            <a:r>
              <a:rPr lang="en-US" altLang="zh-CN">
                <a:solidFill>
                  <a:schemeClr val="bg1"/>
                </a:solidFill>
                <a:sym typeface="+mn-ea"/>
              </a:rPr>
              <a:t> - T</a:t>
            </a:r>
            <a:r>
              <a:rPr lang="zh-CN" altLang="en-US">
                <a:solidFill>
                  <a:schemeClr val="bg1"/>
                </a:solidFill>
                <a:sym typeface="+mn-ea"/>
              </a:rPr>
              <a:t>表</a:t>
            </a:r>
            <a:endParaRPr lang="en-US" altLang="zh-CN">
              <a:solidFill>
                <a:schemeClr val="bg1"/>
              </a:solidFill>
            </a:endParaRPr>
          </a:p>
        </p:txBody>
      </p:sp>
      <p:pic>
        <p:nvPicPr>
          <p:cNvPr id="4" name="图片 3"/>
          <p:cNvPicPr>
            <a:picLocks noChangeAspect="1"/>
          </p:cNvPicPr>
          <p:nvPr/>
        </p:nvPicPr>
        <p:blipFill>
          <a:blip r:embed="rId2"/>
          <a:stretch>
            <a:fillRect/>
          </a:stretch>
        </p:blipFill>
        <p:spPr>
          <a:xfrm>
            <a:off x="647065" y="2722245"/>
            <a:ext cx="9525" cy="19050"/>
          </a:xfrm>
          <a:prstGeom prst="rect">
            <a:avLst/>
          </a:prstGeom>
        </p:spPr>
      </p:pic>
      <p:pic>
        <p:nvPicPr>
          <p:cNvPr id="20" name="图片 19"/>
          <p:cNvPicPr>
            <a:picLocks noChangeAspect="1"/>
          </p:cNvPicPr>
          <p:nvPr/>
        </p:nvPicPr>
        <p:blipFill>
          <a:blip r:embed="rId3"/>
          <a:srcRect b="21133"/>
          <a:stretch>
            <a:fillRect/>
          </a:stretch>
        </p:blipFill>
        <p:spPr>
          <a:xfrm>
            <a:off x="922020" y="1017270"/>
            <a:ext cx="6252210" cy="1220470"/>
          </a:xfrm>
          <a:prstGeom prst="rect">
            <a:avLst/>
          </a:prstGeom>
        </p:spPr>
      </p:pic>
      <p:sp>
        <p:nvSpPr>
          <p:cNvPr id="9" name="圆角矩形 8"/>
          <p:cNvSpPr/>
          <p:nvPr/>
        </p:nvSpPr>
        <p:spPr>
          <a:xfrm>
            <a:off x="916305" y="1014730"/>
            <a:ext cx="6187440" cy="1226820"/>
          </a:xfrm>
          <a:prstGeom prst="roundRect">
            <a:avLst/>
          </a:prstGeom>
          <a:ln>
            <a:solidFill>
              <a:srgbClr val="00B05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11" name="文本框 10"/>
          <p:cNvSpPr txBox="1"/>
          <p:nvPr/>
        </p:nvSpPr>
        <p:spPr>
          <a:xfrm>
            <a:off x="121920" y="1410970"/>
            <a:ext cx="4064000" cy="368300"/>
          </a:xfrm>
          <a:prstGeom prst="rect">
            <a:avLst/>
          </a:prstGeom>
          <a:noFill/>
        </p:spPr>
        <p:txBody>
          <a:bodyPr wrap="square" rtlCol="0">
            <a:spAutoFit/>
          </a:bodyPr>
          <a:p>
            <a:r>
              <a:rPr lang="zh-CN" altLang="en-US" sz="1800">
                <a:solidFill>
                  <a:srgbClr val="00B050"/>
                </a:solidFill>
              </a:rPr>
              <a:t>查</a:t>
            </a:r>
            <a:r>
              <a:rPr lang="en-US" altLang="zh-CN" sz="1800">
                <a:solidFill>
                  <a:srgbClr val="00B050"/>
                </a:solidFill>
              </a:rPr>
              <a:t>T</a:t>
            </a:r>
            <a:r>
              <a:rPr lang="zh-CN" altLang="en-US" sz="1800">
                <a:solidFill>
                  <a:srgbClr val="00B050"/>
                </a:solidFill>
              </a:rPr>
              <a:t>表</a:t>
            </a:r>
            <a:endParaRPr lang="zh-CN" altLang="en-US" sz="1800">
              <a:solidFill>
                <a:srgbClr val="00B050"/>
              </a:solidFill>
            </a:endParaRPr>
          </a:p>
        </p:txBody>
      </p:sp>
      <p:sp>
        <p:nvSpPr>
          <p:cNvPr id="3" name="文本框 2"/>
          <p:cNvSpPr txBox="1"/>
          <p:nvPr/>
        </p:nvSpPr>
        <p:spPr>
          <a:xfrm>
            <a:off x="171450" y="2497455"/>
            <a:ext cx="12020550" cy="368300"/>
          </a:xfrm>
          <a:prstGeom prst="rect">
            <a:avLst/>
          </a:prstGeom>
          <a:noFill/>
        </p:spPr>
        <p:txBody>
          <a:bodyPr wrap="square" rtlCol="0">
            <a:spAutoFit/>
          </a:bodyPr>
          <a:p>
            <a:r>
              <a:rPr lang="zh-CN" altLang="en-US" sz="1800"/>
              <a:t>对</a:t>
            </a:r>
            <a:r>
              <a:rPr lang="en-US" altLang="zh-CN" sz="1800"/>
              <a:t>T</a:t>
            </a:r>
            <a:r>
              <a:rPr lang="zh-CN" altLang="en-US" sz="1800"/>
              <a:t>表进行</a:t>
            </a:r>
            <a:r>
              <a:rPr lang="en-US" altLang="zh-CN" sz="1800"/>
              <a:t>flush and reload</a:t>
            </a:r>
            <a:r>
              <a:rPr lang="zh-CN" altLang="en-US" sz="1800"/>
              <a:t>检测。一共有</a:t>
            </a:r>
            <a:r>
              <a:rPr lang="en-US" altLang="zh-CN" sz="1800"/>
              <a:t>4</a:t>
            </a:r>
            <a:r>
              <a:rPr lang="zh-CN" altLang="en-US" sz="1800"/>
              <a:t>个</a:t>
            </a:r>
            <a:r>
              <a:rPr lang="en-US" altLang="zh-CN" sz="1800"/>
              <a:t>T</a:t>
            </a:r>
            <a:r>
              <a:rPr lang="zh-CN" altLang="en-US" sz="1800"/>
              <a:t>表（</a:t>
            </a:r>
            <a:r>
              <a:rPr lang="en-US" altLang="zh-CN" sz="1800"/>
              <a:t>                           </a:t>
            </a:r>
            <a:r>
              <a:rPr lang="zh-CN" altLang="en-US" sz="1800"/>
              <a:t>），每一个</a:t>
            </a:r>
            <a:r>
              <a:rPr lang="en-US" altLang="zh-CN" sz="1800"/>
              <a:t>T</a:t>
            </a:r>
            <a:r>
              <a:rPr lang="zh-CN" altLang="en-US" sz="1800"/>
              <a:t>表对应一行数据，独立分工：</a:t>
            </a:r>
            <a:endParaRPr lang="zh-CN" altLang="en-US" sz="1800"/>
          </a:p>
        </p:txBody>
      </p:sp>
      <p:pic>
        <p:nvPicPr>
          <p:cNvPr id="5" name="图片 4"/>
          <p:cNvPicPr>
            <a:picLocks noChangeAspect="1"/>
          </p:cNvPicPr>
          <p:nvPr/>
        </p:nvPicPr>
        <p:blipFill>
          <a:blip r:embed="rId4"/>
          <a:stretch>
            <a:fillRect/>
          </a:stretch>
        </p:blipFill>
        <p:spPr>
          <a:xfrm>
            <a:off x="5450205" y="2555240"/>
            <a:ext cx="1724025" cy="285750"/>
          </a:xfrm>
          <a:prstGeom prst="rect">
            <a:avLst/>
          </a:prstGeom>
        </p:spPr>
      </p:pic>
      <p:sp>
        <p:nvSpPr>
          <p:cNvPr id="7" name="文本框 6"/>
          <p:cNvSpPr txBox="1"/>
          <p:nvPr/>
        </p:nvSpPr>
        <p:spPr>
          <a:xfrm>
            <a:off x="171450" y="4598035"/>
            <a:ext cx="11442065" cy="1198880"/>
          </a:xfrm>
          <a:prstGeom prst="rect">
            <a:avLst/>
          </a:prstGeom>
          <a:noFill/>
        </p:spPr>
        <p:txBody>
          <a:bodyPr wrap="square" rtlCol="0">
            <a:spAutoFit/>
          </a:bodyPr>
          <a:p>
            <a:r>
              <a:rPr lang="zh-CN" altLang="en-US" sz="1800"/>
              <a:t>缓存行大小：</a:t>
            </a:r>
            <a:r>
              <a:rPr lang="en-US" altLang="zh-CN" sz="1800"/>
              <a:t>64B</a:t>
            </a:r>
            <a:endParaRPr lang="zh-CN" altLang="en-US" sz="1800"/>
          </a:p>
          <a:p>
            <a:r>
              <a:rPr lang="zh-CN" altLang="en-US" sz="1800">
                <a:sym typeface="+mn-ea"/>
              </a:rPr>
              <a:t>每个</a:t>
            </a:r>
            <a:r>
              <a:rPr lang="en-US" altLang="zh-CN" sz="1800">
                <a:sym typeface="+mn-ea"/>
              </a:rPr>
              <a:t>T</a:t>
            </a:r>
            <a:r>
              <a:rPr lang="zh-CN" altLang="en-US" sz="1800">
                <a:sym typeface="+mn-ea"/>
              </a:rPr>
              <a:t>表大小：</a:t>
            </a:r>
            <a:r>
              <a:rPr lang="en-US" altLang="zh-CN" sz="1800">
                <a:sym typeface="+mn-ea"/>
              </a:rPr>
              <a:t>256</a:t>
            </a:r>
            <a:r>
              <a:rPr lang="zh-CN" altLang="en-US" sz="1800">
                <a:sym typeface="+mn-ea"/>
              </a:rPr>
              <a:t>×</a:t>
            </a:r>
            <a:r>
              <a:rPr lang="en-US" altLang="zh-CN" sz="1800">
                <a:sym typeface="+mn-ea"/>
              </a:rPr>
              <a:t>4B = 1024B = 16</a:t>
            </a:r>
            <a:r>
              <a:rPr lang="zh-CN" altLang="en-US" sz="1800">
                <a:sym typeface="+mn-ea"/>
              </a:rPr>
              <a:t>×</a:t>
            </a:r>
            <a:r>
              <a:rPr lang="en-US" altLang="zh-CN" sz="1800">
                <a:sym typeface="+mn-ea"/>
              </a:rPr>
              <a:t>64B = 16</a:t>
            </a:r>
            <a:r>
              <a:rPr lang="zh-CN" altLang="en-US" sz="1800">
                <a:sym typeface="+mn-ea"/>
              </a:rPr>
              <a:t>×</a:t>
            </a:r>
            <a:r>
              <a:rPr lang="en-US" altLang="zh-CN" sz="1800">
                <a:sym typeface="+mn-ea"/>
              </a:rPr>
              <a:t>16</a:t>
            </a:r>
            <a:r>
              <a:rPr lang="zh-CN" altLang="en-US" sz="1800">
                <a:sym typeface="+mn-ea"/>
              </a:rPr>
              <a:t>×</a:t>
            </a:r>
            <a:r>
              <a:rPr lang="en-US" altLang="zh-CN" sz="1800">
                <a:sym typeface="+mn-ea"/>
              </a:rPr>
              <a:t>4B </a:t>
            </a:r>
            <a:r>
              <a:rPr lang="zh-CN" altLang="en-US" sz="1800">
                <a:sym typeface="+mn-ea"/>
              </a:rPr>
              <a:t>（每个</a:t>
            </a:r>
            <a:r>
              <a:rPr lang="en-US" altLang="zh-CN" sz="1800">
                <a:sym typeface="+mn-ea"/>
              </a:rPr>
              <a:t>T</a:t>
            </a:r>
            <a:r>
              <a:rPr lang="zh-CN" altLang="en-US" sz="1800">
                <a:sym typeface="+mn-ea"/>
              </a:rPr>
              <a:t>表占</a:t>
            </a:r>
            <a:r>
              <a:rPr lang="en-US" altLang="zh-CN" sz="1800">
                <a:sym typeface="+mn-ea"/>
              </a:rPr>
              <a:t>16</a:t>
            </a:r>
            <a:r>
              <a:rPr lang="zh-CN" altLang="en-US" sz="1800">
                <a:sym typeface="+mn-ea"/>
              </a:rPr>
              <a:t>个缓存行，每个缓存行有</a:t>
            </a:r>
            <a:r>
              <a:rPr lang="en-US" altLang="zh-CN" sz="1800">
                <a:sym typeface="+mn-ea"/>
              </a:rPr>
              <a:t>16</a:t>
            </a:r>
            <a:r>
              <a:rPr lang="zh-CN" altLang="en-US" sz="1800">
                <a:sym typeface="+mn-ea"/>
              </a:rPr>
              <a:t>个条目）</a:t>
            </a:r>
            <a:endParaRPr lang="zh-CN" altLang="en-US" sz="1800"/>
          </a:p>
          <a:p>
            <a:r>
              <a:rPr lang="zh-CN" altLang="en-US" sz="1800"/>
              <a:t>每个</a:t>
            </a:r>
            <a:r>
              <a:rPr lang="en-US" altLang="zh-CN" sz="1800"/>
              <a:t>T</a:t>
            </a:r>
            <a:r>
              <a:rPr lang="zh-CN" altLang="en-US" sz="1800"/>
              <a:t>表的前</a:t>
            </a:r>
            <a:r>
              <a:rPr lang="en-US" altLang="zh-CN" sz="1800"/>
              <a:t>16</a:t>
            </a:r>
            <a:r>
              <a:rPr lang="zh-CN" altLang="en-US" sz="1800"/>
              <a:t>个条目（索引</a:t>
            </a:r>
            <a:r>
              <a:rPr lang="en-US" altLang="zh-CN" sz="1800"/>
              <a:t>0~15</a:t>
            </a:r>
            <a:r>
              <a:rPr lang="zh-CN" altLang="en-US" sz="1800"/>
              <a:t>）恰好占一个缓存行。</a:t>
            </a:r>
            <a:endParaRPr lang="zh-CN" altLang="en-US" sz="1800"/>
          </a:p>
          <a:p>
            <a:r>
              <a:rPr lang="zh-CN" altLang="en-US" sz="1800">
                <a:solidFill>
                  <a:srgbClr val="2177F9"/>
                </a:solidFill>
              </a:rPr>
              <a:t>攻击者监控：每个</a:t>
            </a:r>
            <a:r>
              <a:rPr lang="en-US" altLang="zh-CN" sz="1800">
                <a:solidFill>
                  <a:srgbClr val="2177F9"/>
                </a:solidFill>
              </a:rPr>
              <a:t>T</a:t>
            </a:r>
            <a:r>
              <a:rPr lang="zh-CN" altLang="en-US" sz="1800">
                <a:solidFill>
                  <a:srgbClr val="2177F9"/>
                </a:solidFill>
              </a:rPr>
              <a:t>表的第</a:t>
            </a:r>
            <a:r>
              <a:rPr lang="en-US" altLang="zh-CN" sz="1800">
                <a:solidFill>
                  <a:srgbClr val="2177F9"/>
                </a:solidFill>
              </a:rPr>
              <a:t>0</a:t>
            </a:r>
            <a:r>
              <a:rPr lang="zh-CN" altLang="en-US" sz="1800">
                <a:solidFill>
                  <a:srgbClr val="2177F9"/>
                </a:solidFill>
              </a:rPr>
              <a:t>号缓存行（共</a:t>
            </a:r>
            <a:r>
              <a:rPr lang="en-US" altLang="zh-CN" sz="1800">
                <a:solidFill>
                  <a:srgbClr val="2177F9"/>
                </a:solidFill>
              </a:rPr>
              <a:t>4</a:t>
            </a:r>
            <a:r>
              <a:rPr lang="zh-CN" altLang="en-US" sz="1800">
                <a:solidFill>
                  <a:srgbClr val="2177F9"/>
                </a:solidFill>
              </a:rPr>
              <a:t>个缓存行）。</a:t>
            </a:r>
            <a:endParaRPr lang="zh-CN" altLang="en-US" sz="1800">
              <a:solidFill>
                <a:srgbClr val="2177F9"/>
              </a:solidFill>
            </a:endParaRPr>
          </a:p>
        </p:txBody>
      </p:sp>
      <p:sp>
        <p:nvSpPr>
          <p:cNvPr id="8" name="文本框 7"/>
          <p:cNvSpPr txBox="1"/>
          <p:nvPr/>
        </p:nvSpPr>
        <p:spPr>
          <a:xfrm>
            <a:off x="171450" y="5899150"/>
            <a:ext cx="7664450" cy="583565"/>
          </a:xfrm>
          <a:prstGeom prst="rect">
            <a:avLst/>
          </a:prstGeom>
          <a:noFill/>
        </p:spPr>
        <p:txBody>
          <a:bodyPr wrap="square" rtlCol="0">
            <a:spAutoFit/>
          </a:bodyPr>
          <a:p>
            <a:r>
              <a:rPr lang="zh-CN" altLang="en-US" sz="3200">
                <a:solidFill>
                  <a:srgbClr val="FF0000"/>
                </a:solidFill>
                <a:sym typeface="+mn-ea"/>
              </a:rPr>
              <a:t>攻击方法：</a:t>
            </a:r>
            <a:r>
              <a:rPr lang="en-US" altLang="zh-CN" sz="3200">
                <a:solidFill>
                  <a:srgbClr val="FF0000"/>
                </a:solidFill>
                <a:sym typeface="+mn-ea"/>
              </a:rPr>
              <a:t>flush and reload + </a:t>
            </a:r>
            <a:r>
              <a:rPr lang="zh-CN" altLang="en-US" sz="3200">
                <a:solidFill>
                  <a:srgbClr val="FF0000"/>
                </a:solidFill>
                <a:sym typeface="+mn-ea"/>
              </a:rPr>
              <a:t>排除法</a:t>
            </a:r>
            <a:endParaRPr lang="zh-CN" altLang="en-US" sz="3200">
              <a:solidFill>
                <a:srgbClr val="FF0000"/>
              </a:solidFill>
              <a:sym typeface="+mn-ea"/>
            </a:endParaRPr>
          </a:p>
        </p:txBody>
      </p:sp>
      <p:pic>
        <p:nvPicPr>
          <p:cNvPr id="10" name="图片 9"/>
          <p:cNvPicPr>
            <a:picLocks noChangeAspect="1"/>
          </p:cNvPicPr>
          <p:nvPr/>
        </p:nvPicPr>
        <p:blipFill>
          <a:blip r:embed="rId5"/>
          <a:stretch>
            <a:fillRect/>
          </a:stretch>
        </p:blipFill>
        <p:spPr>
          <a:xfrm>
            <a:off x="212725" y="2939415"/>
            <a:ext cx="4662170" cy="1609090"/>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2.1</a:t>
            </a:r>
            <a:r>
              <a:rPr lang="en-US" altLang="zh-CN">
                <a:solidFill>
                  <a:schemeClr val="bg1"/>
                </a:solidFill>
                <a:sym typeface="+mn-ea"/>
              </a:rPr>
              <a:t> </a:t>
            </a:r>
            <a:r>
              <a:rPr lang="zh-CN" altLang="en-US">
                <a:solidFill>
                  <a:schemeClr val="bg1"/>
                </a:solidFill>
                <a:sym typeface="+mn-ea"/>
              </a:rPr>
              <a:t>监控策略</a:t>
            </a:r>
            <a:r>
              <a:rPr lang="zh-CN" altLang="en-US">
                <a:solidFill>
                  <a:schemeClr val="bg1"/>
                </a:solidFill>
                <a:sym typeface="+mn-ea"/>
              </a:rPr>
              <a:t>解释</a:t>
            </a:r>
            <a:endParaRPr lang="zh-CN" altLang="en-US">
              <a:solidFill>
                <a:schemeClr val="bg1"/>
              </a:solidFill>
              <a:sym typeface="+mn-ea"/>
            </a:endParaRPr>
          </a:p>
        </p:txBody>
      </p:sp>
      <p:pic>
        <p:nvPicPr>
          <p:cNvPr id="4" name="图片 3"/>
          <p:cNvPicPr>
            <a:picLocks noChangeAspect="1"/>
          </p:cNvPicPr>
          <p:nvPr/>
        </p:nvPicPr>
        <p:blipFill>
          <a:blip r:embed="rId2"/>
          <a:stretch>
            <a:fillRect/>
          </a:stretch>
        </p:blipFill>
        <p:spPr>
          <a:xfrm>
            <a:off x="647065" y="2722245"/>
            <a:ext cx="9525" cy="19050"/>
          </a:xfrm>
          <a:prstGeom prst="rect">
            <a:avLst/>
          </a:prstGeom>
        </p:spPr>
      </p:pic>
      <p:sp>
        <p:nvSpPr>
          <p:cNvPr id="7" name="文本框 6"/>
          <p:cNvSpPr txBox="1"/>
          <p:nvPr/>
        </p:nvSpPr>
        <p:spPr>
          <a:xfrm>
            <a:off x="0" y="974725"/>
            <a:ext cx="11442065" cy="368300"/>
          </a:xfrm>
          <a:prstGeom prst="rect">
            <a:avLst/>
          </a:prstGeom>
          <a:noFill/>
        </p:spPr>
        <p:txBody>
          <a:bodyPr wrap="square" rtlCol="0">
            <a:spAutoFit/>
          </a:bodyPr>
          <a:p>
            <a:r>
              <a:rPr lang="zh-CN" altLang="en-US" sz="1800">
                <a:solidFill>
                  <a:srgbClr val="FF0000"/>
                </a:solidFill>
              </a:rPr>
              <a:t>为什么攻击者只需监控每个</a:t>
            </a:r>
            <a:r>
              <a:rPr lang="en-US" altLang="zh-CN" sz="1800">
                <a:solidFill>
                  <a:srgbClr val="FF0000"/>
                </a:solidFill>
              </a:rPr>
              <a:t>T</a:t>
            </a:r>
            <a:r>
              <a:rPr lang="zh-CN" altLang="en-US" sz="1800">
                <a:solidFill>
                  <a:srgbClr val="FF0000"/>
                </a:solidFill>
              </a:rPr>
              <a:t>表的第</a:t>
            </a:r>
            <a:r>
              <a:rPr lang="en-US" altLang="zh-CN" sz="1800">
                <a:solidFill>
                  <a:srgbClr val="FF0000"/>
                </a:solidFill>
              </a:rPr>
              <a:t>0</a:t>
            </a:r>
            <a:r>
              <a:rPr lang="zh-CN" altLang="en-US" sz="1800">
                <a:solidFill>
                  <a:srgbClr val="FF0000"/>
                </a:solidFill>
              </a:rPr>
              <a:t>号缓存行？</a:t>
            </a:r>
            <a:endParaRPr lang="zh-CN" altLang="en-US" sz="1800">
              <a:solidFill>
                <a:srgbClr val="FF0000"/>
              </a:solidFill>
            </a:endParaRPr>
          </a:p>
        </p:txBody>
      </p:sp>
      <p:sp>
        <p:nvSpPr>
          <p:cNvPr id="6" name="文本框 5"/>
          <p:cNvSpPr txBox="1"/>
          <p:nvPr/>
        </p:nvSpPr>
        <p:spPr>
          <a:xfrm>
            <a:off x="74295" y="1544955"/>
            <a:ext cx="12042775" cy="3969385"/>
          </a:xfrm>
          <a:prstGeom prst="rect">
            <a:avLst/>
          </a:prstGeom>
          <a:noFill/>
        </p:spPr>
        <p:txBody>
          <a:bodyPr wrap="square" rtlCol="0">
            <a:spAutoFit/>
          </a:bodyPr>
          <a:p>
            <a:r>
              <a:rPr lang="en-US" altLang="zh-CN" sz="1800"/>
              <a:t>1. </a:t>
            </a:r>
            <a:r>
              <a:rPr lang="zh-CN" altLang="en-US" sz="1800">
                <a:solidFill>
                  <a:srgbClr val="2177F9"/>
                </a:solidFill>
              </a:rPr>
              <a:t>足够的信息量</a:t>
            </a:r>
            <a:endParaRPr lang="zh-CN" altLang="en-US" sz="1800">
              <a:solidFill>
                <a:srgbClr val="2177F9"/>
              </a:solidFill>
            </a:endParaRPr>
          </a:p>
          <a:p>
            <a:endParaRPr lang="zh-CN" altLang="en-US" sz="1800">
              <a:solidFill>
                <a:srgbClr val="2177F9"/>
              </a:solidFill>
            </a:endParaRPr>
          </a:p>
          <a:p>
            <a:r>
              <a:rPr lang="en-US" altLang="zh-CN" sz="1800"/>
              <a:t>2. </a:t>
            </a:r>
            <a:r>
              <a:rPr lang="zh-CN" altLang="en-US" sz="1800">
                <a:solidFill>
                  <a:srgbClr val="2177F9"/>
                </a:solidFill>
              </a:rPr>
              <a:t>降低</a:t>
            </a:r>
            <a:r>
              <a:rPr lang="zh-CN" altLang="en-US" sz="1800">
                <a:solidFill>
                  <a:srgbClr val="2177F9"/>
                </a:solidFill>
              </a:rPr>
              <a:t>单次攻击开销</a:t>
            </a:r>
            <a:endParaRPr lang="zh-CN" altLang="en-US" sz="1800">
              <a:solidFill>
                <a:srgbClr val="2177F9"/>
              </a:solidFill>
            </a:endParaRPr>
          </a:p>
          <a:p>
            <a:endParaRPr lang="en-US" altLang="zh-CN" sz="1800"/>
          </a:p>
          <a:p>
            <a:r>
              <a:rPr lang="zh-CN" altLang="en-US" sz="1800">
                <a:solidFill>
                  <a:srgbClr val="00B050"/>
                </a:solidFill>
              </a:rPr>
              <a:t>减少刷新时间</a:t>
            </a:r>
            <a:r>
              <a:rPr lang="zh-CN" altLang="en-US" sz="1800"/>
              <a:t>：每次加密前需要刷新所有监控的缓存行。若只监控</a:t>
            </a:r>
            <a:r>
              <a:rPr lang="en-US" altLang="zh-CN" sz="1800"/>
              <a:t> 4 </a:t>
            </a:r>
            <a:r>
              <a:rPr lang="zh-CN" altLang="en-US" sz="1800"/>
              <a:t>个缓存行（每个</a:t>
            </a:r>
            <a:r>
              <a:rPr lang="en-US" altLang="zh-CN" sz="1800"/>
              <a:t> T </a:t>
            </a:r>
            <a:r>
              <a:rPr lang="zh-CN" altLang="en-US" sz="1800"/>
              <a:t>表一个），只需执行</a:t>
            </a:r>
            <a:r>
              <a:rPr lang="en-US" altLang="zh-CN" sz="1800"/>
              <a:t> 4 </a:t>
            </a:r>
            <a:r>
              <a:rPr lang="zh-CN" altLang="en-US" sz="1800"/>
              <a:t>次</a:t>
            </a:r>
            <a:r>
              <a:rPr lang="en-US" altLang="zh-CN" sz="1800"/>
              <a:t> clflush</a:t>
            </a:r>
            <a:r>
              <a:rPr lang="zh-CN" altLang="en-US" sz="1800"/>
              <a:t>；若监控全部</a:t>
            </a:r>
            <a:r>
              <a:rPr lang="en-US" altLang="zh-CN" sz="1800"/>
              <a:t> 64 </a:t>
            </a:r>
            <a:r>
              <a:rPr lang="zh-CN" altLang="en-US" sz="1800"/>
              <a:t>个缓存行（每个表</a:t>
            </a:r>
            <a:r>
              <a:rPr lang="en-US" altLang="zh-CN" sz="1800"/>
              <a:t> 16 </a:t>
            </a:r>
            <a:r>
              <a:rPr lang="zh-CN" altLang="en-US" sz="1800"/>
              <a:t>行），则需要</a:t>
            </a:r>
            <a:r>
              <a:rPr lang="en-US" altLang="zh-CN" sz="1800"/>
              <a:t> 64 </a:t>
            </a:r>
            <a:r>
              <a:rPr lang="zh-CN" altLang="en-US" sz="1800"/>
              <a:t>次</a:t>
            </a:r>
            <a:r>
              <a:rPr lang="en-US" altLang="zh-CN" sz="1800"/>
              <a:t> clflush</a:t>
            </a:r>
            <a:r>
              <a:rPr lang="zh-CN" altLang="en-US" sz="1800"/>
              <a:t>，这会使攻击明显变慢，且可能干扰受害者的执行。</a:t>
            </a:r>
            <a:endParaRPr lang="zh-CN" altLang="en-US" sz="1800"/>
          </a:p>
          <a:p>
            <a:endParaRPr lang="zh-CN" altLang="en-US" sz="1800"/>
          </a:p>
          <a:p>
            <a:r>
              <a:rPr lang="zh-CN" altLang="en-US" sz="1800">
                <a:solidFill>
                  <a:srgbClr val="00B050"/>
                </a:solidFill>
              </a:rPr>
              <a:t>减少测量时间</a:t>
            </a:r>
            <a:r>
              <a:rPr lang="zh-CN" altLang="en-US" sz="1800"/>
              <a:t>：加密后需要测量所有监控行的访问时间。</a:t>
            </a:r>
            <a:r>
              <a:rPr lang="en-US" altLang="zh-CN" sz="1800"/>
              <a:t>4 </a:t>
            </a:r>
            <a:r>
              <a:rPr lang="zh-CN" altLang="en-US" sz="1800"/>
              <a:t>次测量远少于</a:t>
            </a:r>
            <a:r>
              <a:rPr lang="en-US" altLang="zh-CN" sz="1800"/>
              <a:t> 64 </a:t>
            </a:r>
            <a:r>
              <a:rPr lang="zh-CN" altLang="en-US" sz="1800"/>
              <a:t>次，减少了测量噪声和延迟。</a:t>
            </a:r>
            <a:endParaRPr lang="zh-CN" altLang="en-US" sz="1800"/>
          </a:p>
          <a:p>
            <a:endParaRPr lang="zh-CN" altLang="en-US" sz="1800"/>
          </a:p>
          <a:p>
            <a:r>
              <a:rPr lang="zh-CN" altLang="en-US" sz="1800">
                <a:solidFill>
                  <a:srgbClr val="00B050"/>
                </a:solidFill>
              </a:rPr>
              <a:t>增加隐蔽性</a:t>
            </a:r>
            <a:r>
              <a:rPr lang="zh-CN" altLang="en-US" sz="1800"/>
              <a:t>：频繁刷新大量缓存行会显著增加受害者加密的缓存缺失次数，容易被检测或防御机制发现。只监控少量行则更隐蔽。</a:t>
            </a:r>
            <a:endParaRPr lang="zh-CN" altLang="en-US" sz="1800"/>
          </a:p>
          <a:p>
            <a:endParaRPr lang="zh-CN" altLang="en-US" sz="1800"/>
          </a:p>
          <a:p>
            <a:r>
              <a:rPr lang="en-US" altLang="zh-CN" sz="1800"/>
              <a:t>3. </a:t>
            </a:r>
            <a:r>
              <a:rPr lang="zh-CN" altLang="en-US" sz="1800"/>
              <a:t>测量的时间序列稳定，</a:t>
            </a:r>
            <a:r>
              <a:rPr lang="zh-CN" altLang="en-US" sz="1800">
                <a:solidFill>
                  <a:srgbClr val="2177F9"/>
                </a:solidFill>
              </a:rPr>
              <a:t>阈值容易校准</a:t>
            </a:r>
            <a:r>
              <a:rPr lang="zh-CN" altLang="en-US" sz="1800"/>
              <a:t>。</a:t>
            </a:r>
            <a:endParaRPr lang="zh-CN" altLang="en-US" sz="1800"/>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2.1</a:t>
            </a:r>
            <a:r>
              <a:rPr lang="en-US" altLang="zh-CN">
                <a:solidFill>
                  <a:schemeClr val="bg1"/>
                </a:solidFill>
                <a:sym typeface="+mn-ea"/>
              </a:rPr>
              <a:t> </a:t>
            </a:r>
            <a:r>
              <a:rPr lang="zh-CN" altLang="en-US">
                <a:solidFill>
                  <a:schemeClr val="bg1"/>
                </a:solidFill>
                <a:sym typeface="+mn-ea"/>
              </a:rPr>
              <a:t>攻击：</a:t>
            </a:r>
            <a:r>
              <a:rPr lang="en-US" altLang="zh-CN">
                <a:solidFill>
                  <a:schemeClr val="bg1"/>
                </a:solidFill>
                <a:sym typeface="+mn-ea"/>
              </a:rPr>
              <a:t>flush and reload + </a:t>
            </a:r>
            <a:r>
              <a:rPr lang="zh-CN" altLang="en-US">
                <a:solidFill>
                  <a:schemeClr val="bg1"/>
                </a:solidFill>
                <a:sym typeface="+mn-ea"/>
              </a:rPr>
              <a:t>排除法</a:t>
            </a:r>
            <a:endParaRPr lang="zh-CN" altLang="en-US">
              <a:solidFill>
                <a:schemeClr val="bg1"/>
              </a:solidFill>
              <a:sym typeface="+mn-ea"/>
            </a:endParaRPr>
          </a:p>
        </p:txBody>
      </p:sp>
      <p:pic>
        <p:nvPicPr>
          <p:cNvPr id="4" name="图片 3"/>
          <p:cNvPicPr>
            <a:picLocks noChangeAspect="1"/>
          </p:cNvPicPr>
          <p:nvPr/>
        </p:nvPicPr>
        <p:blipFill>
          <a:blip r:embed="rId2"/>
          <a:stretch>
            <a:fillRect/>
          </a:stretch>
        </p:blipFill>
        <p:spPr>
          <a:xfrm>
            <a:off x="647065" y="2722245"/>
            <a:ext cx="9525" cy="19050"/>
          </a:xfrm>
          <a:prstGeom prst="rect">
            <a:avLst/>
          </a:prstGeom>
        </p:spPr>
      </p:pic>
      <p:sp>
        <p:nvSpPr>
          <p:cNvPr id="7" name="文本框 6"/>
          <p:cNvSpPr txBox="1"/>
          <p:nvPr/>
        </p:nvSpPr>
        <p:spPr>
          <a:xfrm>
            <a:off x="0" y="952500"/>
            <a:ext cx="11442065" cy="1198880"/>
          </a:xfrm>
          <a:prstGeom prst="rect">
            <a:avLst/>
          </a:prstGeom>
          <a:noFill/>
        </p:spPr>
        <p:txBody>
          <a:bodyPr wrap="square" rtlCol="0">
            <a:spAutoFit/>
          </a:bodyPr>
          <a:p>
            <a:r>
              <a:rPr lang="zh-CN" altLang="en-US" sz="1800">
                <a:solidFill>
                  <a:srgbClr val="2177F9"/>
                </a:solidFill>
              </a:rPr>
              <a:t>攻击者监控：每个</a:t>
            </a:r>
            <a:r>
              <a:rPr lang="en-US" altLang="zh-CN" sz="1800">
                <a:solidFill>
                  <a:srgbClr val="2177F9"/>
                </a:solidFill>
              </a:rPr>
              <a:t>T</a:t>
            </a:r>
            <a:r>
              <a:rPr lang="zh-CN" altLang="en-US" sz="1800">
                <a:solidFill>
                  <a:srgbClr val="2177F9"/>
                </a:solidFill>
              </a:rPr>
              <a:t>表的第</a:t>
            </a:r>
            <a:r>
              <a:rPr lang="en-US" altLang="zh-CN" sz="1800">
                <a:solidFill>
                  <a:srgbClr val="2177F9"/>
                </a:solidFill>
              </a:rPr>
              <a:t>0</a:t>
            </a:r>
            <a:r>
              <a:rPr lang="zh-CN" altLang="en-US" sz="1800">
                <a:solidFill>
                  <a:srgbClr val="2177F9"/>
                </a:solidFill>
              </a:rPr>
              <a:t>号缓存行（共</a:t>
            </a:r>
            <a:r>
              <a:rPr lang="en-US" altLang="zh-CN" sz="1800">
                <a:solidFill>
                  <a:srgbClr val="2177F9"/>
                </a:solidFill>
              </a:rPr>
              <a:t>4</a:t>
            </a:r>
            <a:r>
              <a:rPr lang="zh-CN" altLang="en-US" sz="1800">
                <a:solidFill>
                  <a:srgbClr val="2177F9"/>
                </a:solidFill>
              </a:rPr>
              <a:t>个缓存行）</a:t>
            </a:r>
            <a:endParaRPr lang="zh-CN" altLang="en-US" sz="1800">
              <a:solidFill>
                <a:srgbClr val="2177F9"/>
              </a:solidFill>
            </a:endParaRPr>
          </a:p>
          <a:p>
            <a:r>
              <a:rPr lang="zh-CN" altLang="en-US" sz="1800">
                <a:solidFill>
                  <a:schemeClr val="tx1"/>
                </a:solidFill>
              </a:rPr>
              <a:t>以</a:t>
            </a:r>
            <a:r>
              <a:rPr lang="en-US" altLang="zh-CN" sz="1800">
                <a:solidFill>
                  <a:schemeClr val="tx1"/>
                </a:solidFill>
              </a:rPr>
              <a:t>Te0</a:t>
            </a:r>
            <a:r>
              <a:rPr lang="zh-CN" altLang="en-US" sz="1800">
                <a:solidFill>
                  <a:schemeClr val="tx1"/>
                </a:solidFill>
              </a:rPr>
              <a:t>为例：在</a:t>
            </a:r>
            <a:r>
              <a:rPr lang="en-US" altLang="zh-CN" sz="1800">
                <a:solidFill>
                  <a:schemeClr val="tx1"/>
                </a:solidFill>
              </a:rPr>
              <a:t> Flush+Reload </a:t>
            </a:r>
            <a:r>
              <a:rPr lang="zh-CN" altLang="en-US" sz="1800">
                <a:solidFill>
                  <a:schemeClr val="tx1"/>
                </a:solidFill>
              </a:rPr>
              <a:t>攻击中，如果</a:t>
            </a:r>
            <a:r>
              <a:rPr lang="en-US" altLang="zh-CN" sz="1800">
                <a:solidFill>
                  <a:schemeClr val="tx1"/>
                </a:solidFill>
              </a:rPr>
              <a:t> Te0 </a:t>
            </a:r>
            <a:r>
              <a:rPr lang="zh-CN" altLang="en-US" sz="1800">
                <a:solidFill>
                  <a:schemeClr val="tx1"/>
                </a:solidFill>
              </a:rPr>
              <a:t>的缓存行未被访问，则意味着本次加密中所有使用</a:t>
            </a:r>
            <a:r>
              <a:rPr lang="en-US" altLang="zh-CN" sz="1800">
                <a:solidFill>
                  <a:schemeClr val="tx1"/>
                </a:solidFill>
              </a:rPr>
              <a:t> Te0 </a:t>
            </a:r>
            <a:r>
              <a:rPr lang="zh-CN" altLang="en-US" sz="1800">
                <a:solidFill>
                  <a:schemeClr val="tx1"/>
                </a:solidFill>
              </a:rPr>
              <a:t>的输入字节都不在</a:t>
            </a:r>
            <a:r>
              <a:rPr lang="en-US" altLang="zh-CN" sz="1800">
                <a:solidFill>
                  <a:schemeClr val="tx1"/>
                </a:solidFill>
              </a:rPr>
              <a:t> 0</a:t>
            </a:r>
            <a:r>
              <a:rPr lang="zh-CN" altLang="en-US" sz="1800">
                <a:solidFill>
                  <a:schemeClr val="tx1"/>
                </a:solidFill>
              </a:rPr>
              <a:t>～</a:t>
            </a:r>
            <a:r>
              <a:rPr lang="en-US" altLang="zh-CN" sz="1800">
                <a:solidFill>
                  <a:schemeClr val="tx1"/>
                </a:solidFill>
              </a:rPr>
              <a:t>15 </a:t>
            </a:r>
            <a:r>
              <a:rPr lang="zh-CN" altLang="en-US" sz="1800">
                <a:solidFill>
                  <a:schemeClr val="tx1"/>
                </a:solidFill>
              </a:rPr>
              <a:t>范围内，而</a:t>
            </a:r>
            <a:r>
              <a:rPr lang="en-US" altLang="zh-CN" sz="1800">
                <a:solidFill>
                  <a:schemeClr val="tx1"/>
                </a:solidFill>
              </a:rPr>
              <a:t> Te0 </a:t>
            </a:r>
            <a:r>
              <a:rPr lang="zh-CN" altLang="en-US" sz="1800">
                <a:solidFill>
                  <a:schemeClr val="tx1"/>
                </a:solidFill>
              </a:rPr>
              <a:t>负责的是第</a:t>
            </a:r>
            <a:r>
              <a:rPr lang="en-US" altLang="zh-CN" sz="1800">
                <a:solidFill>
                  <a:schemeClr val="tx1"/>
                </a:solidFill>
              </a:rPr>
              <a:t> 2 </a:t>
            </a:r>
            <a:r>
              <a:rPr lang="zh-CN" altLang="en-US" sz="1800">
                <a:solidFill>
                  <a:schemeClr val="tx1"/>
                </a:solidFill>
              </a:rPr>
              <a:t>行的输出，所以会影响到第</a:t>
            </a:r>
            <a:r>
              <a:rPr lang="en-US" altLang="zh-CN" sz="1800">
                <a:solidFill>
                  <a:schemeClr val="tx1"/>
                </a:solidFill>
              </a:rPr>
              <a:t> 2 </a:t>
            </a:r>
            <a:r>
              <a:rPr lang="zh-CN" altLang="en-US" sz="1800">
                <a:solidFill>
                  <a:schemeClr val="tx1"/>
                </a:solidFill>
              </a:rPr>
              <a:t>行的四个密</a:t>
            </a:r>
            <a:r>
              <a:rPr lang="zh-CN" altLang="en-US" sz="1800">
                <a:solidFill>
                  <a:schemeClr val="tx1"/>
                </a:solidFill>
              </a:rPr>
              <a:t>文字节（即字节位置</a:t>
            </a:r>
            <a:r>
              <a:rPr lang="en-US" altLang="zh-CN" sz="1800">
                <a:solidFill>
                  <a:schemeClr val="tx1"/>
                </a:solidFill>
              </a:rPr>
              <a:t> 2, 6, 10, 14</a:t>
            </a:r>
            <a:r>
              <a:rPr lang="zh-CN" altLang="en-US" sz="1800">
                <a:solidFill>
                  <a:schemeClr val="tx1"/>
                </a:solidFill>
              </a:rPr>
              <a:t>）。同理：</a:t>
            </a:r>
            <a:endParaRPr lang="zh-CN" altLang="en-US" sz="1800">
              <a:solidFill>
                <a:schemeClr val="tx1"/>
              </a:solidFill>
            </a:endParaRPr>
          </a:p>
        </p:txBody>
      </p:sp>
      <p:pic>
        <p:nvPicPr>
          <p:cNvPr id="12" name="图片 11"/>
          <p:cNvPicPr>
            <a:picLocks noChangeAspect="1"/>
          </p:cNvPicPr>
          <p:nvPr/>
        </p:nvPicPr>
        <p:blipFill>
          <a:blip r:embed="rId3"/>
          <a:stretch>
            <a:fillRect/>
          </a:stretch>
        </p:blipFill>
        <p:spPr>
          <a:xfrm>
            <a:off x="57150" y="2177415"/>
            <a:ext cx="4166235" cy="1235710"/>
          </a:xfrm>
          <a:prstGeom prst="rect">
            <a:avLst/>
          </a:prstGeom>
        </p:spPr>
      </p:pic>
      <p:sp>
        <p:nvSpPr>
          <p:cNvPr id="13" name="文本框 12"/>
          <p:cNvSpPr txBox="1"/>
          <p:nvPr/>
        </p:nvSpPr>
        <p:spPr>
          <a:xfrm>
            <a:off x="0" y="3488690"/>
            <a:ext cx="4064000" cy="368300"/>
          </a:xfrm>
          <a:prstGeom prst="rect">
            <a:avLst/>
          </a:prstGeom>
          <a:noFill/>
        </p:spPr>
        <p:txBody>
          <a:bodyPr wrap="square" rtlCol="0">
            <a:spAutoFit/>
          </a:bodyPr>
          <a:p>
            <a:r>
              <a:rPr lang="zh-CN" altLang="en-US" sz="1800"/>
              <a:t>根据</a:t>
            </a:r>
            <a:r>
              <a:rPr lang="en-US" altLang="zh-CN" sz="1800"/>
              <a:t> AES </a:t>
            </a:r>
            <a:r>
              <a:rPr lang="zh-CN" altLang="en-US" sz="1800"/>
              <a:t>最终轮的关系：</a:t>
            </a:r>
            <a:endParaRPr lang="zh-CN" altLang="en-US" sz="1800"/>
          </a:p>
        </p:txBody>
      </p:sp>
      <p:pic>
        <p:nvPicPr>
          <p:cNvPr id="15" name="图片 14"/>
          <p:cNvPicPr>
            <a:picLocks noChangeAspect="1"/>
          </p:cNvPicPr>
          <p:nvPr/>
        </p:nvPicPr>
        <p:blipFill>
          <a:blip r:embed="rId4"/>
          <a:stretch>
            <a:fillRect/>
          </a:stretch>
        </p:blipFill>
        <p:spPr>
          <a:xfrm>
            <a:off x="2656840" y="3519805"/>
            <a:ext cx="1743075" cy="361950"/>
          </a:xfrm>
          <a:prstGeom prst="rect">
            <a:avLst/>
          </a:prstGeom>
        </p:spPr>
      </p:pic>
      <p:pic>
        <p:nvPicPr>
          <p:cNvPr id="16" name="图片 15"/>
          <p:cNvPicPr>
            <a:picLocks noChangeAspect="1"/>
          </p:cNvPicPr>
          <p:nvPr/>
        </p:nvPicPr>
        <p:blipFill>
          <a:blip r:embed="rId5"/>
          <a:stretch>
            <a:fillRect/>
          </a:stretch>
        </p:blipFill>
        <p:spPr>
          <a:xfrm>
            <a:off x="57150" y="3891280"/>
            <a:ext cx="8239125" cy="333375"/>
          </a:xfrm>
          <a:prstGeom prst="rect">
            <a:avLst/>
          </a:prstGeom>
        </p:spPr>
      </p:pic>
      <p:sp>
        <p:nvSpPr>
          <p:cNvPr id="17" name="文本框 16"/>
          <p:cNvSpPr txBox="1"/>
          <p:nvPr/>
        </p:nvSpPr>
        <p:spPr>
          <a:xfrm>
            <a:off x="-17145" y="4265930"/>
            <a:ext cx="9632315" cy="434975"/>
          </a:xfrm>
          <a:prstGeom prst="rect">
            <a:avLst/>
          </a:prstGeom>
          <a:noFill/>
        </p:spPr>
        <p:txBody>
          <a:bodyPr wrap="square" rtlCol="0">
            <a:noAutofit/>
          </a:bodyPr>
          <a:p>
            <a:r>
              <a:rPr lang="zh-CN" altLang="en-US" sz="1800"/>
              <a:t>于是，对于每个受影响的密钥字节，执行以下排除操作：</a:t>
            </a:r>
            <a:endParaRPr lang="zh-CN" altLang="en-US" sz="1800"/>
          </a:p>
          <a:p>
            <a:endParaRPr lang="en-US" altLang="zh-CN" sz="1800"/>
          </a:p>
          <a:p>
            <a:endParaRPr lang="en-US" altLang="zh-CN" sz="1800"/>
          </a:p>
        </p:txBody>
      </p:sp>
      <p:pic>
        <p:nvPicPr>
          <p:cNvPr id="18" name="图片 17"/>
          <p:cNvPicPr>
            <a:picLocks noChangeAspect="1"/>
          </p:cNvPicPr>
          <p:nvPr/>
        </p:nvPicPr>
        <p:blipFill>
          <a:blip r:embed="rId6"/>
          <a:stretch>
            <a:fillRect/>
          </a:stretch>
        </p:blipFill>
        <p:spPr>
          <a:xfrm>
            <a:off x="57150" y="4700905"/>
            <a:ext cx="5857875" cy="1095375"/>
          </a:xfrm>
          <a:prstGeom prst="rect">
            <a:avLst/>
          </a:prstGeom>
        </p:spPr>
      </p:pic>
      <p:sp>
        <p:nvSpPr>
          <p:cNvPr id="19" name="圆角矩形 18"/>
          <p:cNvSpPr/>
          <p:nvPr/>
        </p:nvSpPr>
        <p:spPr>
          <a:xfrm>
            <a:off x="30480" y="2170430"/>
            <a:ext cx="4573270" cy="126238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21" name="圆角矩形 20"/>
          <p:cNvSpPr/>
          <p:nvPr/>
        </p:nvSpPr>
        <p:spPr>
          <a:xfrm>
            <a:off x="39370" y="4650740"/>
            <a:ext cx="5861050" cy="1183005"/>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2.1</a:t>
            </a:r>
            <a:r>
              <a:rPr lang="en-US" altLang="zh-CN">
                <a:solidFill>
                  <a:schemeClr val="bg1"/>
                </a:solidFill>
                <a:sym typeface="+mn-ea"/>
              </a:rPr>
              <a:t> </a:t>
            </a:r>
            <a:r>
              <a:rPr lang="zh-CN" altLang="en-US">
                <a:solidFill>
                  <a:schemeClr val="bg1"/>
                </a:solidFill>
                <a:sym typeface="+mn-ea"/>
              </a:rPr>
              <a:t>攻击：</a:t>
            </a:r>
            <a:r>
              <a:rPr lang="en-US" altLang="zh-CN">
                <a:solidFill>
                  <a:schemeClr val="bg1"/>
                </a:solidFill>
                <a:sym typeface="+mn-ea"/>
              </a:rPr>
              <a:t>flush and reload + </a:t>
            </a:r>
            <a:r>
              <a:rPr lang="zh-CN" altLang="en-US">
                <a:solidFill>
                  <a:schemeClr val="bg1"/>
                </a:solidFill>
                <a:sym typeface="+mn-ea"/>
              </a:rPr>
              <a:t>排除法</a:t>
            </a:r>
            <a:endParaRPr lang="zh-CN" altLang="en-US">
              <a:solidFill>
                <a:schemeClr val="bg1"/>
              </a:solidFill>
              <a:sym typeface="+mn-ea"/>
            </a:endParaRPr>
          </a:p>
        </p:txBody>
      </p:sp>
      <p:pic>
        <p:nvPicPr>
          <p:cNvPr id="4" name="图片 3"/>
          <p:cNvPicPr>
            <a:picLocks noChangeAspect="1"/>
          </p:cNvPicPr>
          <p:nvPr/>
        </p:nvPicPr>
        <p:blipFill>
          <a:blip r:embed="rId2"/>
          <a:stretch>
            <a:fillRect/>
          </a:stretch>
        </p:blipFill>
        <p:spPr>
          <a:xfrm>
            <a:off x="647065" y="2722245"/>
            <a:ext cx="9525" cy="19050"/>
          </a:xfrm>
          <a:prstGeom prst="rect">
            <a:avLst/>
          </a:prstGeom>
        </p:spPr>
      </p:pic>
      <p:sp>
        <p:nvSpPr>
          <p:cNvPr id="7" name="文本框 6"/>
          <p:cNvSpPr txBox="1"/>
          <p:nvPr/>
        </p:nvSpPr>
        <p:spPr>
          <a:xfrm>
            <a:off x="0" y="952500"/>
            <a:ext cx="11442065" cy="1198880"/>
          </a:xfrm>
          <a:prstGeom prst="rect">
            <a:avLst/>
          </a:prstGeom>
          <a:noFill/>
        </p:spPr>
        <p:txBody>
          <a:bodyPr wrap="square" rtlCol="0">
            <a:spAutoFit/>
          </a:bodyPr>
          <a:p>
            <a:r>
              <a:rPr lang="zh-CN" altLang="en-US" sz="1800">
                <a:solidFill>
                  <a:srgbClr val="2177F9"/>
                </a:solidFill>
              </a:rPr>
              <a:t>攻击者监控：每个</a:t>
            </a:r>
            <a:r>
              <a:rPr lang="en-US" altLang="zh-CN" sz="1800">
                <a:solidFill>
                  <a:srgbClr val="2177F9"/>
                </a:solidFill>
              </a:rPr>
              <a:t>T</a:t>
            </a:r>
            <a:r>
              <a:rPr lang="zh-CN" altLang="en-US" sz="1800">
                <a:solidFill>
                  <a:srgbClr val="2177F9"/>
                </a:solidFill>
              </a:rPr>
              <a:t>表的第</a:t>
            </a:r>
            <a:r>
              <a:rPr lang="en-US" altLang="zh-CN" sz="1800">
                <a:solidFill>
                  <a:srgbClr val="2177F9"/>
                </a:solidFill>
              </a:rPr>
              <a:t>0</a:t>
            </a:r>
            <a:r>
              <a:rPr lang="zh-CN" altLang="en-US" sz="1800">
                <a:solidFill>
                  <a:srgbClr val="2177F9"/>
                </a:solidFill>
              </a:rPr>
              <a:t>号缓存行（共</a:t>
            </a:r>
            <a:r>
              <a:rPr lang="en-US" altLang="zh-CN" sz="1800">
                <a:solidFill>
                  <a:srgbClr val="2177F9"/>
                </a:solidFill>
              </a:rPr>
              <a:t>4</a:t>
            </a:r>
            <a:r>
              <a:rPr lang="zh-CN" altLang="en-US" sz="1800">
                <a:solidFill>
                  <a:srgbClr val="2177F9"/>
                </a:solidFill>
              </a:rPr>
              <a:t>个缓存行）</a:t>
            </a:r>
            <a:endParaRPr lang="zh-CN" altLang="en-US" sz="1800">
              <a:solidFill>
                <a:srgbClr val="2177F9"/>
              </a:solidFill>
            </a:endParaRPr>
          </a:p>
          <a:p>
            <a:r>
              <a:rPr lang="zh-CN" altLang="en-US" sz="1800">
                <a:solidFill>
                  <a:schemeClr val="tx1"/>
                </a:solidFill>
              </a:rPr>
              <a:t>以</a:t>
            </a:r>
            <a:r>
              <a:rPr lang="en-US" altLang="zh-CN" sz="1800">
                <a:solidFill>
                  <a:schemeClr val="tx1"/>
                </a:solidFill>
              </a:rPr>
              <a:t>Te0</a:t>
            </a:r>
            <a:r>
              <a:rPr lang="zh-CN" altLang="en-US" sz="1800">
                <a:solidFill>
                  <a:schemeClr val="tx1"/>
                </a:solidFill>
              </a:rPr>
              <a:t>为例：在</a:t>
            </a:r>
            <a:r>
              <a:rPr lang="en-US" altLang="zh-CN" sz="1800">
                <a:solidFill>
                  <a:schemeClr val="tx1"/>
                </a:solidFill>
              </a:rPr>
              <a:t> Flush+Reload </a:t>
            </a:r>
            <a:r>
              <a:rPr lang="zh-CN" altLang="en-US" sz="1800">
                <a:solidFill>
                  <a:schemeClr val="tx1"/>
                </a:solidFill>
              </a:rPr>
              <a:t>攻击中，如果</a:t>
            </a:r>
            <a:r>
              <a:rPr lang="en-US" altLang="zh-CN" sz="1800">
                <a:solidFill>
                  <a:schemeClr val="tx1"/>
                </a:solidFill>
              </a:rPr>
              <a:t> Te0 </a:t>
            </a:r>
            <a:r>
              <a:rPr lang="zh-CN" altLang="en-US" sz="1800">
                <a:solidFill>
                  <a:schemeClr val="tx1"/>
                </a:solidFill>
              </a:rPr>
              <a:t>的缓存行未被访问，则意味着本次加密中所有使用</a:t>
            </a:r>
            <a:r>
              <a:rPr lang="en-US" altLang="zh-CN" sz="1800">
                <a:solidFill>
                  <a:schemeClr val="tx1"/>
                </a:solidFill>
              </a:rPr>
              <a:t> Te0 </a:t>
            </a:r>
            <a:r>
              <a:rPr lang="zh-CN" altLang="en-US" sz="1800">
                <a:solidFill>
                  <a:schemeClr val="tx1"/>
                </a:solidFill>
              </a:rPr>
              <a:t>的输入字节都不在</a:t>
            </a:r>
            <a:r>
              <a:rPr lang="en-US" altLang="zh-CN" sz="1800">
                <a:solidFill>
                  <a:schemeClr val="tx1"/>
                </a:solidFill>
              </a:rPr>
              <a:t> 0</a:t>
            </a:r>
            <a:r>
              <a:rPr lang="zh-CN" altLang="en-US" sz="1800">
                <a:solidFill>
                  <a:schemeClr val="tx1"/>
                </a:solidFill>
              </a:rPr>
              <a:t>～</a:t>
            </a:r>
            <a:r>
              <a:rPr lang="en-US" altLang="zh-CN" sz="1800">
                <a:solidFill>
                  <a:schemeClr val="tx1"/>
                </a:solidFill>
              </a:rPr>
              <a:t>15 </a:t>
            </a:r>
            <a:r>
              <a:rPr lang="zh-CN" altLang="en-US" sz="1800">
                <a:solidFill>
                  <a:schemeClr val="tx1"/>
                </a:solidFill>
              </a:rPr>
              <a:t>范围内，而</a:t>
            </a:r>
            <a:r>
              <a:rPr lang="en-US" altLang="zh-CN" sz="1800">
                <a:solidFill>
                  <a:schemeClr val="tx1"/>
                </a:solidFill>
              </a:rPr>
              <a:t> Te0 </a:t>
            </a:r>
            <a:r>
              <a:rPr lang="zh-CN" altLang="en-US" sz="1800">
                <a:solidFill>
                  <a:schemeClr val="tx1"/>
                </a:solidFill>
              </a:rPr>
              <a:t>负责的是第</a:t>
            </a:r>
            <a:r>
              <a:rPr lang="en-US" altLang="zh-CN" sz="1800">
                <a:solidFill>
                  <a:schemeClr val="tx1"/>
                </a:solidFill>
              </a:rPr>
              <a:t> 2 </a:t>
            </a:r>
            <a:r>
              <a:rPr lang="zh-CN" altLang="en-US" sz="1800">
                <a:solidFill>
                  <a:schemeClr val="tx1"/>
                </a:solidFill>
              </a:rPr>
              <a:t>行的输出，所以会影响到第</a:t>
            </a:r>
            <a:r>
              <a:rPr lang="en-US" altLang="zh-CN" sz="1800">
                <a:solidFill>
                  <a:schemeClr val="tx1"/>
                </a:solidFill>
              </a:rPr>
              <a:t> 2 </a:t>
            </a:r>
            <a:r>
              <a:rPr lang="zh-CN" altLang="en-US" sz="1800">
                <a:solidFill>
                  <a:schemeClr val="tx1"/>
                </a:solidFill>
              </a:rPr>
              <a:t>行的四个密钥字节（即字节位置</a:t>
            </a:r>
            <a:r>
              <a:rPr lang="en-US" altLang="zh-CN" sz="1800">
                <a:solidFill>
                  <a:schemeClr val="tx1"/>
                </a:solidFill>
              </a:rPr>
              <a:t> 2, 6, 10, 14</a:t>
            </a:r>
            <a:r>
              <a:rPr lang="zh-CN" altLang="en-US" sz="1800">
                <a:solidFill>
                  <a:schemeClr val="tx1"/>
                </a:solidFill>
              </a:rPr>
              <a:t>）。同理：</a:t>
            </a:r>
            <a:endParaRPr lang="zh-CN" altLang="en-US" sz="1800">
              <a:solidFill>
                <a:schemeClr val="tx1"/>
              </a:solidFill>
            </a:endParaRPr>
          </a:p>
        </p:txBody>
      </p:sp>
      <p:pic>
        <p:nvPicPr>
          <p:cNvPr id="12" name="图片 11"/>
          <p:cNvPicPr>
            <a:picLocks noChangeAspect="1"/>
          </p:cNvPicPr>
          <p:nvPr/>
        </p:nvPicPr>
        <p:blipFill>
          <a:blip r:embed="rId3"/>
          <a:stretch>
            <a:fillRect/>
          </a:stretch>
        </p:blipFill>
        <p:spPr>
          <a:xfrm>
            <a:off x="57150" y="2177415"/>
            <a:ext cx="4166235" cy="1235710"/>
          </a:xfrm>
          <a:prstGeom prst="rect">
            <a:avLst/>
          </a:prstGeom>
        </p:spPr>
      </p:pic>
      <p:sp>
        <p:nvSpPr>
          <p:cNvPr id="13" name="文本框 12"/>
          <p:cNvSpPr txBox="1"/>
          <p:nvPr/>
        </p:nvSpPr>
        <p:spPr>
          <a:xfrm>
            <a:off x="0" y="3488690"/>
            <a:ext cx="4064000" cy="368300"/>
          </a:xfrm>
          <a:prstGeom prst="rect">
            <a:avLst/>
          </a:prstGeom>
          <a:noFill/>
        </p:spPr>
        <p:txBody>
          <a:bodyPr wrap="square" rtlCol="0">
            <a:spAutoFit/>
          </a:bodyPr>
          <a:p>
            <a:r>
              <a:rPr lang="zh-CN" altLang="en-US" sz="1800"/>
              <a:t>根据</a:t>
            </a:r>
            <a:r>
              <a:rPr lang="en-US" altLang="zh-CN" sz="1800"/>
              <a:t> AES </a:t>
            </a:r>
            <a:r>
              <a:rPr lang="zh-CN" altLang="en-US" sz="1800"/>
              <a:t>最终轮的关系：</a:t>
            </a:r>
            <a:endParaRPr lang="zh-CN" altLang="en-US" sz="1800"/>
          </a:p>
        </p:txBody>
      </p:sp>
      <p:pic>
        <p:nvPicPr>
          <p:cNvPr id="15" name="图片 14"/>
          <p:cNvPicPr>
            <a:picLocks noChangeAspect="1"/>
          </p:cNvPicPr>
          <p:nvPr/>
        </p:nvPicPr>
        <p:blipFill>
          <a:blip r:embed="rId4"/>
          <a:stretch>
            <a:fillRect/>
          </a:stretch>
        </p:blipFill>
        <p:spPr>
          <a:xfrm>
            <a:off x="2656840" y="3519805"/>
            <a:ext cx="1743075" cy="361950"/>
          </a:xfrm>
          <a:prstGeom prst="rect">
            <a:avLst/>
          </a:prstGeom>
        </p:spPr>
      </p:pic>
      <p:pic>
        <p:nvPicPr>
          <p:cNvPr id="16" name="图片 15"/>
          <p:cNvPicPr>
            <a:picLocks noChangeAspect="1"/>
          </p:cNvPicPr>
          <p:nvPr/>
        </p:nvPicPr>
        <p:blipFill>
          <a:blip r:embed="rId5"/>
          <a:stretch>
            <a:fillRect/>
          </a:stretch>
        </p:blipFill>
        <p:spPr>
          <a:xfrm>
            <a:off x="57150" y="3891280"/>
            <a:ext cx="8239125" cy="333375"/>
          </a:xfrm>
          <a:prstGeom prst="rect">
            <a:avLst/>
          </a:prstGeom>
        </p:spPr>
      </p:pic>
      <p:sp>
        <p:nvSpPr>
          <p:cNvPr id="17" name="文本框 16"/>
          <p:cNvSpPr txBox="1"/>
          <p:nvPr/>
        </p:nvSpPr>
        <p:spPr>
          <a:xfrm>
            <a:off x="-17145" y="4265930"/>
            <a:ext cx="9632315" cy="434975"/>
          </a:xfrm>
          <a:prstGeom prst="rect">
            <a:avLst/>
          </a:prstGeom>
          <a:noFill/>
        </p:spPr>
        <p:txBody>
          <a:bodyPr wrap="square" rtlCol="0">
            <a:noAutofit/>
          </a:bodyPr>
          <a:p>
            <a:r>
              <a:rPr lang="zh-CN" altLang="en-US" sz="1800"/>
              <a:t>于是，对于每个受影响的密钥字节，执行以下排除操作：</a:t>
            </a:r>
            <a:endParaRPr lang="zh-CN" altLang="en-US" sz="1800"/>
          </a:p>
          <a:p>
            <a:endParaRPr lang="en-US" altLang="zh-CN" sz="1800"/>
          </a:p>
          <a:p>
            <a:endParaRPr lang="en-US" altLang="zh-CN" sz="1800"/>
          </a:p>
        </p:txBody>
      </p:sp>
      <p:pic>
        <p:nvPicPr>
          <p:cNvPr id="18" name="图片 17"/>
          <p:cNvPicPr>
            <a:picLocks noChangeAspect="1"/>
          </p:cNvPicPr>
          <p:nvPr/>
        </p:nvPicPr>
        <p:blipFill>
          <a:blip r:embed="rId6"/>
          <a:stretch>
            <a:fillRect/>
          </a:stretch>
        </p:blipFill>
        <p:spPr>
          <a:xfrm>
            <a:off x="57150" y="4700905"/>
            <a:ext cx="5857875" cy="1095375"/>
          </a:xfrm>
          <a:prstGeom prst="rect">
            <a:avLst/>
          </a:prstGeom>
        </p:spPr>
      </p:pic>
      <p:sp>
        <p:nvSpPr>
          <p:cNvPr id="19" name="圆角矩形 18"/>
          <p:cNvSpPr/>
          <p:nvPr/>
        </p:nvSpPr>
        <p:spPr>
          <a:xfrm>
            <a:off x="30480" y="2170430"/>
            <a:ext cx="4573270" cy="126238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21" name="圆角矩形 20"/>
          <p:cNvSpPr/>
          <p:nvPr/>
        </p:nvSpPr>
        <p:spPr>
          <a:xfrm>
            <a:off x="39370" y="4650740"/>
            <a:ext cx="5861050" cy="1183005"/>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pic>
        <p:nvPicPr>
          <p:cNvPr id="23" name="图片 22"/>
          <p:cNvPicPr>
            <a:picLocks noChangeAspect="1"/>
          </p:cNvPicPr>
          <p:nvPr/>
        </p:nvPicPr>
        <p:blipFill>
          <a:blip r:embed="rId7"/>
          <a:stretch>
            <a:fillRect/>
          </a:stretch>
        </p:blipFill>
        <p:spPr>
          <a:xfrm>
            <a:off x="73660" y="5956300"/>
            <a:ext cx="7886700" cy="771525"/>
          </a:xfrm>
          <a:prstGeom prst="rect">
            <a:avLst/>
          </a:prstGeom>
        </p:spPr>
      </p:pic>
      <p:sp>
        <p:nvSpPr>
          <p:cNvPr id="3" name="圆角矩形 2"/>
          <p:cNvSpPr/>
          <p:nvPr/>
        </p:nvSpPr>
        <p:spPr>
          <a:xfrm>
            <a:off x="824865" y="5419090"/>
            <a:ext cx="2038985" cy="387985"/>
          </a:xfrm>
          <a:prstGeom prst="roundRect">
            <a:avLst/>
          </a:prstGeom>
          <a:ln>
            <a:solidFill>
              <a:srgbClr val="00B05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6" name="圆角矩形 5"/>
          <p:cNvSpPr/>
          <p:nvPr/>
        </p:nvSpPr>
        <p:spPr>
          <a:xfrm>
            <a:off x="30480" y="5904230"/>
            <a:ext cx="8014335" cy="812165"/>
          </a:xfrm>
          <a:prstGeom prst="roundRect">
            <a:avLst/>
          </a:prstGeom>
          <a:ln>
            <a:solidFill>
              <a:srgbClr val="00B05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2.1 </a:t>
            </a:r>
            <a:r>
              <a:rPr lang="zh-CN" altLang="en-US">
                <a:solidFill>
                  <a:schemeClr val="bg1"/>
                </a:solidFill>
                <a:sym typeface="+mn-ea"/>
              </a:rPr>
              <a:t>攻击：</a:t>
            </a:r>
            <a:r>
              <a:rPr lang="en-US" altLang="zh-CN">
                <a:solidFill>
                  <a:schemeClr val="bg1"/>
                </a:solidFill>
                <a:sym typeface="+mn-ea"/>
              </a:rPr>
              <a:t>flush and reload + </a:t>
            </a:r>
            <a:r>
              <a:rPr lang="zh-CN" altLang="en-US">
                <a:solidFill>
                  <a:schemeClr val="bg1"/>
                </a:solidFill>
                <a:sym typeface="+mn-ea"/>
              </a:rPr>
              <a:t>排除法</a:t>
            </a:r>
            <a:endParaRPr lang="zh-CN" altLang="en-US">
              <a:solidFill>
                <a:schemeClr val="bg1"/>
              </a:solidFill>
              <a:sym typeface="+mn-ea"/>
            </a:endParaRPr>
          </a:p>
        </p:txBody>
      </p:sp>
      <p:pic>
        <p:nvPicPr>
          <p:cNvPr id="4" name="图片 3"/>
          <p:cNvPicPr>
            <a:picLocks noChangeAspect="1"/>
          </p:cNvPicPr>
          <p:nvPr/>
        </p:nvPicPr>
        <p:blipFill>
          <a:blip r:embed="rId2"/>
          <a:stretch>
            <a:fillRect/>
          </a:stretch>
        </p:blipFill>
        <p:spPr>
          <a:xfrm>
            <a:off x="647065" y="2722245"/>
            <a:ext cx="9525" cy="19050"/>
          </a:xfrm>
          <a:prstGeom prst="rect">
            <a:avLst/>
          </a:prstGeom>
        </p:spPr>
      </p:pic>
      <p:sp>
        <p:nvSpPr>
          <p:cNvPr id="7" name="文本框 6"/>
          <p:cNvSpPr txBox="1"/>
          <p:nvPr/>
        </p:nvSpPr>
        <p:spPr>
          <a:xfrm>
            <a:off x="0" y="952500"/>
            <a:ext cx="11442065" cy="1198880"/>
          </a:xfrm>
          <a:prstGeom prst="rect">
            <a:avLst/>
          </a:prstGeom>
          <a:noFill/>
        </p:spPr>
        <p:txBody>
          <a:bodyPr wrap="square" rtlCol="0">
            <a:spAutoFit/>
          </a:bodyPr>
          <a:p>
            <a:r>
              <a:rPr lang="zh-CN" altLang="en-US" sz="1800">
                <a:solidFill>
                  <a:srgbClr val="2177F9"/>
                </a:solidFill>
              </a:rPr>
              <a:t>攻击者监控：每个</a:t>
            </a:r>
            <a:r>
              <a:rPr lang="en-US" altLang="zh-CN" sz="1800">
                <a:solidFill>
                  <a:srgbClr val="2177F9"/>
                </a:solidFill>
              </a:rPr>
              <a:t>T</a:t>
            </a:r>
            <a:r>
              <a:rPr lang="zh-CN" altLang="en-US" sz="1800">
                <a:solidFill>
                  <a:srgbClr val="2177F9"/>
                </a:solidFill>
              </a:rPr>
              <a:t>表的第</a:t>
            </a:r>
            <a:r>
              <a:rPr lang="en-US" altLang="zh-CN" sz="1800">
                <a:solidFill>
                  <a:srgbClr val="2177F9"/>
                </a:solidFill>
              </a:rPr>
              <a:t>0</a:t>
            </a:r>
            <a:r>
              <a:rPr lang="zh-CN" altLang="en-US" sz="1800">
                <a:solidFill>
                  <a:srgbClr val="2177F9"/>
                </a:solidFill>
              </a:rPr>
              <a:t>号缓存行（共</a:t>
            </a:r>
            <a:r>
              <a:rPr lang="en-US" altLang="zh-CN" sz="1800">
                <a:solidFill>
                  <a:srgbClr val="2177F9"/>
                </a:solidFill>
              </a:rPr>
              <a:t>4</a:t>
            </a:r>
            <a:r>
              <a:rPr lang="zh-CN" altLang="en-US" sz="1800">
                <a:solidFill>
                  <a:srgbClr val="2177F9"/>
                </a:solidFill>
              </a:rPr>
              <a:t>个缓存行）</a:t>
            </a:r>
            <a:endParaRPr lang="zh-CN" altLang="en-US" sz="1800">
              <a:solidFill>
                <a:srgbClr val="2177F9"/>
              </a:solidFill>
            </a:endParaRPr>
          </a:p>
          <a:p>
            <a:r>
              <a:rPr lang="zh-CN" altLang="en-US" sz="1800">
                <a:solidFill>
                  <a:schemeClr val="tx1"/>
                </a:solidFill>
              </a:rPr>
              <a:t>以</a:t>
            </a:r>
            <a:r>
              <a:rPr lang="en-US" altLang="zh-CN" sz="1800">
                <a:solidFill>
                  <a:schemeClr val="tx1"/>
                </a:solidFill>
              </a:rPr>
              <a:t>Te0</a:t>
            </a:r>
            <a:r>
              <a:rPr lang="zh-CN" altLang="en-US" sz="1800">
                <a:solidFill>
                  <a:schemeClr val="tx1"/>
                </a:solidFill>
              </a:rPr>
              <a:t>为例：在</a:t>
            </a:r>
            <a:r>
              <a:rPr lang="en-US" altLang="zh-CN" sz="1800">
                <a:solidFill>
                  <a:schemeClr val="tx1"/>
                </a:solidFill>
              </a:rPr>
              <a:t> Flush+Reload </a:t>
            </a:r>
            <a:r>
              <a:rPr lang="zh-CN" altLang="en-US" sz="1800">
                <a:solidFill>
                  <a:schemeClr val="tx1"/>
                </a:solidFill>
              </a:rPr>
              <a:t>攻击中，如果</a:t>
            </a:r>
            <a:r>
              <a:rPr lang="en-US" altLang="zh-CN" sz="1800">
                <a:solidFill>
                  <a:schemeClr val="tx1"/>
                </a:solidFill>
              </a:rPr>
              <a:t> Te0 </a:t>
            </a:r>
            <a:r>
              <a:rPr lang="zh-CN" altLang="en-US" sz="1800">
                <a:solidFill>
                  <a:schemeClr val="tx1"/>
                </a:solidFill>
              </a:rPr>
              <a:t>的缓存行未被访问，则意味着本次加密中所有使用</a:t>
            </a:r>
            <a:r>
              <a:rPr lang="en-US" altLang="zh-CN" sz="1800">
                <a:solidFill>
                  <a:schemeClr val="tx1"/>
                </a:solidFill>
              </a:rPr>
              <a:t> Te0 </a:t>
            </a:r>
            <a:r>
              <a:rPr lang="zh-CN" altLang="en-US" sz="1800">
                <a:solidFill>
                  <a:schemeClr val="tx1"/>
                </a:solidFill>
              </a:rPr>
              <a:t>的输入字节都不在</a:t>
            </a:r>
            <a:r>
              <a:rPr lang="en-US" altLang="zh-CN" sz="1800">
                <a:solidFill>
                  <a:schemeClr val="tx1"/>
                </a:solidFill>
              </a:rPr>
              <a:t> 0</a:t>
            </a:r>
            <a:r>
              <a:rPr lang="zh-CN" altLang="en-US" sz="1800">
                <a:solidFill>
                  <a:schemeClr val="tx1"/>
                </a:solidFill>
              </a:rPr>
              <a:t>～</a:t>
            </a:r>
            <a:r>
              <a:rPr lang="en-US" altLang="zh-CN" sz="1800">
                <a:solidFill>
                  <a:schemeClr val="tx1"/>
                </a:solidFill>
              </a:rPr>
              <a:t>15 </a:t>
            </a:r>
            <a:r>
              <a:rPr lang="zh-CN" altLang="en-US" sz="1800">
                <a:solidFill>
                  <a:schemeClr val="tx1"/>
                </a:solidFill>
              </a:rPr>
              <a:t>范围内，而</a:t>
            </a:r>
            <a:r>
              <a:rPr lang="en-US" altLang="zh-CN" sz="1800">
                <a:solidFill>
                  <a:schemeClr val="tx1"/>
                </a:solidFill>
              </a:rPr>
              <a:t> Te0 </a:t>
            </a:r>
            <a:r>
              <a:rPr lang="zh-CN" altLang="en-US" sz="1800">
                <a:solidFill>
                  <a:schemeClr val="tx1"/>
                </a:solidFill>
              </a:rPr>
              <a:t>负责的是第</a:t>
            </a:r>
            <a:r>
              <a:rPr lang="en-US" altLang="zh-CN" sz="1800">
                <a:solidFill>
                  <a:schemeClr val="tx1"/>
                </a:solidFill>
              </a:rPr>
              <a:t> 2 </a:t>
            </a:r>
            <a:r>
              <a:rPr lang="zh-CN" altLang="en-US" sz="1800">
                <a:solidFill>
                  <a:schemeClr val="tx1"/>
                </a:solidFill>
              </a:rPr>
              <a:t>行的输出，所以会影响到第</a:t>
            </a:r>
            <a:r>
              <a:rPr lang="en-US" altLang="zh-CN" sz="1800">
                <a:solidFill>
                  <a:schemeClr val="tx1"/>
                </a:solidFill>
              </a:rPr>
              <a:t> 2 </a:t>
            </a:r>
            <a:r>
              <a:rPr lang="zh-CN" altLang="en-US" sz="1800">
                <a:solidFill>
                  <a:schemeClr val="tx1"/>
                </a:solidFill>
              </a:rPr>
              <a:t>行的四个密钥字节（即字节位置</a:t>
            </a:r>
            <a:r>
              <a:rPr lang="en-US" altLang="zh-CN" sz="1800">
                <a:solidFill>
                  <a:schemeClr val="tx1"/>
                </a:solidFill>
              </a:rPr>
              <a:t> 2, 6, 10, 14</a:t>
            </a:r>
            <a:r>
              <a:rPr lang="zh-CN" altLang="en-US" sz="1800">
                <a:solidFill>
                  <a:schemeClr val="tx1"/>
                </a:solidFill>
              </a:rPr>
              <a:t>）。同理：</a:t>
            </a:r>
            <a:endParaRPr lang="zh-CN" altLang="en-US" sz="1800">
              <a:solidFill>
                <a:schemeClr val="tx1"/>
              </a:solidFill>
            </a:endParaRPr>
          </a:p>
        </p:txBody>
      </p:sp>
      <p:pic>
        <p:nvPicPr>
          <p:cNvPr id="12" name="图片 11"/>
          <p:cNvPicPr>
            <a:picLocks noChangeAspect="1"/>
          </p:cNvPicPr>
          <p:nvPr/>
        </p:nvPicPr>
        <p:blipFill>
          <a:blip r:embed="rId3"/>
          <a:stretch>
            <a:fillRect/>
          </a:stretch>
        </p:blipFill>
        <p:spPr>
          <a:xfrm>
            <a:off x="57150" y="2177415"/>
            <a:ext cx="4166235" cy="1235710"/>
          </a:xfrm>
          <a:prstGeom prst="rect">
            <a:avLst/>
          </a:prstGeom>
        </p:spPr>
      </p:pic>
      <p:sp>
        <p:nvSpPr>
          <p:cNvPr id="13" name="文本框 12"/>
          <p:cNvSpPr txBox="1"/>
          <p:nvPr/>
        </p:nvSpPr>
        <p:spPr>
          <a:xfrm>
            <a:off x="0" y="3488690"/>
            <a:ext cx="4064000" cy="368300"/>
          </a:xfrm>
          <a:prstGeom prst="rect">
            <a:avLst/>
          </a:prstGeom>
          <a:noFill/>
        </p:spPr>
        <p:txBody>
          <a:bodyPr wrap="square" rtlCol="0">
            <a:spAutoFit/>
          </a:bodyPr>
          <a:p>
            <a:r>
              <a:rPr lang="zh-CN" altLang="en-US" sz="1800"/>
              <a:t>根据</a:t>
            </a:r>
            <a:r>
              <a:rPr lang="en-US" altLang="zh-CN" sz="1800"/>
              <a:t> AES </a:t>
            </a:r>
            <a:r>
              <a:rPr lang="zh-CN" altLang="en-US" sz="1800"/>
              <a:t>最终轮的关系：</a:t>
            </a:r>
            <a:endParaRPr lang="zh-CN" altLang="en-US" sz="1800"/>
          </a:p>
        </p:txBody>
      </p:sp>
      <p:pic>
        <p:nvPicPr>
          <p:cNvPr id="15" name="图片 14"/>
          <p:cNvPicPr>
            <a:picLocks noChangeAspect="1"/>
          </p:cNvPicPr>
          <p:nvPr/>
        </p:nvPicPr>
        <p:blipFill>
          <a:blip r:embed="rId4"/>
          <a:stretch>
            <a:fillRect/>
          </a:stretch>
        </p:blipFill>
        <p:spPr>
          <a:xfrm>
            <a:off x="2656840" y="3519805"/>
            <a:ext cx="1743075" cy="361950"/>
          </a:xfrm>
          <a:prstGeom prst="rect">
            <a:avLst/>
          </a:prstGeom>
        </p:spPr>
      </p:pic>
      <p:pic>
        <p:nvPicPr>
          <p:cNvPr id="16" name="图片 15"/>
          <p:cNvPicPr>
            <a:picLocks noChangeAspect="1"/>
          </p:cNvPicPr>
          <p:nvPr/>
        </p:nvPicPr>
        <p:blipFill>
          <a:blip r:embed="rId5"/>
          <a:stretch>
            <a:fillRect/>
          </a:stretch>
        </p:blipFill>
        <p:spPr>
          <a:xfrm>
            <a:off x="57150" y="3891280"/>
            <a:ext cx="8239125" cy="333375"/>
          </a:xfrm>
          <a:prstGeom prst="rect">
            <a:avLst/>
          </a:prstGeom>
        </p:spPr>
      </p:pic>
      <p:sp>
        <p:nvSpPr>
          <p:cNvPr id="17" name="文本框 16"/>
          <p:cNvSpPr txBox="1"/>
          <p:nvPr/>
        </p:nvSpPr>
        <p:spPr>
          <a:xfrm>
            <a:off x="-17145" y="4265930"/>
            <a:ext cx="9632315" cy="434975"/>
          </a:xfrm>
          <a:prstGeom prst="rect">
            <a:avLst/>
          </a:prstGeom>
          <a:noFill/>
        </p:spPr>
        <p:txBody>
          <a:bodyPr wrap="square" rtlCol="0">
            <a:noAutofit/>
          </a:bodyPr>
          <a:p>
            <a:r>
              <a:rPr lang="zh-CN" altLang="en-US" sz="1800"/>
              <a:t>于是，对于每个受影响的密钥字节，执行以下排除操作：</a:t>
            </a:r>
            <a:endParaRPr lang="zh-CN" altLang="en-US" sz="1800"/>
          </a:p>
          <a:p>
            <a:endParaRPr lang="en-US" altLang="zh-CN" sz="1800"/>
          </a:p>
          <a:p>
            <a:endParaRPr lang="en-US" altLang="zh-CN" sz="1800"/>
          </a:p>
        </p:txBody>
      </p:sp>
      <p:pic>
        <p:nvPicPr>
          <p:cNvPr id="18" name="图片 17"/>
          <p:cNvPicPr>
            <a:picLocks noChangeAspect="1"/>
          </p:cNvPicPr>
          <p:nvPr/>
        </p:nvPicPr>
        <p:blipFill>
          <a:blip r:embed="rId6"/>
          <a:stretch>
            <a:fillRect/>
          </a:stretch>
        </p:blipFill>
        <p:spPr>
          <a:xfrm>
            <a:off x="57150" y="4700905"/>
            <a:ext cx="5857875" cy="1095375"/>
          </a:xfrm>
          <a:prstGeom prst="rect">
            <a:avLst/>
          </a:prstGeom>
        </p:spPr>
      </p:pic>
      <p:sp>
        <p:nvSpPr>
          <p:cNvPr id="19" name="圆角矩形 18"/>
          <p:cNvSpPr/>
          <p:nvPr/>
        </p:nvSpPr>
        <p:spPr>
          <a:xfrm>
            <a:off x="30480" y="2170430"/>
            <a:ext cx="4573270" cy="126238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21" name="圆角矩形 20"/>
          <p:cNvSpPr/>
          <p:nvPr/>
        </p:nvSpPr>
        <p:spPr>
          <a:xfrm>
            <a:off x="39370" y="4650740"/>
            <a:ext cx="5861050" cy="1183005"/>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22" name="文本框 21"/>
          <p:cNvSpPr txBox="1"/>
          <p:nvPr/>
        </p:nvSpPr>
        <p:spPr>
          <a:xfrm>
            <a:off x="6854190" y="4418330"/>
            <a:ext cx="5034915" cy="922020"/>
          </a:xfrm>
          <a:prstGeom prst="rect">
            <a:avLst/>
          </a:prstGeom>
          <a:noFill/>
        </p:spPr>
        <p:txBody>
          <a:bodyPr wrap="square" rtlCol="0">
            <a:spAutoFit/>
          </a:bodyPr>
          <a:p>
            <a:r>
              <a:rPr lang="zh-CN" altLang="en-US" sz="1800"/>
              <a:t>这样，通过多次加密不同样本，正确密钥值被排除的次数极少，而错误候选被大量排除，最终选择</a:t>
            </a:r>
            <a:r>
              <a:rPr lang="zh-CN" altLang="en-US" sz="1800">
                <a:solidFill>
                  <a:srgbClr val="FF0000"/>
                </a:solidFill>
              </a:rPr>
              <a:t>被排除次数最少的候选作为恢复的密钥字节</a:t>
            </a:r>
            <a:r>
              <a:rPr lang="zh-CN" altLang="en-US" sz="1800"/>
              <a:t>。</a:t>
            </a:r>
            <a:endParaRPr lang="zh-CN" altLang="en-US" sz="1800"/>
          </a:p>
        </p:txBody>
      </p:sp>
      <p:pic>
        <p:nvPicPr>
          <p:cNvPr id="23" name="图片 22"/>
          <p:cNvPicPr>
            <a:picLocks noChangeAspect="1"/>
          </p:cNvPicPr>
          <p:nvPr/>
        </p:nvPicPr>
        <p:blipFill>
          <a:blip r:embed="rId7"/>
          <a:stretch>
            <a:fillRect/>
          </a:stretch>
        </p:blipFill>
        <p:spPr>
          <a:xfrm>
            <a:off x="73660" y="5956300"/>
            <a:ext cx="7886700" cy="771525"/>
          </a:xfrm>
          <a:prstGeom prst="rect">
            <a:avLst/>
          </a:prstGeom>
        </p:spPr>
      </p:pic>
      <p:sp>
        <p:nvSpPr>
          <p:cNvPr id="3" name="圆角矩形 2"/>
          <p:cNvSpPr/>
          <p:nvPr/>
        </p:nvSpPr>
        <p:spPr>
          <a:xfrm>
            <a:off x="824865" y="5419090"/>
            <a:ext cx="2038985" cy="387985"/>
          </a:xfrm>
          <a:prstGeom prst="roundRect">
            <a:avLst/>
          </a:prstGeom>
          <a:ln>
            <a:solidFill>
              <a:srgbClr val="00B05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6" name="圆角矩形 5"/>
          <p:cNvSpPr/>
          <p:nvPr/>
        </p:nvSpPr>
        <p:spPr>
          <a:xfrm>
            <a:off x="30480" y="5904230"/>
            <a:ext cx="8014335" cy="812165"/>
          </a:xfrm>
          <a:prstGeom prst="roundRect">
            <a:avLst/>
          </a:prstGeom>
          <a:ln>
            <a:solidFill>
              <a:srgbClr val="00B05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5" name="圆角矩形 4"/>
          <p:cNvSpPr/>
          <p:nvPr/>
        </p:nvSpPr>
        <p:spPr>
          <a:xfrm>
            <a:off x="6835775" y="4403725"/>
            <a:ext cx="5074920" cy="988695"/>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2.1 </a:t>
            </a:r>
            <a:r>
              <a:rPr lang="zh-CN" altLang="en-US">
                <a:solidFill>
                  <a:schemeClr val="bg1"/>
                </a:solidFill>
                <a:sym typeface="+mn-ea"/>
              </a:rPr>
              <a:t>计算得到原始</a:t>
            </a:r>
            <a:r>
              <a:rPr lang="zh-CN" altLang="en-US">
                <a:solidFill>
                  <a:schemeClr val="bg1"/>
                </a:solidFill>
                <a:sym typeface="+mn-ea"/>
              </a:rPr>
              <a:t>密钥</a:t>
            </a:r>
            <a:endParaRPr lang="zh-CN" altLang="en-US">
              <a:solidFill>
                <a:schemeClr val="bg1"/>
              </a:solidFill>
              <a:sym typeface="+mn-ea"/>
            </a:endParaRPr>
          </a:p>
        </p:txBody>
      </p:sp>
      <p:pic>
        <p:nvPicPr>
          <p:cNvPr id="4" name="图片 3"/>
          <p:cNvPicPr>
            <a:picLocks noChangeAspect="1"/>
          </p:cNvPicPr>
          <p:nvPr/>
        </p:nvPicPr>
        <p:blipFill>
          <a:blip r:embed="rId2"/>
          <a:stretch>
            <a:fillRect/>
          </a:stretch>
        </p:blipFill>
        <p:spPr>
          <a:xfrm>
            <a:off x="647065" y="2722245"/>
            <a:ext cx="9525" cy="19050"/>
          </a:xfrm>
          <a:prstGeom prst="rect">
            <a:avLst/>
          </a:prstGeom>
        </p:spPr>
      </p:pic>
      <p:pic>
        <p:nvPicPr>
          <p:cNvPr id="5" name="图片 4"/>
          <p:cNvPicPr>
            <a:picLocks noChangeAspect="1"/>
          </p:cNvPicPr>
          <p:nvPr/>
        </p:nvPicPr>
        <p:blipFill>
          <a:blip r:embed="rId3"/>
          <a:stretch>
            <a:fillRect/>
          </a:stretch>
        </p:blipFill>
        <p:spPr>
          <a:xfrm>
            <a:off x="80645" y="960120"/>
            <a:ext cx="7233920" cy="287464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1021853" y="180041"/>
            <a:ext cx="10972800" cy="609600"/>
          </a:xfrm>
        </p:spPr>
        <p:txBody>
          <a:bodyPr>
            <a:normAutofit/>
          </a:bodyPr>
          <a:p>
            <a:pPr algn="l">
              <a:lnSpc>
                <a:spcPct val="111000"/>
              </a:lnSpc>
            </a:pPr>
            <a:r>
              <a:rPr lang="en-US" altLang="zh-CN">
                <a:solidFill>
                  <a:schemeClr val="bg1"/>
                </a:solidFill>
              </a:rPr>
              <a:t>2.2 AES192</a:t>
            </a:r>
            <a:r>
              <a:rPr lang="zh-CN" altLang="en-US">
                <a:solidFill>
                  <a:schemeClr val="bg1"/>
                </a:solidFill>
              </a:rPr>
              <a:t>算法加密</a:t>
            </a:r>
            <a:endParaRPr lang="zh-CN" altLang="en-US">
              <a:solidFill>
                <a:schemeClr val="bg1"/>
              </a:solidFill>
            </a:endParaRPr>
          </a:p>
        </p:txBody>
      </p:sp>
      <p:pic>
        <p:nvPicPr>
          <p:cNvPr id="3" name="图片 2"/>
          <p:cNvPicPr>
            <a:picLocks noChangeAspect="1"/>
          </p:cNvPicPr>
          <p:nvPr/>
        </p:nvPicPr>
        <p:blipFill>
          <a:blip r:embed="rId2"/>
          <a:stretch>
            <a:fillRect/>
          </a:stretch>
        </p:blipFill>
        <p:spPr>
          <a:xfrm>
            <a:off x="4445" y="1953895"/>
            <a:ext cx="6050280" cy="4808855"/>
          </a:xfrm>
          <a:prstGeom prst="rect">
            <a:avLst/>
          </a:prstGeom>
          <a:ln>
            <a:solidFill>
              <a:schemeClr val="tx1"/>
            </a:solidFill>
          </a:ln>
        </p:spPr>
      </p:pic>
      <p:pic>
        <p:nvPicPr>
          <p:cNvPr id="4" name="图片 3"/>
          <p:cNvPicPr>
            <a:picLocks noChangeAspect="1"/>
          </p:cNvPicPr>
          <p:nvPr/>
        </p:nvPicPr>
        <p:blipFill>
          <a:blip r:embed="rId3"/>
          <a:stretch>
            <a:fillRect/>
          </a:stretch>
        </p:blipFill>
        <p:spPr>
          <a:xfrm>
            <a:off x="6055360" y="1953895"/>
            <a:ext cx="6136640" cy="4809490"/>
          </a:xfrm>
          <a:prstGeom prst="rect">
            <a:avLst/>
          </a:prstGeom>
          <a:ln>
            <a:solidFill>
              <a:schemeClr val="tx1"/>
            </a:solidFill>
          </a:ln>
        </p:spPr>
      </p:pic>
      <p:sp>
        <p:nvSpPr>
          <p:cNvPr id="5" name="文本框 4"/>
          <p:cNvSpPr txBox="1"/>
          <p:nvPr/>
        </p:nvSpPr>
        <p:spPr>
          <a:xfrm>
            <a:off x="4445" y="963930"/>
            <a:ext cx="12187555" cy="989965"/>
          </a:xfrm>
          <a:prstGeom prst="rect">
            <a:avLst/>
          </a:prstGeom>
          <a:noFill/>
        </p:spPr>
        <p:txBody>
          <a:bodyPr wrap="square" rtlCol="0" anchor="t">
            <a:noAutofit/>
          </a:bodyPr>
          <a:p>
            <a:r>
              <a:rPr lang="zh-CN" altLang="en-US">
                <a:solidFill>
                  <a:schemeClr val="tx1"/>
                </a:solidFill>
              </a:rPr>
              <a:t>使用</a:t>
            </a:r>
            <a:r>
              <a:rPr lang="en-US" altLang="zh-CN">
                <a:solidFill>
                  <a:schemeClr val="tx1"/>
                </a:solidFill>
              </a:rPr>
              <a:t>flush and reload+</a:t>
            </a:r>
            <a:r>
              <a:rPr lang="zh-CN" altLang="en-US">
                <a:solidFill>
                  <a:schemeClr val="tx1"/>
                </a:solidFill>
              </a:rPr>
              <a:t>排除法恢复了</a:t>
            </a:r>
            <a:r>
              <a:rPr lang="en-US" altLang="zh-CN">
                <a:solidFill>
                  <a:schemeClr val="tx1"/>
                </a:solidFill>
              </a:rPr>
              <a:t>AES128</a:t>
            </a:r>
            <a:r>
              <a:rPr lang="zh-CN" altLang="en-US">
                <a:solidFill>
                  <a:schemeClr val="tx1"/>
                </a:solidFill>
              </a:rPr>
              <a:t>的</a:t>
            </a:r>
            <a:r>
              <a:rPr lang="en-US" altLang="zh-CN">
                <a:solidFill>
                  <a:schemeClr val="tx1"/>
                </a:solidFill>
              </a:rPr>
              <a:t>K10</a:t>
            </a:r>
            <a:r>
              <a:rPr lang="zh-CN" altLang="en-US">
                <a:solidFill>
                  <a:schemeClr val="tx1"/>
                </a:solidFill>
              </a:rPr>
              <a:t>、</a:t>
            </a:r>
            <a:r>
              <a:rPr lang="en-US" altLang="zh-CN">
                <a:solidFill>
                  <a:schemeClr val="tx1"/>
                </a:solidFill>
              </a:rPr>
              <a:t>AES192</a:t>
            </a:r>
            <a:r>
              <a:rPr lang="zh-CN" altLang="en-US">
                <a:solidFill>
                  <a:schemeClr val="tx1"/>
                </a:solidFill>
              </a:rPr>
              <a:t>的</a:t>
            </a:r>
            <a:r>
              <a:rPr lang="en-US" altLang="zh-CN">
                <a:solidFill>
                  <a:schemeClr val="tx1"/>
                </a:solidFill>
              </a:rPr>
              <a:t>K12</a:t>
            </a:r>
            <a:r>
              <a:rPr lang="zh-CN" altLang="en-US">
                <a:solidFill>
                  <a:schemeClr val="tx1"/>
                </a:solidFill>
              </a:rPr>
              <a:t>、</a:t>
            </a:r>
            <a:r>
              <a:rPr lang="en-US" altLang="zh-CN">
                <a:solidFill>
                  <a:schemeClr val="tx1"/>
                </a:solidFill>
              </a:rPr>
              <a:t>AES256</a:t>
            </a:r>
            <a:r>
              <a:rPr lang="zh-CN" altLang="en-US">
                <a:solidFill>
                  <a:schemeClr val="tx1"/>
                </a:solidFill>
              </a:rPr>
              <a:t>的</a:t>
            </a:r>
            <a:r>
              <a:rPr lang="en-US" altLang="zh-CN">
                <a:solidFill>
                  <a:schemeClr val="tx1"/>
                </a:solidFill>
              </a:rPr>
              <a:t>K14</a:t>
            </a:r>
            <a:endParaRPr lang="en-US" altLang="zh-CN">
              <a:solidFill>
                <a:schemeClr val="tx1"/>
              </a:solidFill>
            </a:endParaRPr>
          </a:p>
          <a:p>
            <a:r>
              <a:rPr lang="en-US" altLang="zh-CN">
                <a:solidFill>
                  <a:srgbClr val="2177F9"/>
                </a:solidFill>
              </a:rPr>
              <a:t>AES - 128</a:t>
            </a:r>
            <a:r>
              <a:rPr lang="en-US" altLang="zh-CN">
                <a:solidFill>
                  <a:schemeClr val="tx1"/>
                </a:solidFill>
              </a:rPr>
              <a:t> </a:t>
            </a:r>
            <a:r>
              <a:rPr lang="en-US" altLang="zh-CN">
                <a:solidFill>
                  <a:srgbClr val="2177F9"/>
                </a:solidFill>
              </a:rPr>
              <a:t>只需最后一轮密钥即可逆向原始密钥。</a:t>
            </a:r>
            <a:r>
              <a:rPr lang="en-US" altLang="zh-CN">
                <a:solidFill>
                  <a:srgbClr val="00B050"/>
                </a:solidFill>
              </a:rPr>
              <a:t>恢复成功</a:t>
            </a:r>
            <a:r>
              <a:rPr lang="en-US" altLang="zh-CN">
                <a:solidFill>
                  <a:schemeClr val="tx1"/>
                </a:solidFill>
              </a:rPr>
              <a:t>。</a:t>
            </a:r>
            <a:endParaRPr lang="zh-CN" altLang="en-US">
              <a:solidFill>
                <a:schemeClr val="tx1"/>
              </a:solidFill>
            </a:endParaRPr>
          </a:p>
          <a:p>
            <a:r>
              <a:rPr lang="en-US" altLang="zh-CN">
                <a:solidFill>
                  <a:srgbClr val="2177F9"/>
                </a:solidFill>
              </a:rPr>
              <a:t>AES - 192 </a:t>
            </a:r>
            <a:r>
              <a:rPr lang="zh-CN" altLang="en-US" sz="1200"/>
              <a:t>轮密钥</a:t>
            </a:r>
            <a:r>
              <a:rPr lang="en-US" altLang="zh-CN" sz="1200"/>
              <a:t>: K0, K1, K2, ..., K12</a:t>
            </a:r>
            <a:r>
              <a:rPr lang="zh-CN" altLang="en-US" sz="1200"/>
              <a:t>，但只有</a:t>
            </a:r>
            <a:r>
              <a:rPr lang="en-US" altLang="zh-CN" sz="1200"/>
              <a:t>K12</a:t>
            </a:r>
            <a:r>
              <a:rPr lang="zh-CN" altLang="en-US" sz="1200"/>
              <a:t>无法推导原始密钥，需要知道</a:t>
            </a:r>
            <a:r>
              <a:rPr lang="en-US" altLang="zh-CN" sz="1200"/>
              <a:t> K12 </a:t>
            </a:r>
            <a:r>
              <a:rPr lang="zh-CN" altLang="en-US" sz="1200"/>
              <a:t>和</a:t>
            </a:r>
            <a:r>
              <a:rPr lang="en-US" altLang="zh-CN" sz="1200"/>
              <a:t> K11</a:t>
            </a:r>
            <a:r>
              <a:rPr lang="zh-CN" altLang="en-US" sz="1200"/>
              <a:t>（即最后两轮）才能逆向到</a:t>
            </a:r>
            <a:r>
              <a:rPr lang="en-US" altLang="zh-CN" sz="1200"/>
              <a:t> K10</a:t>
            </a:r>
            <a:r>
              <a:rPr lang="zh-CN" altLang="en-US" sz="1200"/>
              <a:t>，再结合</a:t>
            </a:r>
            <a:r>
              <a:rPr lang="en-US" altLang="zh-CN" sz="1200"/>
              <a:t> K11</a:t>
            </a:r>
            <a:r>
              <a:rPr lang="zh-CN" altLang="en-US" sz="1200"/>
              <a:t>、</a:t>
            </a:r>
            <a:r>
              <a:rPr lang="en-US" altLang="zh-CN" sz="1200"/>
              <a:t>K10</a:t>
            </a:r>
            <a:r>
              <a:rPr lang="en-US" altLang="zh-CN" sz="1200">
                <a:solidFill>
                  <a:schemeClr val="tx1"/>
                </a:solidFill>
              </a:rPr>
              <a:t> </a:t>
            </a:r>
            <a:r>
              <a:rPr lang="en-US" altLang="zh-CN" sz="1200">
                <a:solidFill>
                  <a:schemeClr val="tx1"/>
                </a:solidFill>
                <a:sym typeface="+mn-ea"/>
              </a:rPr>
              <a:t>逐步回溯到原始密钥</a:t>
            </a:r>
            <a:r>
              <a:rPr lang="en-US" altLang="zh-CN" sz="1200">
                <a:solidFill>
                  <a:srgbClr val="FF0000"/>
                </a:solidFill>
                <a:sym typeface="+mn-ea"/>
              </a:rPr>
              <a:t>恢复失败</a:t>
            </a:r>
            <a:r>
              <a:rPr lang="zh-CN" altLang="en-US" sz="1200"/>
              <a:t>。</a:t>
            </a:r>
            <a:endParaRPr lang="zh-CN" altLang="en-US" sz="1200"/>
          </a:p>
          <a:p>
            <a:r>
              <a:rPr lang="en-US" altLang="zh-CN">
                <a:solidFill>
                  <a:srgbClr val="2177F9"/>
                </a:solidFill>
                <a:sym typeface="+mn-ea"/>
              </a:rPr>
              <a:t>AES - 256 </a:t>
            </a:r>
            <a:r>
              <a:rPr lang="zh-CN" altLang="en-US" sz="1200">
                <a:sym typeface="+mn-ea"/>
              </a:rPr>
              <a:t>轮密钥</a:t>
            </a:r>
            <a:r>
              <a:rPr lang="en-US" altLang="zh-CN" sz="1200">
                <a:sym typeface="+mn-ea"/>
              </a:rPr>
              <a:t>: K0, K1, K2, ..., K14</a:t>
            </a:r>
            <a:r>
              <a:rPr lang="zh-CN" altLang="en-US" sz="1200">
                <a:sym typeface="+mn-ea"/>
              </a:rPr>
              <a:t>，但只有</a:t>
            </a:r>
            <a:r>
              <a:rPr lang="en-US" altLang="zh-CN" sz="1200">
                <a:sym typeface="+mn-ea"/>
              </a:rPr>
              <a:t>K14</a:t>
            </a:r>
            <a:r>
              <a:rPr lang="zh-CN" altLang="en-US" sz="1200">
                <a:sym typeface="+mn-ea"/>
              </a:rPr>
              <a:t>无法推导原始密钥，需要知道</a:t>
            </a:r>
            <a:r>
              <a:rPr lang="en-US" altLang="zh-CN" sz="1200">
                <a:sym typeface="+mn-ea"/>
              </a:rPr>
              <a:t> K14 </a:t>
            </a:r>
            <a:r>
              <a:rPr lang="zh-CN" altLang="en-US" sz="1200">
                <a:sym typeface="+mn-ea"/>
              </a:rPr>
              <a:t>和</a:t>
            </a:r>
            <a:r>
              <a:rPr lang="en-US" altLang="zh-CN" sz="1200">
                <a:sym typeface="+mn-ea"/>
              </a:rPr>
              <a:t> K13</a:t>
            </a:r>
            <a:r>
              <a:rPr lang="zh-CN" altLang="en-US" sz="1200">
                <a:sym typeface="+mn-ea"/>
              </a:rPr>
              <a:t>（即最后两轮）才能逆向到</a:t>
            </a:r>
            <a:r>
              <a:rPr lang="en-US" altLang="zh-CN" sz="1200">
                <a:sym typeface="+mn-ea"/>
              </a:rPr>
              <a:t> K12</a:t>
            </a:r>
            <a:r>
              <a:rPr lang="zh-CN" altLang="en-US" sz="1200">
                <a:sym typeface="+mn-ea"/>
              </a:rPr>
              <a:t>，再结合</a:t>
            </a:r>
            <a:r>
              <a:rPr lang="en-US" altLang="zh-CN" sz="1200">
                <a:sym typeface="+mn-ea"/>
              </a:rPr>
              <a:t> K13</a:t>
            </a:r>
            <a:r>
              <a:rPr lang="zh-CN" altLang="en-US" sz="1200">
                <a:sym typeface="+mn-ea"/>
              </a:rPr>
              <a:t>、</a:t>
            </a:r>
            <a:r>
              <a:rPr lang="en-US" altLang="zh-CN" sz="1200">
                <a:sym typeface="+mn-ea"/>
              </a:rPr>
              <a:t>K12 </a:t>
            </a:r>
            <a:r>
              <a:rPr lang="zh-CN" altLang="en-US" sz="1200">
                <a:sym typeface="+mn-ea"/>
              </a:rPr>
              <a:t>逐步回溯到原始密钥</a:t>
            </a:r>
            <a:r>
              <a:rPr lang="zh-CN" altLang="en-US" sz="1200">
                <a:solidFill>
                  <a:srgbClr val="FF0000"/>
                </a:solidFill>
                <a:sym typeface="+mn-ea"/>
              </a:rPr>
              <a:t>恢复失败</a:t>
            </a:r>
            <a:r>
              <a:rPr lang="zh-CN" altLang="en-US" sz="1200">
                <a:sym typeface="+mn-ea"/>
              </a:rPr>
              <a:t>。</a:t>
            </a:r>
            <a:endParaRPr lang="zh-CN" altLang="en-US" sz="1200"/>
          </a:p>
          <a:p>
            <a:endParaRPr lang="zh-CN" altLang="en-US" sz="1200"/>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2.2</a:t>
            </a:r>
            <a:r>
              <a:rPr lang="en-US" altLang="zh-CN">
                <a:solidFill>
                  <a:schemeClr val="bg1"/>
                </a:solidFill>
              </a:rPr>
              <a:t> </a:t>
            </a:r>
            <a:r>
              <a:rPr lang="zh-CN" altLang="en-US">
                <a:solidFill>
                  <a:schemeClr val="bg1"/>
                </a:solidFill>
              </a:rPr>
              <a:t>攻击阶段</a:t>
            </a:r>
            <a:r>
              <a:rPr lang="zh-CN" altLang="en-US">
                <a:solidFill>
                  <a:schemeClr val="bg1"/>
                </a:solidFill>
              </a:rPr>
              <a:t>一：恢复</a:t>
            </a:r>
            <a:r>
              <a:rPr lang="en-US" altLang="zh-CN">
                <a:solidFill>
                  <a:schemeClr val="bg1"/>
                </a:solidFill>
              </a:rPr>
              <a:t>K</a:t>
            </a:r>
            <a:r>
              <a:rPr lang="en-US" altLang="zh-CN">
                <a:solidFill>
                  <a:schemeClr val="bg1"/>
                </a:solidFill>
              </a:rPr>
              <a:t>d1</a:t>
            </a:r>
            <a:endParaRPr lang="en-US" altLang="zh-CN">
              <a:solidFill>
                <a:schemeClr val="bg1"/>
              </a:solidFill>
            </a:endParaRPr>
          </a:p>
        </p:txBody>
      </p:sp>
      <p:pic>
        <p:nvPicPr>
          <p:cNvPr id="4" name="图片 3"/>
          <p:cNvPicPr>
            <a:picLocks noChangeAspect="1"/>
          </p:cNvPicPr>
          <p:nvPr/>
        </p:nvPicPr>
        <p:blipFill>
          <a:blip r:embed="rId2"/>
          <a:stretch>
            <a:fillRect/>
          </a:stretch>
        </p:blipFill>
        <p:spPr>
          <a:xfrm>
            <a:off x="6090920" y="3419475"/>
            <a:ext cx="9525" cy="19050"/>
          </a:xfrm>
          <a:prstGeom prst="rect">
            <a:avLst/>
          </a:prstGeom>
        </p:spPr>
      </p:pic>
      <p:sp>
        <p:nvSpPr>
          <p:cNvPr id="3" name="文本框 2"/>
          <p:cNvSpPr txBox="1"/>
          <p:nvPr/>
        </p:nvSpPr>
        <p:spPr>
          <a:xfrm>
            <a:off x="4445" y="922655"/>
            <a:ext cx="12187555" cy="2254885"/>
          </a:xfrm>
          <a:prstGeom prst="rect">
            <a:avLst/>
          </a:prstGeom>
          <a:noFill/>
        </p:spPr>
        <p:txBody>
          <a:bodyPr wrap="square" rtlCol="0" anchor="t">
            <a:noAutofit/>
          </a:bodyPr>
          <a:p>
            <a:r>
              <a:rPr lang="en-US" altLang="zh-CN" sz="1800"/>
              <a:t>AES192</a:t>
            </a:r>
            <a:r>
              <a:rPr lang="zh-CN" altLang="en-US" sz="1800"/>
              <a:t>的</a:t>
            </a:r>
            <a:r>
              <a:rPr lang="en-US" altLang="zh-CN" sz="1800"/>
              <a:t>K11</a:t>
            </a:r>
            <a:r>
              <a:rPr lang="zh-CN" altLang="en-US" sz="1800"/>
              <a:t>与</a:t>
            </a:r>
            <a:r>
              <a:rPr lang="en-US" altLang="zh-CN" sz="1800"/>
              <a:t>AES256</a:t>
            </a:r>
            <a:r>
              <a:rPr lang="zh-CN" altLang="en-US" sz="1800"/>
              <a:t>的</a:t>
            </a:r>
            <a:r>
              <a:rPr lang="en-US" altLang="zh-CN" sz="1800"/>
              <a:t>K13</a:t>
            </a:r>
            <a:r>
              <a:rPr lang="zh-CN" altLang="en-US" sz="1800"/>
              <a:t>恢复方法相同，以</a:t>
            </a:r>
            <a:r>
              <a:rPr lang="en-US" altLang="zh-CN" sz="1800">
                <a:solidFill>
                  <a:srgbClr val="FF0000"/>
                </a:solidFill>
              </a:rPr>
              <a:t>AES256</a:t>
            </a:r>
            <a:r>
              <a:rPr lang="zh-CN" altLang="en-US" sz="1800"/>
              <a:t>为例：</a:t>
            </a:r>
            <a:endParaRPr lang="zh-CN" altLang="en-US" sz="1800"/>
          </a:p>
        </p:txBody>
      </p:sp>
      <p:pic>
        <p:nvPicPr>
          <p:cNvPr id="7" name="图片 6"/>
          <p:cNvPicPr>
            <a:picLocks noChangeAspect="1"/>
          </p:cNvPicPr>
          <p:nvPr/>
        </p:nvPicPr>
        <p:blipFill>
          <a:blip r:embed="rId3"/>
          <a:stretch>
            <a:fillRect/>
          </a:stretch>
        </p:blipFill>
        <p:spPr>
          <a:xfrm>
            <a:off x="0" y="1272540"/>
            <a:ext cx="6910070" cy="5585460"/>
          </a:xfrm>
          <a:prstGeom prst="rect">
            <a:avLst/>
          </a:prstGeom>
        </p:spPr>
      </p:pic>
      <p:sp>
        <p:nvSpPr>
          <p:cNvPr id="8" name="矩形 7"/>
          <p:cNvSpPr/>
          <p:nvPr/>
        </p:nvSpPr>
        <p:spPr>
          <a:xfrm>
            <a:off x="35560" y="1305560"/>
            <a:ext cx="5048885" cy="238760"/>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9" name="矩形 8"/>
          <p:cNvSpPr/>
          <p:nvPr/>
        </p:nvSpPr>
        <p:spPr>
          <a:xfrm>
            <a:off x="187325" y="2515235"/>
            <a:ext cx="2321560" cy="247650"/>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sp>
        <p:nvSpPr>
          <p:cNvPr id="10" name="矩形 9"/>
          <p:cNvSpPr/>
          <p:nvPr/>
        </p:nvSpPr>
        <p:spPr>
          <a:xfrm>
            <a:off x="2330450" y="5603875"/>
            <a:ext cx="2153920" cy="370840"/>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800"/>
          </a:p>
        </p:txBody>
      </p:sp>
      <p:cxnSp>
        <p:nvCxnSpPr>
          <p:cNvPr id="5" name="直接连接符 4"/>
          <p:cNvCxnSpPr/>
          <p:nvPr/>
        </p:nvCxnSpPr>
        <p:spPr>
          <a:xfrm>
            <a:off x="1804670" y="4385310"/>
            <a:ext cx="1036320" cy="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spTree>
    <p:custDataLst>
      <p:tags r:id="rId4"/>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2.2</a:t>
            </a:r>
            <a:r>
              <a:rPr lang="en-US" altLang="zh-CN">
                <a:solidFill>
                  <a:schemeClr val="bg1"/>
                </a:solidFill>
              </a:rPr>
              <a:t> </a:t>
            </a:r>
            <a:r>
              <a:rPr lang="zh-CN" altLang="en-US">
                <a:solidFill>
                  <a:schemeClr val="bg1"/>
                </a:solidFill>
              </a:rPr>
              <a:t>恢复</a:t>
            </a:r>
            <a:r>
              <a:rPr lang="en-US" altLang="zh-CN">
                <a:solidFill>
                  <a:schemeClr val="bg1"/>
                </a:solidFill>
              </a:rPr>
              <a:t>Kd1</a:t>
            </a:r>
            <a:r>
              <a:rPr lang="zh-CN" altLang="en-US">
                <a:solidFill>
                  <a:schemeClr val="bg1"/>
                </a:solidFill>
              </a:rPr>
              <a:t>：</a:t>
            </a:r>
            <a:r>
              <a:rPr lang="en-US" altLang="zh-CN">
                <a:solidFill>
                  <a:schemeClr val="bg1"/>
                </a:solidFill>
              </a:rPr>
              <a:t>flush and reload+</a:t>
            </a:r>
            <a:r>
              <a:rPr lang="zh-CN" altLang="en-US">
                <a:solidFill>
                  <a:schemeClr val="bg1"/>
                </a:solidFill>
              </a:rPr>
              <a:t>排除法</a:t>
            </a:r>
            <a:endParaRPr lang="zh-CN" altLang="en-US">
              <a:solidFill>
                <a:schemeClr val="bg1"/>
              </a:solidFill>
            </a:endParaRPr>
          </a:p>
        </p:txBody>
      </p:sp>
      <p:pic>
        <p:nvPicPr>
          <p:cNvPr id="4" name="图片 3"/>
          <p:cNvPicPr>
            <a:picLocks noChangeAspect="1"/>
          </p:cNvPicPr>
          <p:nvPr/>
        </p:nvPicPr>
        <p:blipFill>
          <a:blip r:embed="rId2"/>
          <a:stretch>
            <a:fillRect/>
          </a:stretch>
        </p:blipFill>
        <p:spPr>
          <a:xfrm>
            <a:off x="6090920" y="3419475"/>
            <a:ext cx="9525" cy="19050"/>
          </a:xfrm>
          <a:prstGeom prst="rect">
            <a:avLst/>
          </a:prstGeom>
        </p:spPr>
      </p:pic>
      <p:sp>
        <p:nvSpPr>
          <p:cNvPr id="5" name="文本框 4"/>
          <p:cNvSpPr txBox="1"/>
          <p:nvPr/>
        </p:nvSpPr>
        <p:spPr>
          <a:xfrm>
            <a:off x="4445" y="937895"/>
            <a:ext cx="12187555" cy="4523105"/>
          </a:xfrm>
          <a:prstGeom prst="rect">
            <a:avLst/>
          </a:prstGeom>
          <a:noFill/>
        </p:spPr>
        <p:txBody>
          <a:bodyPr wrap="square" rtlCol="0" anchor="t">
            <a:spAutoFit/>
          </a:bodyPr>
          <a:p>
            <a:r>
              <a:rPr lang="zh-CN" altLang="en-US" sz="1800"/>
              <a:t>分析</a:t>
            </a:r>
            <a:r>
              <a:rPr lang="en-US" altLang="zh-CN" sz="1800"/>
              <a:t>AES</a:t>
            </a:r>
            <a:r>
              <a:rPr lang="zh-CN" altLang="en-US" sz="1800"/>
              <a:t>解密</a:t>
            </a:r>
            <a:r>
              <a:rPr lang="zh-CN" altLang="en-US" sz="1800"/>
              <a:t>过程：</a:t>
            </a:r>
            <a:endParaRPr lang="zh-CN" altLang="en-US" sz="1800"/>
          </a:p>
          <a:p>
            <a:r>
              <a:rPr lang="zh-CN" altLang="en-US" sz="1800">
                <a:solidFill>
                  <a:srgbClr val="FF0000"/>
                </a:solidFill>
              </a:rPr>
              <a:t>步骤</a:t>
            </a:r>
            <a:r>
              <a:rPr lang="en-US" altLang="zh-CN" sz="1800">
                <a:solidFill>
                  <a:srgbClr val="FF0000"/>
                </a:solidFill>
              </a:rPr>
              <a:t>1</a:t>
            </a:r>
            <a:r>
              <a:rPr lang="en-US" altLang="zh-CN" sz="1800"/>
              <a:t> </a:t>
            </a:r>
            <a:r>
              <a:rPr lang="en-US" altLang="zh-CN" sz="1800">
                <a:sym typeface="+mn-ea"/>
              </a:rPr>
              <a:t>AddRoundKey(Kd0)</a:t>
            </a:r>
            <a:r>
              <a:rPr lang="zh-CN" altLang="en-US" sz="1800"/>
              <a:t>：</a:t>
            </a:r>
            <a:endParaRPr lang="zh-CN" altLang="en-US" sz="1800"/>
          </a:p>
          <a:p>
            <a:r>
              <a:rPr lang="en-US" altLang="zh-CN" sz="1800"/>
              <a:t>D1 = D0 ⊕ Kd0</a:t>
            </a:r>
            <a:r>
              <a:rPr lang="zh-CN" altLang="en-US" sz="1800"/>
              <a:t>，其中</a:t>
            </a:r>
            <a:r>
              <a:rPr lang="en-US" altLang="zh-CN" sz="1800"/>
              <a:t> Kd0 = K14 (</a:t>
            </a:r>
            <a:r>
              <a:rPr lang="zh-CN" altLang="en-US" sz="1800"/>
              <a:t>已通过排除法恢复</a:t>
            </a:r>
            <a:r>
              <a:rPr lang="en-US" altLang="zh-CN" sz="1800"/>
              <a:t>)</a:t>
            </a:r>
            <a:r>
              <a:rPr lang="zh-CN" altLang="en-US" sz="1800"/>
              <a:t>，所以</a:t>
            </a:r>
            <a:r>
              <a:rPr lang="en-US" altLang="zh-CN" sz="1800"/>
              <a:t> </a:t>
            </a:r>
            <a:r>
              <a:rPr lang="en-US" altLang="zh-CN" sz="1800">
                <a:solidFill>
                  <a:srgbClr val="2177F9"/>
                </a:solidFill>
              </a:rPr>
              <a:t>D1 </a:t>
            </a:r>
            <a:r>
              <a:rPr lang="zh-CN" altLang="en-US" sz="1800">
                <a:solidFill>
                  <a:srgbClr val="2177F9"/>
                </a:solidFill>
              </a:rPr>
              <a:t>可以计算得到</a:t>
            </a:r>
            <a:r>
              <a:rPr lang="zh-CN" altLang="en-US" sz="1800"/>
              <a:t>。</a:t>
            </a:r>
            <a:endParaRPr lang="zh-CN" altLang="en-US" sz="1800"/>
          </a:p>
          <a:p>
            <a:r>
              <a:rPr lang="zh-CN" altLang="en-US" sz="1800">
                <a:solidFill>
                  <a:srgbClr val="FF0000"/>
                </a:solidFill>
              </a:rPr>
              <a:t>步骤</a:t>
            </a:r>
            <a:r>
              <a:rPr lang="en-US" altLang="zh-CN" sz="1800">
                <a:solidFill>
                  <a:srgbClr val="FF0000"/>
                </a:solidFill>
              </a:rPr>
              <a:t>2</a:t>
            </a:r>
            <a:r>
              <a:rPr lang="en-US" altLang="zh-CN" sz="1800"/>
              <a:t> InvShiftRows + InvSubBytes + InvMixColumns</a:t>
            </a:r>
            <a:r>
              <a:rPr lang="zh-CN" altLang="en-US" sz="1800"/>
              <a:t>，</a:t>
            </a:r>
            <a:r>
              <a:rPr lang="zh-CN" altLang="en-US" sz="1800">
                <a:sym typeface="+mn-ea"/>
              </a:rPr>
              <a:t>计算中间值</a:t>
            </a:r>
            <a:r>
              <a:rPr lang="en-US" altLang="zh-CN" sz="1800">
                <a:sym typeface="+mn-ea"/>
              </a:rPr>
              <a:t> IV1 </a:t>
            </a:r>
            <a:r>
              <a:rPr lang="zh-CN" altLang="en-US" sz="1800">
                <a:sym typeface="+mn-ea"/>
              </a:rPr>
              <a:t>数组，</a:t>
            </a:r>
            <a:r>
              <a:rPr lang="zh-CN" altLang="en-US" sz="1800"/>
              <a:t>使用</a:t>
            </a:r>
            <a:r>
              <a:rPr lang="en-US" altLang="zh-CN" sz="1800"/>
              <a:t>Td</a:t>
            </a:r>
            <a:r>
              <a:rPr lang="zh-CN" altLang="en-US" sz="1800"/>
              <a:t>表实现：</a:t>
            </a:r>
            <a:endParaRPr lang="en-US" altLang="zh-CN" sz="1800"/>
          </a:p>
          <a:p>
            <a:r>
              <a:rPr lang="en-US" altLang="zh-CN" sz="1800"/>
              <a:t>IV1[0] = Td0[D1[0]] ⊕ Td1[D1[13]] ⊕ Td2[D1[10]] ⊕ Td3[D1[7]]</a:t>
            </a:r>
            <a:endParaRPr lang="en-US" altLang="zh-CN" sz="1800"/>
          </a:p>
          <a:p>
            <a:r>
              <a:rPr lang="en-US" altLang="zh-CN" sz="1800"/>
              <a:t>IV1[1] = Td0[D1[4]] ⊕ Td1[D1[1]] ⊕ Td2[D1[14]] ⊕ Td3[D1[11]]</a:t>
            </a:r>
            <a:endParaRPr lang="en-US" altLang="zh-CN" sz="1800"/>
          </a:p>
          <a:p>
            <a:r>
              <a:rPr lang="en-US" altLang="zh-CN" sz="1800"/>
              <a:t>IV1[2] = Td0[D1[8]] ⊕ Td1[D1[5]] ⊕ Td2[D1[2]] ⊕ Td3[D1[15]]</a:t>
            </a:r>
            <a:endParaRPr lang="en-US" altLang="zh-CN" sz="1800"/>
          </a:p>
          <a:p>
            <a:r>
              <a:rPr lang="en-US" altLang="zh-CN" sz="1800"/>
              <a:t>IV1[3] = Td0[D1[12]] ⊕ Td1[D1[9]] ⊕ Td2[D1[6]] ⊕ Td3[D1[3]]</a:t>
            </a:r>
            <a:endParaRPr lang="en-US" altLang="zh-CN" sz="1800"/>
          </a:p>
          <a:p>
            <a:r>
              <a:rPr lang="zh-CN" altLang="en-US" sz="1800"/>
              <a:t>所以</a:t>
            </a:r>
            <a:r>
              <a:rPr lang="en-US" altLang="zh-CN" sz="1800"/>
              <a:t> </a:t>
            </a:r>
            <a:r>
              <a:rPr lang="en-US" altLang="zh-CN" sz="1800">
                <a:solidFill>
                  <a:srgbClr val="2177F9"/>
                </a:solidFill>
              </a:rPr>
              <a:t>IV1 </a:t>
            </a:r>
            <a:r>
              <a:rPr lang="zh-CN" altLang="en-US" sz="1800">
                <a:solidFill>
                  <a:srgbClr val="2177F9"/>
                </a:solidFill>
              </a:rPr>
              <a:t>可以计算得到</a:t>
            </a:r>
            <a:r>
              <a:rPr lang="zh-CN" altLang="en-US" sz="1800"/>
              <a:t>。</a:t>
            </a:r>
            <a:endParaRPr lang="zh-CN" altLang="en-US" sz="1800"/>
          </a:p>
          <a:p>
            <a:r>
              <a:rPr lang="zh-CN" altLang="en-US" sz="1800">
                <a:solidFill>
                  <a:srgbClr val="FF0000"/>
                </a:solidFill>
              </a:rPr>
              <a:t>步骤</a:t>
            </a:r>
            <a:r>
              <a:rPr lang="en-US" altLang="zh-CN" sz="1800">
                <a:solidFill>
                  <a:srgbClr val="FF0000"/>
                </a:solidFill>
              </a:rPr>
              <a:t>3</a:t>
            </a:r>
            <a:r>
              <a:rPr lang="en-US" altLang="zh-CN" sz="1800"/>
              <a:t> AddRoundKey(Kd1)</a:t>
            </a:r>
            <a:r>
              <a:rPr lang="zh-CN" altLang="en-US" sz="1800"/>
              <a:t>：</a:t>
            </a:r>
            <a:endParaRPr lang="zh-CN" altLang="en-US" sz="1800"/>
          </a:p>
          <a:p>
            <a:r>
              <a:rPr lang="en-US" altLang="zh-CN" sz="1800"/>
              <a:t>D2 = IV1 ⊕ Kd1</a:t>
            </a:r>
            <a:r>
              <a:rPr lang="zh-CN" altLang="en-US" sz="1800"/>
              <a:t>，其中</a:t>
            </a:r>
            <a:r>
              <a:rPr lang="en-US" altLang="zh-CN" sz="1800"/>
              <a:t> </a:t>
            </a:r>
            <a:r>
              <a:rPr lang="en-US" altLang="zh-CN" sz="1800">
                <a:solidFill>
                  <a:srgbClr val="2177F9"/>
                </a:solidFill>
              </a:rPr>
              <a:t>Kd1 </a:t>
            </a:r>
            <a:r>
              <a:rPr lang="zh-CN" altLang="en-US" sz="1800">
                <a:solidFill>
                  <a:srgbClr val="2177F9"/>
                </a:solidFill>
              </a:rPr>
              <a:t>未知</a:t>
            </a:r>
            <a:r>
              <a:rPr lang="en-US" altLang="zh-CN" sz="1800"/>
              <a:t> (</a:t>
            </a:r>
            <a:r>
              <a:rPr lang="zh-CN" altLang="en-US" sz="1800"/>
              <a:t>需要恢复</a:t>
            </a:r>
            <a:r>
              <a:rPr lang="en-US" altLang="zh-CN" sz="1800"/>
              <a:t>)</a:t>
            </a:r>
            <a:r>
              <a:rPr lang="zh-CN" altLang="en-US" sz="1800"/>
              <a:t>，</a:t>
            </a:r>
            <a:r>
              <a:rPr lang="en-US" altLang="zh-CN" sz="1800">
                <a:solidFill>
                  <a:srgbClr val="2177F9"/>
                </a:solidFill>
              </a:rPr>
              <a:t>D2 </a:t>
            </a:r>
            <a:r>
              <a:rPr lang="zh-CN" altLang="en-US" sz="1800">
                <a:solidFill>
                  <a:srgbClr val="2177F9"/>
                </a:solidFill>
              </a:rPr>
              <a:t>未知</a:t>
            </a:r>
            <a:r>
              <a:rPr lang="zh-CN" altLang="en-US" sz="1800">
                <a:solidFill>
                  <a:schemeClr val="tx1"/>
                </a:solidFill>
              </a:rPr>
              <a:t>。</a:t>
            </a:r>
            <a:endParaRPr lang="zh-CN" altLang="en-US" sz="1800">
              <a:solidFill>
                <a:schemeClr val="tx1"/>
              </a:solidFill>
            </a:endParaRPr>
          </a:p>
          <a:p>
            <a:r>
              <a:rPr lang="zh-CN" altLang="en-US" sz="1800">
                <a:solidFill>
                  <a:srgbClr val="FF0000"/>
                </a:solidFill>
              </a:rPr>
              <a:t>观察到</a:t>
            </a:r>
            <a:r>
              <a:rPr lang="zh-CN" altLang="en-US" sz="1800">
                <a:solidFill>
                  <a:schemeClr val="tx1"/>
                </a:solidFill>
              </a:rPr>
              <a:t>：</a:t>
            </a:r>
            <a:r>
              <a:rPr lang="en-US" altLang="zh-CN" sz="1800">
                <a:solidFill>
                  <a:srgbClr val="FF0000"/>
                </a:solidFill>
                <a:sym typeface="+mn-ea"/>
              </a:rPr>
              <a:t>Kd1</a:t>
            </a:r>
            <a:r>
              <a:rPr lang="en-US" altLang="zh-CN" sz="1800">
                <a:solidFill>
                  <a:srgbClr val="FF0000"/>
                </a:solidFill>
              </a:rPr>
              <a:t> = IV1 ⊕ D2</a:t>
            </a:r>
            <a:r>
              <a:rPr lang="zh-CN" altLang="en-US" sz="1800">
                <a:solidFill>
                  <a:schemeClr val="tx1"/>
                </a:solidFill>
              </a:rPr>
              <a:t>，即：</a:t>
            </a:r>
            <a:endParaRPr lang="en-US" altLang="zh-CN" sz="1800">
              <a:solidFill>
                <a:schemeClr val="tx1"/>
              </a:solidFill>
            </a:endParaRPr>
          </a:p>
          <a:p>
            <a:r>
              <a:rPr lang="en-US" altLang="zh-CN" sz="1800">
                <a:solidFill>
                  <a:schemeClr val="tx1"/>
                </a:solidFill>
              </a:rPr>
              <a:t>D2[0] = IV1[0] ⊕ Kd1[0]</a:t>
            </a:r>
            <a:endParaRPr lang="en-US" altLang="zh-CN" sz="1800">
              <a:solidFill>
                <a:schemeClr val="tx1"/>
              </a:solidFill>
            </a:endParaRPr>
          </a:p>
          <a:p>
            <a:r>
              <a:rPr lang="en-US" altLang="zh-CN" sz="1800">
                <a:solidFill>
                  <a:schemeClr val="tx1"/>
                </a:solidFill>
              </a:rPr>
              <a:t>D2[1] = IV1[1] ⊕ Kd1[1]</a:t>
            </a:r>
            <a:endParaRPr lang="en-US" altLang="zh-CN" sz="1800">
              <a:solidFill>
                <a:schemeClr val="tx1"/>
              </a:solidFill>
            </a:endParaRPr>
          </a:p>
          <a:p>
            <a:r>
              <a:rPr lang="en-US" altLang="zh-CN" sz="1800">
                <a:solidFill>
                  <a:schemeClr val="tx1"/>
                </a:solidFill>
              </a:rPr>
              <a:t>...                                    </a:t>
            </a:r>
            <a:endParaRPr lang="en-US" altLang="zh-CN" sz="1800">
              <a:solidFill>
                <a:schemeClr val="tx1"/>
              </a:solidFill>
            </a:endParaRPr>
          </a:p>
          <a:p>
            <a:r>
              <a:rPr lang="en-US" altLang="zh-CN" sz="1800">
                <a:solidFill>
                  <a:schemeClr val="tx1"/>
                </a:solidFill>
              </a:rPr>
              <a:t>D2[15] = IV1[15] ⊕ Kd1[15]</a:t>
            </a:r>
            <a:endParaRPr lang="en-US" altLang="zh-CN" sz="1800">
              <a:solidFill>
                <a:schemeClr val="tx1"/>
              </a:solidFill>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2.2</a:t>
            </a:r>
            <a:r>
              <a:rPr lang="en-US" altLang="zh-CN">
                <a:solidFill>
                  <a:schemeClr val="bg1"/>
                </a:solidFill>
              </a:rPr>
              <a:t> </a:t>
            </a:r>
            <a:r>
              <a:rPr lang="zh-CN" altLang="en-US">
                <a:solidFill>
                  <a:schemeClr val="bg1"/>
                </a:solidFill>
              </a:rPr>
              <a:t>恢复</a:t>
            </a:r>
            <a:r>
              <a:rPr lang="en-US" altLang="zh-CN">
                <a:solidFill>
                  <a:schemeClr val="bg1"/>
                </a:solidFill>
              </a:rPr>
              <a:t>Kd1</a:t>
            </a:r>
            <a:r>
              <a:rPr lang="zh-CN" altLang="en-US">
                <a:solidFill>
                  <a:schemeClr val="bg1"/>
                </a:solidFill>
              </a:rPr>
              <a:t>：</a:t>
            </a:r>
            <a:r>
              <a:rPr lang="en-US" altLang="zh-CN">
                <a:solidFill>
                  <a:schemeClr val="bg1"/>
                </a:solidFill>
              </a:rPr>
              <a:t>flush and reload+</a:t>
            </a:r>
            <a:r>
              <a:rPr lang="zh-CN" altLang="en-US">
                <a:solidFill>
                  <a:schemeClr val="bg1"/>
                </a:solidFill>
              </a:rPr>
              <a:t>排除法</a:t>
            </a:r>
            <a:endParaRPr lang="zh-CN" altLang="en-US">
              <a:solidFill>
                <a:schemeClr val="bg1"/>
              </a:solidFill>
            </a:endParaRPr>
          </a:p>
        </p:txBody>
      </p:sp>
      <p:pic>
        <p:nvPicPr>
          <p:cNvPr id="4" name="图片 3"/>
          <p:cNvPicPr>
            <a:picLocks noChangeAspect="1"/>
          </p:cNvPicPr>
          <p:nvPr/>
        </p:nvPicPr>
        <p:blipFill>
          <a:blip r:embed="rId2"/>
          <a:stretch>
            <a:fillRect/>
          </a:stretch>
        </p:blipFill>
        <p:spPr>
          <a:xfrm>
            <a:off x="6090920" y="3419475"/>
            <a:ext cx="9525" cy="19050"/>
          </a:xfrm>
          <a:prstGeom prst="rect">
            <a:avLst/>
          </a:prstGeom>
        </p:spPr>
      </p:pic>
      <p:sp>
        <p:nvSpPr>
          <p:cNvPr id="5" name="文本框 4"/>
          <p:cNvSpPr txBox="1"/>
          <p:nvPr/>
        </p:nvSpPr>
        <p:spPr>
          <a:xfrm>
            <a:off x="5715" y="937895"/>
            <a:ext cx="12573000" cy="5631180"/>
          </a:xfrm>
          <a:prstGeom prst="rect">
            <a:avLst/>
          </a:prstGeom>
          <a:noFill/>
        </p:spPr>
        <p:txBody>
          <a:bodyPr wrap="square" rtlCol="0" anchor="t">
            <a:spAutoFit/>
          </a:bodyPr>
          <a:p>
            <a:r>
              <a:rPr lang="en-US" altLang="zh-CN" sz="1800">
                <a:solidFill>
                  <a:srgbClr val="2177F9"/>
                </a:solidFill>
              </a:rPr>
              <a:t>D2</a:t>
            </a:r>
            <a:r>
              <a:rPr lang="zh-CN" altLang="en-US" sz="1800">
                <a:solidFill>
                  <a:srgbClr val="2177F9"/>
                </a:solidFill>
              </a:rPr>
              <a:t>与</a:t>
            </a:r>
            <a:r>
              <a:rPr lang="en-US" altLang="zh-CN" sz="1800">
                <a:solidFill>
                  <a:srgbClr val="2177F9"/>
                </a:solidFill>
              </a:rPr>
              <a:t>S13</a:t>
            </a:r>
            <a:r>
              <a:rPr lang="zh-CN" altLang="en-US" sz="1800">
                <a:solidFill>
                  <a:srgbClr val="2177F9"/>
                </a:solidFill>
              </a:rPr>
              <a:t>的对应关系</a:t>
            </a:r>
            <a:r>
              <a:rPr lang="zh-CN" altLang="en-US" sz="1800">
                <a:solidFill>
                  <a:schemeClr val="tx1"/>
                </a:solidFill>
              </a:rPr>
              <a:t>：</a:t>
            </a:r>
            <a:r>
              <a:rPr lang="en-US" altLang="zh-CN" sz="1800">
                <a:solidFill>
                  <a:srgbClr val="2177F9"/>
                </a:solidFill>
                <a:sym typeface="+mn-ea"/>
              </a:rPr>
              <a:t>S13</a:t>
            </a:r>
            <a:r>
              <a:rPr lang="zh-CN" altLang="en-US" sz="1800">
                <a:solidFill>
                  <a:srgbClr val="2177F9"/>
                </a:solidFill>
                <a:sym typeface="+mn-ea"/>
              </a:rPr>
              <a:t>的每个字节由</a:t>
            </a:r>
            <a:r>
              <a:rPr lang="en-US" altLang="zh-CN" sz="1800">
                <a:solidFill>
                  <a:srgbClr val="2177F9"/>
                </a:solidFill>
                <a:sym typeface="+mn-ea"/>
              </a:rPr>
              <a:t>D2</a:t>
            </a:r>
            <a:r>
              <a:rPr lang="zh-CN" altLang="en-US" sz="1800">
                <a:solidFill>
                  <a:srgbClr val="2177F9"/>
                </a:solidFill>
                <a:sym typeface="+mn-ea"/>
              </a:rPr>
              <a:t>的某个字节经过</a:t>
            </a:r>
            <a:r>
              <a:rPr lang="en-US" altLang="zh-CN" sz="1800">
                <a:solidFill>
                  <a:srgbClr val="2177F9"/>
                </a:solidFill>
                <a:sym typeface="+mn-ea"/>
              </a:rPr>
              <a:t>S-box</a:t>
            </a:r>
            <a:r>
              <a:rPr lang="zh-CN" altLang="en-US" sz="1800">
                <a:solidFill>
                  <a:srgbClr val="2177F9"/>
                </a:solidFill>
                <a:sym typeface="+mn-ea"/>
              </a:rPr>
              <a:t>变换得到，</a:t>
            </a:r>
            <a:r>
              <a:rPr lang="zh-CN" altLang="en-US" sz="1800">
                <a:solidFill>
                  <a:srgbClr val="2177F9"/>
                </a:solidFill>
              </a:rPr>
              <a:t>该映射也是双射，因此可以双向推导。</a:t>
            </a:r>
            <a:endParaRPr lang="zh-CN" altLang="en-US" sz="1800">
              <a:solidFill>
                <a:srgbClr val="2177F9"/>
              </a:solidFill>
            </a:endParaRPr>
          </a:p>
          <a:p>
            <a:endParaRPr lang="en-US" altLang="zh-CN" sz="1800">
              <a:solidFill>
                <a:srgbClr val="2177F9"/>
              </a:solidFill>
            </a:endParaRPr>
          </a:p>
          <a:p>
            <a:endParaRPr lang="en-US" altLang="zh-CN" sz="1800">
              <a:solidFill>
                <a:schemeClr val="tx1"/>
              </a:solidFill>
            </a:endParaRPr>
          </a:p>
          <a:p>
            <a:endParaRPr lang="en-US" altLang="zh-CN" sz="1800">
              <a:solidFill>
                <a:schemeClr val="tx1"/>
              </a:solidFill>
            </a:endParaRPr>
          </a:p>
          <a:p>
            <a:endParaRPr lang="en-US" altLang="zh-CN" sz="1800">
              <a:solidFill>
                <a:schemeClr val="tx1"/>
              </a:solidFill>
            </a:endParaRPr>
          </a:p>
          <a:p>
            <a:endParaRPr lang="en-US" altLang="zh-CN" sz="1800">
              <a:solidFill>
                <a:schemeClr val="tx1"/>
              </a:solidFill>
            </a:endParaRPr>
          </a:p>
          <a:p>
            <a:endParaRPr lang="en-US" altLang="zh-CN" sz="1800">
              <a:solidFill>
                <a:schemeClr val="tx1"/>
              </a:solidFill>
            </a:endParaRPr>
          </a:p>
          <a:p>
            <a:endParaRPr lang="en-US" altLang="zh-CN" sz="1800">
              <a:solidFill>
                <a:schemeClr val="tx1"/>
              </a:solidFill>
            </a:endParaRPr>
          </a:p>
          <a:p>
            <a:endParaRPr lang="en-US" altLang="zh-CN" sz="1800">
              <a:solidFill>
                <a:schemeClr val="tx1"/>
              </a:solidFill>
            </a:endParaRPr>
          </a:p>
          <a:p>
            <a:r>
              <a:rPr lang="en-US" altLang="zh-CN" sz="1800">
                <a:solidFill>
                  <a:schemeClr val="tx1"/>
                </a:solidFill>
              </a:rPr>
              <a:t>S13 </a:t>
            </a:r>
            <a:r>
              <a:rPr lang="zh-CN" altLang="en-US" sz="1800">
                <a:solidFill>
                  <a:schemeClr val="tx1"/>
                </a:solidFill>
              </a:rPr>
              <a:t>是加密第</a:t>
            </a:r>
            <a:r>
              <a:rPr lang="en-US" altLang="zh-CN" sz="1800">
                <a:solidFill>
                  <a:schemeClr val="tx1"/>
                </a:solidFill>
              </a:rPr>
              <a:t>13</a:t>
            </a:r>
            <a:r>
              <a:rPr lang="zh-CN" altLang="en-US" sz="1800">
                <a:solidFill>
                  <a:schemeClr val="tx1"/>
                </a:solidFill>
              </a:rPr>
              <a:t>轮的输入状态，</a:t>
            </a:r>
            <a:r>
              <a:rPr lang="en-US" altLang="zh-CN" sz="1800">
                <a:solidFill>
                  <a:srgbClr val="2177F9"/>
                </a:solidFill>
              </a:rPr>
              <a:t>S13</a:t>
            </a:r>
            <a:r>
              <a:rPr lang="zh-CN" altLang="en-US" sz="1800">
                <a:solidFill>
                  <a:srgbClr val="2177F9"/>
                </a:solidFill>
              </a:rPr>
              <a:t>与</a:t>
            </a:r>
            <a:r>
              <a:rPr lang="en-US" altLang="zh-CN" sz="1800">
                <a:solidFill>
                  <a:srgbClr val="2177F9"/>
                </a:solidFill>
              </a:rPr>
              <a:t>Te</a:t>
            </a:r>
            <a:r>
              <a:rPr lang="zh-CN" altLang="en-US" sz="1800">
                <a:solidFill>
                  <a:srgbClr val="2177F9"/>
                </a:solidFill>
              </a:rPr>
              <a:t>表的对应关系</a:t>
            </a:r>
            <a:r>
              <a:rPr lang="zh-CN" altLang="en-US" sz="1800">
                <a:solidFill>
                  <a:schemeClr val="tx1"/>
                </a:solidFill>
              </a:rPr>
              <a:t>：</a:t>
            </a:r>
            <a:endParaRPr lang="zh-CN" altLang="en-US" sz="1800">
              <a:solidFill>
                <a:schemeClr val="tx1"/>
              </a:solidFill>
            </a:endParaRPr>
          </a:p>
          <a:p>
            <a:endParaRPr lang="zh-CN" altLang="en-US" sz="1800">
              <a:solidFill>
                <a:schemeClr val="tx1"/>
              </a:solidFill>
            </a:endParaRPr>
          </a:p>
          <a:p>
            <a:endParaRPr lang="zh-CN" altLang="en-US" sz="1800">
              <a:solidFill>
                <a:schemeClr val="tx1"/>
              </a:solidFill>
            </a:endParaRPr>
          </a:p>
          <a:p>
            <a:endParaRPr lang="zh-CN" altLang="en-US" sz="1800">
              <a:solidFill>
                <a:schemeClr val="tx1"/>
              </a:solidFill>
            </a:endParaRPr>
          </a:p>
          <a:p>
            <a:endParaRPr lang="zh-CN" altLang="en-US" sz="1800">
              <a:solidFill>
                <a:schemeClr val="tx1"/>
              </a:solidFill>
            </a:endParaRPr>
          </a:p>
          <a:p>
            <a:endParaRPr lang="zh-CN" altLang="en-US" sz="1800">
              <a:solidFill>
                <a:schemeClr val="tx1"/>
              </a:solidFill>
            </a:endParaRPr>
          </a:p>
          <a:p>
            <a:endParaRPr lang="zh-CN" altLang="en-US" sz="1800">
              <a:solidFill>
                <a:schemeClr val="tx1"/>
              </a:solidFill>
            </a:endParaRPr>
          </a:p>
          <a:p>
            <a:endParaRPr lang="zh-CN" altLang="en-US" sz="1800">
              <a:solidFill>
                <a:schemeClr val="tx1"/>
              </a:solidFill>
            </a:endParaRPr>
          </a:p>
          <a:p>
            <a:endParaRPr lang="zh-CN" altLang="en-US" sz="1800">
              <a:solidFill>
                <a:schemeClr val="tx1"/>
              </a:solidFill>
            </a:endParaRPr>
          </a:p>
          <a:p>
            <a:endParaRPr lang="zh-CN" altLang="en-US" sz="1800">
              <a:solidFill>
                <a:schemeClr val="tx1"/>
              </a:solidFill>
            </a:endParaRPr>
          </a:p>
          <a:p>
            <a:r>
              <a:rPr lang="zh-CN" altLang="en-US" sz="1800">
                <a:solidFill>
                  <a:schemeClr val="tx1"/>
                </a:solidFill>
                <a:sym typeface="+mn-ea"/>
              </a:rPr>
              <a:t>故，</a:t>
            </a:r>
            <a:r>
              <a:rPr lang="zh-CN" altLang="en-US" sz="1800">
                <a:solidFill>
                  <a:srgbClr val="2177F9"/>
                </a:solidFill>
                <a:sym typeface="+mn-ea"/>
              </a:rPr>
              <a:t>可以通过监控</a:t>
            </a:r>
            <a:r>
              <a:rPr lang="en-US" altLang="zh-CN" sz="1800">
                <a:solidFill>
                  <a:srgbClr val="2177F9"/>
                </a:solidFill>
                <a:sym typeface="+mn-ea"/>
              </a:rPr>
              <a:t>Te</a:t>
            </a:r>
            <a:r>
              <a:rPr lang="zh-CN" altLang="en-US" sz="1800">
                <a:solidFill>
                  <a:srgbClr val="2177F9"/>
                </a:solidFill>
                <a:sym typeface="+mn-ea"/>
              </a:rPr>
              <a:t>表访问，使用</a:t>
            </a:r>
            <a:r>
              <a:rPr lang="en-US" altLang="zh-CN" sz="1800">
                <a:solidFill>
                  <a:srgbClr val="2177F9"/>
                </a:solidFill>
                <a:sym typeface="+mn-ea"/>
              </a:rPr>
              <a:t>flush+reload+</a:t>
            </a:r>
            <a:r>
              <a:rPr lang="zh-CN" altLang="en-US" sz="1800">
                <a:solidFill>
                  <a:srgbClr val="2177F9"/>
                </a:solidFill>
                <a:sym typeface="+mn-ea"/>
              </a:rPr>
              <a:t>排除法恢复</a:t>
            </a:r>
            <a:r>
              <a:rPr lang="en-US" altLang="zh-CN" sz="1800">
                <a:solidFill>
                  <a:srgbClr val="2177F9"/>
                </a:solidFill>
                <a:sym typeface="+mn-ea"/>
              </a:rPr>
              <a:t>S13</a:t>
            </a:r>
            <a:r>
              <a:rPr lang="zh-CN" altLang="en-US" sz="1800">
                <a:solidFill>
                  <a:schemeClr val="tx1"/>
                </a:solidFill>
                <a:sym typeface="+mn-ea"/>
              </a:rPr>
              <a:t>。</a:t>
            </a:r>
            <a:endParaRPr lang="zh-CN" altLang="en-US" sz="1800">
              <a:solidFill>
                <a:schemeClr val="tx1"/>
              </a:solidFill>
              <a:sym typeface="+mn-ea"/>
            </a:endParaRPr>
          </a:p>
        </p:txBody>
      </p:sp>
      <p:pic>
        <p:nvPicPr>
          <p:cNvPr id="6" name="图片 5"/>
          <p:cNvPicPr>
            <a:picLocks noChangeAspect="1"/>
          </p:cNvPicPr>
          <p:nvPr/>
        </p:nvPicPr>
        <p:blipFill>
          <a:blip r:embed="rId3"/>
          <a:stretch>
            <a:fillRect/>
          </a:stretch>
        </p:blipFill>
        <p:spPr>
          <a:xfrm>
            <a:off x="86360" y="1315085"/>
            <a:ext cx="4170680" cy="2005965"/>
          </a:xfrm>
          <a:prstGeom prst="rect">
            <a:avLst/>
          </a:prstGeom>
        </p:spPr>
      </p:pic>
      <p:pic>
        <p:nvPicPr>
          <p:cNvPr id="8" name="图片 7"/>
          <p:cNvPicPr>
            <a:picLocks noChangeAspect="1"/>
          </p:cNvPicPr>
          <p:nvPr/>
        </p:nvPicPr>
        <p:blipFill>
          <a:blip r:embed="rId4"/>
          <a:stretch>
            <a:fillRect/>
          </a:stretch>
        </p:blipFill>
        <p:spPr>
          <a:xfrm>
            <a:off x="68580" y="3843020"/>
            <a:ext cx="6219825" cy="2277745"/>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ctrTitle" idx="16385"/>
            <p:custDataLst>
              <p:tags r:id="rId1"/>
            </p:custDataLst>
          </p:nvPr>
        </p:nvSpPr>
        <p:spPr>
          <a:xfrm>
            <a:off x="916517" y="162983"/>
            <a:ext cx="10972800" cy="609600"/>
          </a:xfrm>
        </p:spPr>
        <p:txBody>
          <a:bodyPr>
            <a:normAutofit/>
          </a:bodyPr>
          <a:p>
            <a:pPr algn="l">
              <a:lnSpc>
                <a:spcPct val="111000"/>
              </a:lnSpc>
            </a:pPr>
            <a:r>
              <a:rPr lang="en-US" altLang="zh-CN">
                <a:solidFill>
                  <a:schemeClr val="bg1"/>
                </a:solidFill>
                <a:sym typeface="+mn-ea"/>
              </a:rPr>
              <a:t>2.2</a:t>
            </a:r>
            <a:r>
              <a:rPr lang="en-US" altLang="zh-CN">
                <a:solidFill>
                  <a:schemeClr val="bg1"/>
                </a:solidFill>
              </a:rPr>
              <a:t> </a:t>
            </a:r>
            <a:r>
              <a:rPr lang="zh-CN" altLang="en-US">
                <a:solidFill>
                  <a:schemeClr val="bg1"/>
                </a:solidFill>
              </a:rPr>
              <a:t>进一步分析</a:t>
            </a:r>
            <a:r>
              <a:rPr lang="en-US" altLang="zh-CN">
                <a:solidFill>
                  <a:schemeClr val="bg1"/>
                </a:solidFill>
              </a:rPr>
              <a:t> - </a:t>
            </a:r>
            <a:r>
              <a:rPr lang="zh-CN" altLang="en-US">
                <a:solidFill>
                  <a:schemeClr val="bg1"/>
                </a:solidFill>
              </a:rPr>
              <a:t>简化攻击</a:t>
            </a:r>
            <a:r>
              <a:rPr lang="zh-CN" altLang="en-US">
                <a:solidFill>
                  <a:schemeClr val="bg1"/>
                </a:solidFill>
              </a:rPr>
              <a:t>过程</a:t>
            </a:r>
            <a:endParaRPr lang="zh-CN" altLang="en-US">
              <a:solidFill>
                <a:schemeClr val="bg1"/>
              </a:solidFill>
            </a:endParaRPr>
          </a:p>
        </p:txBody>
      </p:sp>
      <p:pic>
        <p:nvPicPr>
          <p:cNvPr id="4" name="图片 3"/>
          <p:cNvPicPr>
            <a:picLocks noChangeAspect="1"/>
          </p:cNvPicPr>
          <p:nvPr/>
        </p:nvPicPr>
        <p:blipFill>
          <a:blip r:embed="rId2"/>
          <a:stretch>
            <a:fillRect/>
          </a:stretch>
        </p:blipFill>
        <p:spPr>
          <a:xfrm>
            <a:off x="6090920" y="3419475"/>
            <a:ext cx="9525" cy="19050"/>
          </a:xfrm>
          <a:prstGeom prst="rect">
            <a:avLst/>
          </a:prstGeom>
        </p:spPr>
      </p:pic>
      <p:sp>
        <p:nvSpPr>
          <p:cNvPr id="3" name="文本框 2"/>
          <p:cNvSpPr txBox="1"/>
          <p:nvPr/>
        </p:nvSpPr>
        <p:spPr>
          <a:xfrm>
            <a:off x="33020" y="981075"/>
            <a:ext cx="12077700" cy="645160"/>
          </a:xfrm>
          <a:prstGeom prst="rect">
            <a:avLst/>
          </a:prstGeom>
          <a:noFill/>
        </p:spPr>
        <p:txBody>
          <a:bodyPr wrap="square" rtlCol="0">
            <a:spAutoFit/>
          </a:bodyPr>
          <a:p>
            <a:r>
              <a:rPr lang="zh-CN" altLang="en-US" sz="1800"/>
              <a:t>两个攻击阶段中，通过监控</a:t>
            </a:r>
            <a:r>
              <a:rPr lang="en-US" altLang="zh-CN" sz="1800"/>
              <a:t>Te</a:t>
            </a:r>
            <a:r>
              <a:rPr lang="zh-CN" altLang="en-US" sz="1800"/>
              <a:t>表</a:t>
            </a:r>
            <a:r>
              <a:rPr lang="zh-CN" altLang="en-US" sz="1800">
                <a:sym typeface="+mn-ea"/>
              </a:rPr>
              <a:t>收集的缓存未命中信息</a:t>
            </a:r>
            <a:r>
              <a:rPr lang="en-US" altLang="zh-CN" sz="1800">
                <a:sym typeface="+mn-ea"/>
              </a:rPr>
              <a:t>X[i][t]</a:t>
            </a:r>
            <a:r>
              <a:rPr lang="zh-CN" altLang="en-US" sz="1800">
                <a:sym typeface="+mn-ea"/>
              </a:rPr>
              <a:t>数据是一样的，</a:t>
            </a:r>
            <a:r>
              <a:rPr lang="zh-CN" altLang="en-US" sz="1800"/>
              <a:t>因此：</a:t>
            </a:r>
            <a:endParaRPr lang="zh-CN" altLang="en-US" sz="1800"/>
          </a:p>
          <a:p>
            <a:r>
              <a:rPr lang="zh-CN" altLang="en-US" sz="1800">
                <a:solidFill>
                  <a:srgbClr val="FF0000"/>
                </a:solidFill>
              </a:rPr>
              <a:t>一次样本收集即可同时用于两个阶段，通过不同的公式分别恢复</a:t>
            </a:r>
            <a:r>
              <a:rPr lang="en-US" altLang="zh-CN" sz="1800">
                <a:solidFill>
                  <a:srgbClr val="FF0000"/>
                </a:solidFill>
              </a:rPr>
              <a:t>K14</a:t>
            </a:r>
            <a:r>
              <a:rPr lang="zh-CN" altLang="en-US" sz="1800">
                <a:solidFill>
                  <a:srgbClr val="FF0000"/>
                </a:solidFill>
              </a:rPr>
              <a:t>和</a:t>
            </a:r>
            <a:r>
              <a:rPr lang="en-US" altLang="zh-CN" sz="1800">
                <a:solidFill>
                  <a:srgbClr val="FF0000"/>
                </a:solidFill>
              </a:rPr>
              <a:t>K13</a:t>
            </a:r>
            <a:r>
              <a:rPr lang="zh-CN" altLang="en-US" sz="1800">
                <a:solidFill>
                  <a:srgbClr val="FF0000"/>
                </a:solidFill>
              </a:rPr>
              <a:t>。</a:t>
            </a:r>
            <a:endParaRPr lang="zh-CN" altLang="en-US" sz="1800">
              <a:solidFill>
                <a:srgbClr val="FF0000"/>
              </a:solidFill>
            </a:endParaRPr>
          </a:p>
        </p:txBody>
      </p:sp>
      <p:pic>
        <p:nvPicPr>
          <p:cNvPr id="5" name="图片 4"/>
          <p:cNvPicPr>
            <a:picLocks noChangeAspect="1"/>
          </p:cNvPicPr>
          <p:nvPr/>
        </p:nvPicPr>
        <p:blipFill>
          <a:blip r:embed="rId3"/>
          <a:stretch>
            <a:fillRect/>
          </a:stretch>
        </p:blipFill>
        <p:spPr>
          <a:xfrm>
            <a:off x="115570" y="1626235"/>
            <a:ext cx="7572375" cy="433387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AutoShape 2"/>
          <p:cNvSpPr/>
          <p:nvPr/>
        </p:nvSpPr>
        <p:spPr>
          <a:xfrm>
            <a:off x="0" y="0"/>
            <a:ext cx="12192000" cy="9271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srcRect/>
          <a:stretch>
            <a:fillRect/>
          </a:stretch>
        </p:blipFill>
        <p:spPr>
          <a:xfrm>
            <a:off x="241300" y="139700"/>
            <a:ext cx="647700" cy="647700"/>
          </a:xfrm>
          <a:prstGeom prst="rect">
            <a:avLst/>
          </a:prstGeom>
          <a:noFill/>
          <a:ln w="25400" cap="flat" cmpd="sng">
            <a:noFill/>
            <a:prstDash val="solid"/>
            <a:round/>
          </a:ln>
        </p:spPr>
      </p:pic>
      <p:sp>
        <p:nvSpPr>
          <p:cNvPr id="4" name="AutoShape 4"/>
          <p:cNvSpPr/>
          <p:nvPr/>
        </p:nvSpPr>
        <p:spPr>
          <a:xfrm>
            <a:off x="0" y="0"/>
            <a:ext cx="12192000" cy="927100"/>
          </a:xfrm>
          <a:prstGeom prst="roundRect">
            <a:avLst>
              <a:gd name="adj" fmla="val 0"/>
            </a:avLst>
          </a:prstGeom>
          <a:blipFill rotWithShape="1">
            <a:blip r:embed="rId2"/>
            <a:tile tx="-3175000" ty="-1397000" sx="100000" sy="100000" flip="none" algn="tl"/>
          </a:blip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3"/>
          <a:srcRect l="216" r="216"/>
          <a:stretch>
            <a:fillRect/>
          </a:stretch>
        </p:blipFill>
        <p:spPr>
          <a:xfrm>
            <a:off x="9093200" y="0"/>
            <a:ext cx="990600" cy="927100"/>
          </a:xfrm>
          <a:prstGeom prst="rect">
            <a:avLst/>
          </a:prstGeom>
          <a:noFill/>
          <a:ln w="25400" cap="flat" cmpd="sng">
            <a:noFill/>
            <a:prstDash val="solid"/>
            <a:round/>
          </a:ln>
        </p:spPr>
      </p:pic>
      <p:sp>
        <p:nvSpPr>
          <p:cNvPr id="6" name="AutoShape 6"/>
          <p:cNvSpPr/>
          <p:nvPr/>
        </p:nvSpPr>
        <p:spPr>
          <a:xfrm>
            <a:off x="10083800" y="254000"/>
            <a:ext cx="1714500" cy="533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天津大学</a:t>
            </a:r>
            <a:endParaRPr lang="en-US" sz="1100"/>
          </a:p>
        </p:txBody>
      </p:sp>
      <p:sp>
        <p:nvSpPr>
          <p:cNvPr id="7" name="AutoShape 7"/>
          <p:cNvSpPr/>
          <p:nvPr/>
        </p:nvSpPr>
        <p:spPr>
          <a:xfrm>
            <a:off x="1016000" y="177800"/>
            <a:ext cx="10972800" cy="609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3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03 实验设计：量化评估指标体系</a:t>
            </a:r>
            <a:endParaRPr lang="en-US" sz="1100"/>
          </a:p>
        </p:txBody>
      </p:sp>
      <p:sp>
        <p:nvSpPr>
          <p:cNvPr id="8" name="AutoShape 8"/>
          <p:cNvSpPr/>
          <p:nvPr/>
        </p:nvSpPr>
        <p:spPr>
          <a:xfrm>
            <a:off x="241300" y="977900"/>
            <a:ext cx="11849100" cy="228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000"/>
              </a:lnSpc>
              <a:defRPr/>
            </a:pPr>
            <a:r>
              <a:rPr lang="en-US" sz="1800" b="0"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基础评估指标体系</a:t>
            </a:r>
            <a:endParaRPr lang="en-US" sz="1100"/>
          </a:p>
          <a:p>
            <a:pPr marL="0" indent="0" algn="l">
              <a:lnSpc>
                <a:spcPct val="10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命中率/未命中率：这是侧信道攻击中决定排除法收敛速度的核心指标。未命中率越高，代表实验中可有效排除的错误样本数量越多，攻击过程的收敛效率就越快，直接决定了从海量候选中锁定目标的时间周期。</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0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攻击成功率与样本总数：成功率是验证攻击是否达成密钥恢复等预期目标的最终结果指标；而样本总数则直观反映攻击所需的数据量级，样本规模越大意味着实验的时间成本越高，二者共同构成了评估攻击可行性与效率的基础维度。</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241300" y="3556000"/>
            <a:ext cx="11760200" cy="2667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000"/>
              </a:lnSpc>
              <a:defRPr/>
            </a:pPr>
            <a:r>
              <a:rPr lang="en-US" sz="1800" b="0"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核心创新：泄露带宽 (Leakage Bandwidth)</a:t>
            </a:r>
            <a:endParaRPr lang="en-US" sz="1100"/>
          </a:p>
          <a:p>
            <a:pPr marL="0" indent="0" algn="l">
              <a:lnSpc>
                <a:spcPct val="10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指标定义：创新性融合信息论与侧信道物理特性，将其定义为</a:t>
            </a:r>
            <a:r>
              <a:rPr lang="en-US" sz="1800" b="1" i="0" u="none" strike="noStrike">
                <a:solidFill>
                  <a:srgbClr val="00B050"/>
                </a:solidFill>
                <a:latin typeface="微软雅黑" panose="020B0503020204020204" charset="-122"/>
                <a:ea typeface="微软雅黑" panose="020B0503020204020204" charset="-122"/>
                <a:cs typeface="微软雅黑" panose="020B0503020204020204" charset="-122"/>
                <a:sym typeface="微软雅黑" panose="020B0503020204020204" charset="-122"/>
              </a:rPr>
              <a:t>互信息 × 采样频率</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，单位为 bit/s，精准量化单位时间内侧信道泄露的有效信息量。其计算公式为：BW = 4 · MI_binary · f_sample，实现了信息泄露程度的可计算化表达。</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0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指标意义：突破了传统“成功/失败”的二元判断局限，从信息传输速率维度量化风险。该指标为掩码、噪声注入等防御方案提供了</a:t>
            </a:r>
            <a:r>
              <a:rPr lang="en-US" sz="1800" b="1" i="0" u="none" strike="noStrike">
                <a:solidFill>
                  <a:srgbClr val="2177F9"/>
                </a:solidFill>
                <a:latin typeface="微软雅黑" panose="020B0503020204020204" charset="-122"/>
                <a:ea typeface="微软雅黑" panose="020B0503020204020204" charset="-122"/>
                <a:cs typeface="微软雅黑" panose="020B0503020204020204" charset="-122"/>
                <a:sym typeface="微软雅黑" panose="020B0503020204020204" charset="-122"/>
              </a:rPr>
              <a:t>统一的量化评估基准</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，能客观对比不同措施对信息泄露的抑制效果，为防御策略的迭代优化提供了可量化的科学依据。</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9271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srcRect/>
          <a:stretch>
            <a:fillRect/>
          </a:stretch>
        </p:blipFill>
        <p:spPr>
          <a:xfrm>
            <a:off x="241300" y="139700"/>
            <a:ext cx="647700" cy="647700"/>
          </a:xfrm>
          <a:prstGeom prst="rect">
            <a:avLst/>
          </a:prstGeom>
          <a:noFill/>
          <a:ln w="25400" cap="flat" cmpd="sng">
            <a:noFill/>
            <a:prstDash val="solid"/>
            <a:round/>
          </a:ln>
        </p:spPr>
      </p:pic>
      <p:sp>
        <p:nvSpPr>
          <p:cNvPr id="4" name="AutoShape 4"/>
          <p:cNvSpPr/>
          <p:nvPr/>
        </p:nvSpPr>
        <p:spPr>
          <a:xfrm>
            <a:off x="0" y="0"/>
            <a:ext cx="12192000" cy="927100"/>
          </a:xfrm>
          <a:prstGeom prst="roundRect">
            <a:avLst>
              <a:gd name="adj" fmla="val 0"/>
            </a:avLst>
          </a:prstGeom>
          <a:blipFill rotWithShape="1">
            <a:blip r:embed="rId2"/>
            <a:tile tx="-3175000" ty="-1397000" sx="100000" sy="100000" flip="none" algn="tl"/>
          </a:blip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3"/>
          <a:srcRect l="216" r="216"/>
          <a:stretch>
            <a:fillRect/>
          </a:stretch>
        </p:blipFill>
        <p:spPr>
          <a:xfrm>
            <a:off x="9093200" y="0"/>
            <a:ext cx="990600" cy="927100"/>
          </a:xfrm>
          <a:prstGeom prst="rect">
            <a:avLst/>
          </a:prstGeom>
          <a:noFill/>
          <a:ln w="25400" cap="flat" cmpd="sng">
            <a:noFill/>
            <a:prstDash val="solid"/>
            <a:round/>
          </a:ln>
        </p:spPr>
      </p:pic>
      <p:sp>
        <p:nvSpPr>
          <p:cNvPr id="6" name="AutoShape 6"/>
          <p:cNvSpPr/>
          <p:nvPr/>
        </p:nvSpPr>
        <p:spPr>
          <a:xfrm>
            <a:off x="10083800" y="254000"/>
            <a:ext cx="17145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天津大学</a:t>
            </a:r>
            <a:endParaRPr lang="en-US" sz="1100"/>
          </a:p>
        </p:txBody>
      </p:sp>
      <p:sp>
        <p:nvSpPr>
          <p:cNvPr id="7" name="AutoShape 7"/>
          <p:cNvSpPr/>
          <p:nvPr/>
        </p:nvSpPr>
        <p:spPr>
          <a:xfrm>
            <a:off x="914400" y="1651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04 实验结果：防御措施对比——随机噪声注入</a:t>
            </a:r>
            <a:endParaRPr lang="en-US" sz="1100"/>
          </a:p>
        </p:txBody>
      </p:sp>
      <p:sp>
        <p:nvSpPr>
          <p:cNvPr id="9" name="AutoShape 9"/>
          <p:cNvSpPr/>
          <p:nvPr/>
        </p:nvSpPr>
        <p:spPr>
          <a:xfrm>
            <a:off x="5397500" y="1397000"/>
            <a:ext cx="6350000" cy="1397000"/>
          </a:xfrm>
          <a:prstGeom prst="roundRect">
            <a:avLst>
              <a:gd name="adj" fmla="val 0"/>
            </a:avLst>
          </a:prstGeom>
          <a:solidFill>
            <a:srgbClr val="D7E4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524500" y="1460500"/>
            <a:ext cx="6096000" cy="330200"/>
          </a:xfrm>
          <a:prstGeom prst="rect">
            <a:avLst/>
          </a:prstGeom>
          <a:noFill/>
          <a:ln w="12700" cap="flat" cmpd="sng">
            <a:noFill/>
            <a:prstDash val="solid"/>
            <a:round/>
          </a:ln>
        </p:spPr>
        <p:txBody>
          <a:bodyPr vert="horz" wrap="square" lIns="63500" tIns="25400" rIns="63500" bIns="25400" rtlCol="0" anchor="t" anchorCtr="0"/>
          <a:lstStyle/>
          <a:p>
            <a:pPr marL="0" indent="0" algn="l">
              <a:lnSpc>
                <a:spcPct val="125000"/>
              </a:lnSpc>
              <a:defRPr/>
            </a:pPr>
            <a:r>
              <a:rPr lang="en-US" sz="1600" b="1" i="0" u="none" strike="noStrike">
                <a:solidFill>
                  <a:srgbClr val="1E4264"/>
                </a:solidFill>
                <a:latin typeface="微软雅黑" panose="020B0503020204020204" charset="-122"/>
                <a:ea typeface="微软雅黑" panose="020B0503020204020204" charset="-122"/>
                <a:cs typeface="微软雅黑" panose="020B0503020204020204" charset="-122"/>
                <a:sym typeface="微软雅黑" panose="020B0503020204020204" charset="-122"/>
              </a:rPr>
              <a:t>▍实验方法：概率性干扰注入机制</a:t>
            </a:r>
            <a:endParaRPr lang="en-US" sz="1100"/>
          </a:p>
        </p:txBody>
      </p:sp>
      <p:sp>
        <p:nvSpPr>
          <p:cNvPr id="11" name="AutoShape 11"/>
          <p:cNvSpPr/>
          <p:nvPr/>
        </p:nvSpPr>
        <p:spPr>
          <a:xfrm>
            <a:off x="5524500" y="1841500"/>
            <a:ext cx="6096000" cy="825500"/>
          </a:xfrm>
          <a:prstGeom prst="rect">
            <a:avLst/>
          </a:prstGeom>
          <a:noFill/>
          <a:ln w="12700" cap="flat" cmpd="sng">
            <a:noFill/>
            <a:prstDash val="solid"/>
            <a:round/>
          </a:ln>
        </p:spPr>
        <p:txBody>
          <a:bodyPr vert="horz" wrap="square" lIns="63500" tIns="38100" rIns="63500" bIns="38100" rtlCol="0" anchor="t" anchorCtr="0"/>
          <a:lstStyle/>
          <a:p>
            <a:pPr marL="0" indent="0" algn="just">
              <a:lnSpc>
                <a:spcPct val="108000"/>
              </a:lnSpc>
              <a:defRPr/>
            </a:pPr>
            <a:r>
              <a:rPr lang="en-US" sz="13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在加密算法执行完毕后，以动态概率随机触发T表的额外访问操作，人为引入执行时序与功耗的随机扰动。通过这种方式破坏攻击者所依赖的稳定侧信道特征，从而测试其对攻击链路的干扰效果。</a:t>
            </a:r>
            <a:endParaRPr lang="en-US" sz="1100"/>
          </a:p>
        </p:txBody>
      </p:sp>
      <p:sp>
        <p:nvSpPr>
          <p:cNvPr id="12" name="AutoShape 12"/>
          <p:cNvSpPr/>
          <p:nvPr/>
        </p:nvSpPr>
        <p:spPr>
          <a:xfrm>
            <a:off x="5397500" y="2921000"/>
            <a:ext cx="3111500" cy="1651000"/>
          </a:xfrm>
          <a:prstGeom prst="roundRect">
            <a:avLst>
              <a:gd name="adj" fmla="val 0"/>
            </a:avLst>
          </a:prstGeom>
          <a:solidFill>
            <a:srgbClr val="F0F5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486400" y="2984500"/>
            <a:ext cx="2921000" cy="304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1" i="0" u="none" strike="noStrike">
                <a:solidFill>
                  <a:srgbClr val="165D3E"/>
                </a:solidFill>
                <a:latin typeface="微软雅黑" panose="020B0503020204020204" charset="-122"/>
                <a:ea typeface="微软雅黑" panose="020B0503020204020204" charset="-122"/>
                <a:cs typeface="微软雅黑" panose="020B0503020204020204" charset="-122"/>
                <a:sym typeface="微软雅黑" panose="020B0503020204020204" charset="-122"/>
              </a:rPr>
              <a:t>攻击成功率呈衰减</a:t>
            </a:r>
            <a:r>
              <a:rPr lang="zh-CN" altLang="en-US" sz="1500" b="1" i="0" u="none" strike="noStrike">
                <a:solidFill>
                  <a:srgbClr val="165D3E"/>
                </a:solidFill>
                <a:latin typeface="微软雅黑" panose="020B0503020204020204" charset="-122"/>
                <a:ea typeface="微软雅黑" panose="020B0503020204020204" charset="-122"/>
                <a:cs typeface="微软雅黑" panose="020B0503020204020204" charset="-122"/>
                <a:sym typeface="微软雅黑" panose="020B0503020204020204" charset="-122"/>
              </a:rPr>
              <a:t>趋势</a:t>
            </a:r>
            <a:endParaRPr lang="zh-CN" altLang="en-US" sz="1500" b="1" i="0" u="none" strike="noStrike">
              <a:solidFill>
                <a:srgbClr val="165D3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AutoShape 14"/>
          <p:cNvSpPr/>
          <p:nvPr/>
        </p:nvSpPr>
        <p:spPr>
          <a:xfrm>
            <a:off x="5486400" y="3365500"/>
            <a:ext cx="2921000" cy="1079500"/>
          </a:xfrm>
          <a:prstGeom prst="rect">
            <a:avLst/>
          </a:prstGeom>
          <a:noFill/>
          <a:ln w="12700" cap="flat" cmpd="sng">
            <a:noFill/>
            <a:prstDash val="solid"/>
            <a:round/>
          </a:ln>
        </p:spPr>
        <p:txBody>
          <a:bodyPr vert="horz" wrap="square" lIns="0" tIns="0" rIns="0" bIns="0" rtlCol="0" anchor="t" anchorCtr="0"/>
          <a:lstStyle/>
          <a:p>
            <a:pPr marL="0" indent="0" algn="just">
              <a:lnSpc>
                <a:spcPct val="117000"/>
              </a:lnSpc>
              <a:defRPr/>
            </a:pP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随着噪声注入强度的提升，攻击模型的预测准确率显著下降。实验数据显示，AES-256算法对该类噪声最为敏感，在高噪声强度下攻击成功率降幅超过60%，防御效能在三种分组密码中表现最优。</a:t>
            </a:r>
            <a:endParaRPr lang="en-US" sz="1100"/>
          </a:p>
        </p:txBody>
      </p:sp>
      <p:sp>
        <p:nvSpPr>
          <p:cNvPr id="15" name="AutoShape 15"/>
          <p:cNvSpPr/>
          <p:nvPr/>
        </p:nvSpPr>
        <p:spPr>
          <a:xfrm>
            <a:off x="8636000" y="2921000"/>
            <a:ext cx="3111500" cy="1651000"/>
          </a:xfrm>
          <a:prstGeom prst="roundRect">
            <a:avLst>
              <a:gd name="adj" fmla="val 0"/>
            </a:avLst>
          </a:prstGeom>
          <a:solidFill>
            <a:srgbClr val="FDF5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724900" y="2984500"/>
            <a:ext cx="2921000" cy="304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1" i="0" u="none" strike="noStrike">
                <a:solidFill>
                  <a:srgbClr val="B95500"/>
                </a:solidFill>
                <a:latin typeface="微软雅黑" panose="020B0503020204020204" charset="-122"/>
                <a:ea typeface="微软雅黑" panose="020B0503020204020204" charset="-122"/>
                <a:cs typeface="微软雅黑" panose="020B0503020204020204" charset="-122"/>
                <a:sym typeface="微软雅黑" panose="020B0503020204020204" charset="-122"/>
              </a:rPr>
              <a:t>有效压缩信息泄露带宽</a:t>
            </a:r>
            <a:endParaRPr lang="en-US" sz="1100"/>
          </a:p>
        </p:txBody>
      </p:sp>
      <p:sp>
        <p:nvSpPr>
          <p:cNvPr id="17" name="AutoShape 17"/>
          <p:cNvSpPr/>
          <p:nvPr/>
        </p:nvSpPr>
        <p:spPr>
          <a:xfrm>
            <a:off x="8724900" y="3365500"/>
            <a:ext cx="2921000" cy="1079500"/>
          </a:xfrm>
          <a:prstGeom prst="rect">
            <a:avLst/>
          </a:prstGeom>
          <a:noFill/>
          <a:ln w="12700" cap="flat" cmpd="sng">
            <a:noFill/>
            <a:prstDash val="solid"/>
            <a:round/>
          </a:ln>
        </p:spPr>
        <p:txBody>
          <a:bodyPr vert="horz" wrap="square" lIns="0" tIns="0" rIns="0" bIns="0" rtlCol="0" anchor="t" anchorCtr="0"/>
          <a:lstStyle/>
          <a:p>
            <a:pPr marL="0" indent="0" algn="just">
              <a:lnSpc>
                <a:spcPct val="117000"/>
              </a:lnSpc>
              <a:defRPr/>
            </a:pP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随机噪声打乱了原始执行轨迹的可预测性，迫使攻击者需要收集数倍于基准场景的功耗样本才能恢复有效信息。这直接导致信息泄露速率大幅降低，显著增加了完成一次成功攻击所需的时间与算力成本。</a:t>
            </a:r>
            <a:endParaRPr lang="en-US" sz="1100"/>
          </a:p>
        </p:txBody>
      </p:sp>
      <p:sp>
        <p:nvSpPr>
          <p:cNvPr id="18" name="AutoShape 18"/>
          <p:cNvSpPr/>
          <p:nvPr/>
        </p:nvSpPr>
        <p:spPr>
          <a:xfrm>
            <a:off x="762000" y="4699000"/>
            <a:ext cx="10985500" cy="1778000"/>
          </a:xfrm>
          <a:prstGeom prst="roundRect">
            <a:avLst>
              <a:gd name="adj" fmla="val 0"/>
            </a:avLst>
          </a:prstGeom>
          <a:solidFill>
            <a:srgbClr val="1E4264">
              <a:alpha val="8000"/>
            </a:srgbClr>
          </a:solidFill>
          <a:ln w="12700" cap="flat" cmpd="sng">
            <a:solidFill>
              <a:srgbClr val="1E4264">
                <a:alpha val="4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699000"/>
            <a:ext cx="50800" cy="1778000"/>
          </a:xfrm>
          <a:prstGeom prst="roundRect">
            <a:avLst>
              <a:gd name="adj" fmla="val 0"/>
            </a:avLst>
          </a:prstGeom>
          <a:solidFill>
            <a:srgbClr val="2177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52500" y="4762500"/>
            <a:ext cx="10668000" cy="381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600" b="1" i="0" u="none" strike="noStrike">
                <a:solidFill>
                  <a:srgbClr val="1E4264"/>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核心结论：轻量级概率防御的工程价值</a:t>
            </a:r>
            <a:endParaRPr lang="en-US" sz="1100"/>
          </a:p>
        </p:txBody>
      </p:sp>
      <p:sp>
        <p:nvSpPr>
          <p:cNvPr id="21" name="AutoShape 21"/>
          <p:cNvSpPr/>
          <p:nvPr/>
        </p:nvSpPr>
        <p:spPr>
          <a:xfrm>
            <a:off x="952500" y="5207000"/>
            <a:ext cx="10604500" cy="1079500"/>
          </a:xfrm>
          <a:prstGeom prst="rect">
            <a:avLst/>
          </a:prstGeom>
          <a:noFill/>
          <a:ln w="12700" cap="flat" cmpd="sng">
            <a:noFill/>
            <a:prstDash val="solid"/>
            <a:round/>
          </a:ln>
        </p:spPr>
        <p:txBody>
          <a:bodyPr vert="horz" wrap="square" lIns="0" tIns="0" rIns="0" bIns="0" rtlCol="0" anchor="t" anchorCtr="0"/>
          <a:lstStyle/>
          <a:p>
            <a:pPr marL="0" indent="0" algn="just">
              <a:lnSpc>
                <a:spcPct val="117000"/>
              </a:lnSpc>
              <a:defRPr/>
            </a:pPr>
            <a:r>
              <a:rPr lang="en-US" sz="1300" b="0" i="0" u="none" strike="noStrike">
                <a:solidFill>
                  <a:srgbClr val="282828"/>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噪声注入是一种高效且低实现复杂度的概率性防御策略，虽然无法彻底消除侧信道攻击风险，但在不显著增加计算开销的前提下，有效提升了攻击门槛。实验表明，该方法对AES-256等高强度加密算法的保护效果尤为突出，适合作为资源受限环境下多层防御体系的第一道防线，通过增加攻击者的试错成本来换取系统的安全增益。</a:t>
            </a:r>
            <a:endParaRPr lang="en-US" sz="1100"/>
          </a:p>
        </p:txBody>
      </p:sp>
      <p:pic>
        <p:nvPicPr>
          <p:cNvPr id="22" name="图片 21"/>
          <p:cNvPicPr>
            <a:picLocks noChangeAspect="1"/>
          </p:cNvPicPr>
          <p:nvPr/>
        </p:nvPicPr>
        <p:blipFill>
          <a:blip r:embed="rId4"/>
          <a:stretch>
            <a:fillRect/>
          </a:stretch>
        </p:blipFill>
        <p:spPr>
          <a:xfrm>
            <a:off x="267335" y="1350645"/>
            <a:ext cx="4952365" cy="29889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9271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14400" y="165100"/>
            <a:ext cx="101600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04 实验结果：防御措施对比——缓存行刷新</a:t>
            </a:r>
            <a:endParaRPr lang="en-US" sz="1100"/>
          </a:p>
        </p:txBody>
      </p:sp>
      <p:sp>
        <p:nvSpPr>
          <p:cNvPr id="4" name="AutoShape 4"/>
          <p:cNvSpPr/>
          <p:nvPr/>
        </p:nvSpPr>
        <p:spPr>
          <a:xfrm>
            <a:off x="10083800" y="254000"/>
            <a:ext cx="17145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天津大学</a:t>
            </a:r>
            <a:endParaRPr lang="en-US" sz="1100"/>
          </a:p>
        </p:txBody>
      </p:sp>
      <p:pic>
        <p:nvPicPr>
          <p:cNvPr id="5" name="Picture 5"/>
          <p:cNvPicPr>
            <a:picLocks noChangeAspect="1"/>
          </p:cNvPicPr>
          <p:nvPr/>
        </p:nvPicPr>
        <p:blipFill>
          <a:blip r:embed="rId1"/>
          <a:srcRect l="3634" r="3634"/>
          <a:stretch>
            <a:fillRect/>
          </a:stretch>
        </p:blipFill>
        <p:spPr>
          <a:xfrm>
            <a:off x="635000" y="1270000"/>
            <a:ext cx="4572000" cy="2667000"/>
          </a:xfrm>
          <a:prstGeom prst="rect">
            <a:avLst/>
          </a:prstGeom>
          <a:noFill/>
          <a:ln w="25400" cap="flat" cmpd="sng">
            <a:noFill/>
            <a:prstDash val="solid"/>
            <a:round/>
          </a:ln>
        </p:spPr>
      </p:pic>
      <p:sp>
        <p:nvSpPr>
          <p:cNvPr id="6" name="AutoShape 6"/>
          <p:cNvSpPr/>
          <p:nvPr/>
        </p:nvSpPr>
        <p:spPr>
          <a:xfrm>
            <a:off x="5588000" y="1270000"/>
            <a:ext cx="6223000" cy="2667000"/>
          </a:xfrm>
          <a:prstGeom prst="roundRect">
            <a:avLst>
              <a:gd name="adj" fmla="val 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5715000" y="1397000"/>
            <a:ext cx="596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264"/>
                </a:solidFill>
                <a:latin typeface="微软雅黑" panose="020B0503020204020204" charset="-122"/>
                <a:ea typeface="微软雅黑" panose="020B0503020204020204" charset="-122"/>
                <a:cs typeface="微软雅黑" panose="020B0503020204020204" charset="-122"/>
                <a:sym typeface="微软雅黑" panose="020B0503020204020204" charset="-122"/>
              </a:rPr>
              <a:t>实验方法：主动缓存逐出机制</a:t>
            </a:r>
            <a:endParaRPr lang="en-US" sz="1100"/>
          </a:p>
        </p:txBody>
      </p:sp>
      <p:sp>
        <p:nvSpPr>
          <p:cNvPr id="8" name="AutoShape 8"/>
          <p:cNvSpPr/>
          <p:nvPr/>
        </p:nvSpPr>
        <p:spPr>
          <a:xfrm>
            <a:off x="5715000" y="1905000"/>
            <a:ext cx="5969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 AES 加密算法的单次运算周期完成后，立即向 CPU 发送 `CLFLUSH` 指令，强制将 T 表所在的监控缓存行从各级缓存中逐出。这一操作的核心是在加密操作与潜在的攻击探测之间插入“屏障”，使攻击者无法利用缓存状态的变化来推断密钥信息。我们通过该方式验证了其对缓存侧信道攻击的实际阻断能力。</a:t>
            </a:r>
            <a:endParaRPr lang="en-US" sz="1100"/>
          </a:p>
        </p:txBody>
      </p:sp>
      <p:sp>
        <p:nvSpPr>
          <p:cNvPr id="9" name="AutoShape 9"/>
          <p:cNvSpPr/>
          <p:nvPr/>
        </p:nvSpPr>
        <p:spPr>
          <a:xfrm>
            <a:off x="635000" y="4127500"/>
            <a:ext cx="3556000" cy="1587500"/>
          </a:xfrm>
          <a:prstGeom prst="roundRect">
            <a:avLst>
              <a:gd name="adj" fmla="val 0"/>
            </a:avLst>
          </a:prstGeom>
          <a:solidFill>
            <a:srgbClr val="1E4264">
              <a:alpha val="9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35000" y="4127500"/>
            <a:ext cx="3556000" cy="406400"/>
          </a:xfrm>
          <a:prstGeom prst="roundRect">
            <a:avLst>
              <a:gd name="adj" fmla="val 0"/>
            </a:avLst>
          </a:prstGeom>
          <a:solidFill>
            <a:srgbClr val="1E4264">
              <a:alpha val="8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4127500"/>
            <a:ext cx="330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效果：彻底阻断攻击链路</a:t>
            </a:r>
            <a:endParaRPr lang="en-US" sz="1100"/>
          </a:p>
        </p:txBody>
      </p:sp>
      <p:sp>
        <p:nvSpPr>
          <p:cNvPr id="12" name="AutoShape 12"/>
          <p:cNvSpPr/>
          <p:nvPr/>
        </p:nvSpPr>
        <p:spPr>
          <a:xfrm>
            <a:off x="762000" y="4572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82828"/>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攻击者的 Reload 阶段将始终观测到缓存“未命中”，无法获取任何有效明文信息。这意味着从根源上切断了数据泄露的物理路径，使侧信道攻击无法建立有效的统计特征。</a:t>
            </a:r>
            <a:endParaRPr lang="en-US" sz="1100"/>
          </a:p>
        </p:txBody>
      </p:sp>
      <p:sp>
        <p:nvSpPr>
          <p:cNvPr id="13" name="AutoShape 13"/>
          <p:cNvSpPr/>
          <p:nvPr/>
        </p:nvSpPr>
        <p:spPr>
          <a:xfrm>
            <a:off x="4381500" y="4127500"/>
            <a:ext cx="3556000" cy="1587500"/>
          </a:xfrm>
          <a:prstGeom prst="roundRect">
            <a:avLst>
              <a:gd name="adj" fmla="val 0"/>
            </a:avLst>
          </a:prstGeom>
          <a:solidFill>
            <a:srgbClr val="10B981">
              <a:alpha val="9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381500" y="4127500"/>
            <a:ext cx="3556000" cy="406400"/>
          </a:xfrm>
          <a:prstGeom prst="roundRect">
            <a:avLst>
              <a:gd name="adj" fmla="val 0"/>
            </a:avLst>
          </a:prstGeom>
          <a:solidFill>
            <a:srgbClr val="10B981">
              <a:alpha val="8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508500" y="4127500"/>
            <a:ext cx="330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结果：关键指标完全清零</a:t>
            </a:r>
            <a:endParaRPr lang="en-US" sz="1100"/>
          </a:p>
        </p:txBody>
      </p:sp>
      <p:sp>
        <p:nvSpPr>
          <p:cNvPr id="16" name="AutoShape 16"/>
          <p:cNvSpPr/>
          <p:nvPr/>
        </p:nvSpPr>
        <p:spPr>
          <a:xfrm>
            <a:off x="4508500" y="4572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82828"/>
                </a:solidFill>
                <a:latin typeface="Noto Sans SC" panose="020B0200000000000000" charset="-122"/>
                <a:ea typeface="Noto Sans SC" panose="020B0200000000000000" charset="-122"/>
                <a:cs typeface="Noto Sans SC" panose="020B0200000000000000" charset="-122"/>
                <a:sym typeface="Noto Sans SC" panose="020B0200000000000000" charset="-122"/>
              </a:rPr>
              <a:t>实测数据表明，攻击成功率直接降至 0%，敏感信息的泄露带宽也归零。如图表所示，在“缓存刷新”策略下，三种 AES 变体均实现了理论上的绝对安全，无任何有效数据流出。</a:t>
            </a:r>
            <a:endParaRPr lang="en-US" sz="1100"/>
          </a:p>
        </p:txBody>
      </p:sp>
      <p:sp>
        <p:nvSpPr>
          <p:cNvPr id="17" name="AutoShape 17"/>
          <p:cNvSpPr/>
          <p:nvPr/>
        </p:nvSpPr>
        <p:spPr>
          <a:xfrm>
            <a:off x="8128000" y="4127500"/>
            <a:ext cx="3556000" cy="1587500"/>
          </a:xfrm>
          <a:prstGeom prst="roundRect">
            <a:avLst>
              <a:gd name="adj" fmla="val 0"/>
            </a:avLst>
          </a:prstGeom>
          <a:solidFill>
            <a:srgbClr val="EF4444">
              <a:alpha val="9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128000" y="4127500"/>
            <a:ext cx="3556000" cy="406400"/>
          </a:xfrm>
          <a:prstGeom prst="roundRect">
            <a:avLst>
              <a:gd name="adj" fmla="val 0"/>
            </a:avLst>
          </a:prstGeom>
          <a:solidFill>
            <a:srgbClr val="EF4444">
              <a:alpha val="8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255000" y="4127500"/>
            <a:ext cx="330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代价：显著的性能开销</a:t>
            </a:r>
            <a:endParaRPr lang="en-US" sz="1100"/>
          </a:p>
        </p:txBody>
      </p:sp>
      <p:sp>
        <p:nvSpPr>
          <p:cNvPr id="20" name="AutoShape 20"/>
          <p:cNvSpPr/>
          <p:nvPr/>
        </p:nvSpPr>
        <p:spPr>
          <a:xfrm>
            <a:off x="8255000" y="4572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82828"/>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安全的提升并非无代价。高频的缓存行刷新操作会带来较大的系统延迟，显著降低加密操作的吞吐量。在高并发或实时性要求高的场景中，这种“暴力”防御手段会成为系统的性能瓶颈。</a:t>
            </a:r>
            <a:endParaRPr lang="en-US" sz="1100"/>
          </a:p>
        </p:txBody>
      </p:sp>
      <p:sp>
        <p:nvSpPr>
          <p:cNvPr id="21" name="AutoShape 21"/>
          <p:cNvSpPr/>
          <p:nvPr/>
        </p:nvSpPr>
        <p:spPr>
          <a:xfrm>
            <a:off x="635000" y="5778500"/>
            <a:ext cx="11049000" cy="762000"/>
          </a:xfrm>
          <a:prstGeom prst="roundRect">
            <a:avLst>
              <a:gd name="adj" fmla="val 0"/>
            </a:avLst>
          </a:prstGeom>
          <a:solidFill>
            <a:srgbClr val="1E4264">
              <a:alpha val="12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2000" y="58166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426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a:t>
            </a:r>
            <a:r>
              <a:rPr lang="en-US" sz="12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缓存行刷新是一种理论上完美的防御方案，但由于其高昂的性能损耗，在实际工程落地中，需根据应用场景的安全需求与性能指标进行权衡，或探索更轻量级的缓存管理优化策略。</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9271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srcRect/>
          <a:stretch>
            <a:fillRect/>
          </a:stretch>
        </p:blipFill>
        <p:spPr>
          <a:xfrm>
            <a:off x="241300" y="139700"/>
            <a:ext cx="647700" cy="647700"/>
          </a:xfrm>
          <a:prstGeom prst="rect">
            <a:avLst/>
          </a:prstGeom>
          <a:noFill/>
          <a:ln w="25400" cap="flat" cmpd="sng">
            <a:noFill/>
            <a:prstDash val="solid"/>
            <a:round/>
          </a:ln>
        </p:spPr>
      </p:pic>
      <p:sp>
        <p:nvSpPr>
          <p:cNvPr id="4" name="AutoShape 4"/>
          <p:cNvSpPr/>
          <p:nvPr/>
        </p:nvSpPr>
        <p:spPr>
          <a:xfrm>
            <a:off x="0" y="0"/>
            <a:ext cx="12192000" cy="927100"/>
          </a:xfrm>
          <a:prstGeom prst="roundRect">
            <a:avLst>
              <a:gd name="adj" fmla="val 0"/>
            </a:avLst>
          </a:prstGeom>
          <a:blipFill rotWithShape="1">
            <a:blip r:embed="rId2"/>
            <a:tile tx="-3175000" ty="-1397000" sx="100000" sy="100000" flip="none" algn="tl"/>
          </a:blip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3"/>
          <a:srcRect l="216" r="216"/>
          <a:stretch>
            <a:fillRect/>
          </a:stretch>
        </p:blipFill>
        <p:spPr>
          <a:xfrm>
            <a:off x="9093200" y="0"/>
            <a:ext cx="990600" cy="927100"/>
          </a:xfrm>
          <a:prstGeom prst="rect">
            <a:avLst/>
          </a:prstGeom>
          <a:noFill/>
          <a:ln w="25400" cap="flat" cmpd="sng">
            <a:noFill/>
            <a:prstDash val="solid"/>
            <a:round/>
          </a:ln>
        </p:spPr>
      </p:pic>
      <p:sp>
        <p:nvSpPr>
          <p:cNvPr id="6" name="AutoShape 6"/>
          <p:cNvSpPr/>
          <p:nvPr/>
        </p:nvSpPr>
        <p:spPr>
          <a:xfrm>
            <a:off x="10083800" y="254000"/>
            <a:ext cx="17145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天津大学</a:t>
            </a:r>
            <a:endParaRPr lang="en-US" sz="1100"/>
          </a:p>
        </p:txBody>
      </p:sp>
      <p:sp>
        <p:nvSpPr>
          <p:cNvPr id="7" name="AutoShape 7"/>
          <p:cNvSpPr/>
          <p:nvPr/>
        </p:nvSpPr>
        <p:spPr>
          <a:xfrm>
            <a:off x="914400" y="1651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04 实验结论</a:t>
            </a:r>
            <a:endParaRPr lang="en-US" sz="1100"/>
          </a:p>
        </p:txBody>
      </p:sp>
      <p:sp>
        <p:nvSpPr>
          <p:cNvPr id="8" name="AutoShape 8"/>
          <p:cNvSpPr/>
          <p:nvPr/>
        </p:nvSpPr>
        <p:spPr>
          <a:xfrm>
            <a:off x="88900" y="1054100"/>
            <a:ext cx="11811000" cy="4826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8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多阶段攻击结构更易受干扰：</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ES-192/256采用的两阶段攻击架构在实际执行中表现出明显的脆弱性，其对噪声等外部干扰因素的敏感度显著高于单阶段模式。由于攻击过程分为前后两个关键阶段，阶段间的错误会出现级联放大效应，初始阶段的微小偏差会在后续阶段不断累积，最终大幅降低攻击的整体成功率，这也成为此类算法在复杂环境下实施攻击的核心技术瓶颈。</a:t>
            </a:r>
            <a:endParaRPr lang="en-US" sz="1100"/>
          </a:p>
          <a:p>
            <a:pPr marL="0" indent="0" algn="l">
              <a:lnSpc>
                <a:spcPct val="108000"/>
              </a:lnSpc>
            </a:pPr>
          </a:p>
          <a:p>
            <a:pPr marL="0" indent="0" algn="l">
              <a:lnSpc>
                <a:spcPct val="108000"/>
              </a:lnSpc>
            </a:pPr>
            <a:r>
              <a:rPr lang="en-US" sz="1800" b="1" i="0" u="none" strike="noStrike">
                <a:solidFill>
                  <a:srgbClr val="00B050"/>
                </a:solidFill>
                <a:latin typeface="微软雅黑" panose="020B0503020204020204" charset="-122"/>
                <a:ea typeface="微软雅黑" panose="020B0503020204020204" charset="-122"/>
                <a:cs typeface="微软雅黑" panose="020B0503020204020204" charset="-122"/>
                <a:sym typeface="微软雅黑" panose="020B0503020204020204" charset="-122"/>
              </a:rPr>
              <a:t>泄露带宽可作为核心评估指标：</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实验数据明确显示，泄露带宽与攻击成功率之间存在显著的正相关关系。该指标能够直观反映出算法在执行过程中信息泄露的程度，可有效量化各类防御措施的实际防护效果。通过监测泄露带宽的变化，技术人员可以精准判断防御策略的有效性，为后续优化防御方案、提升系统安全性提供可量化的参考依据。</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08000"/>
              </a:lnSpc>
            </a:pPr>
          </a:p>
          <a:p>
            <a:pPr marL="0" indent="0" algn="l">
              <a:lnSpc>
                <a:spcPct val="108000"/>
              </a:lnSpc>
            </a:pPr>
            <a:r>
              <a:rPr lang="en-US" sz="1800" b="1" i="0" u="none" strike="noStrike">
                <a:solidFill>
                  <a:srgbClr val="2177F9"/>
                </a:solidFill>
                <a:latin typeface="微软雅黑" panose="020B0503020204020204" charset="-122"/>
                <a:ea typeface="微软雅黑" panose="020B0503020204020204" charset="-122"/>
                <a:cs typeface="微软雅黑" panose="020B0503020204020204" charset="-122"/>
                <a:sym typeface="微软雅黑" panose="020B0503020204020204" charset="-122"/>
              </a:rPr>
              <a:t>防御策略需在安全与性能间权衡：</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不同防御手段的效果与成本呈现差异化特征。缓存刷新方案的防护效果最为彻底，能够从根源上切断信息泄露的通道，但会带来较高的系统性能开销；而噪声注入方案对系统性能的影响较小，实施成本更低，却无法完全消除潜在的攻击风险。在实际应用中，需根据具体的场景需求，在安全性保障与系统运行性能之间做出合理的选择与平衡。</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927100"/>
          </a:xfrm>
          <a:prstGeom prst="roundRect">
            <a:avLst>
              <a:gd name="adj" fmla="val 0"/>
            </a:avLst>
          </a:prstGeom>
          <a:solidFill>
            <a:srgbClr val="1E426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srcRect/>
          <a:stretch>
            <a:fillRect/>
          </a:stretch>
        </p:blipFill>
        <p:spPr>
          <a:xfrm>
            <a:off x="241300" y="139700"/>
            <a:ext cx="647700" cy="647700"/>
          </a:xfrm>
          <a:prstGeom prst="rect">
            <a:avLst/>
          </a:prstGeom>
          <a:noFill/>
          <a:ln w="25400" cap="flat" cmpd="sng">
            <a:noFill/>
            <a:prstDash val="solid"/>
            <a:round/>
          </a:ln>
        </p:spPr>
      </p:pic>
      <p:sp>
        <p:nvSpPr>
          <p:cNvPr id="4" name="AutoShape 4"/>
          <p:cNvSpPr/>
          <p:nvPr/>
        </p:nvSpPr>
        <p:spPr>
          <a:xfrm>
            <a:off x="0" y="0"/>
            <a:ext cx="12192000" cy="927100"/>
          </a:xfrm>
          <a:prstGeom prst="roundRect">
            <a:avLst>
              <a:gd name="adj" fmla="val 0"/>
            </a:avLst>
          </a:prstGeom>
          <a:blipFill rotWithShape="1">
            <a:blip r:embed="rId2"/>
            <a:tile tx="-3175000" ty="-1397000" sx="100000" sy="100000" flip="none" algn="tl"/>
          </a:blip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3"/>
          <a:srcRect l="216" r="216"/>
          <a:stretch>
            <a:fillRect/>
          </a:stretch>
        </p:blipFill>
        <p:spPr>
          <a:xfrm>
            <a:off x="9093200" y="0"/>
            <a:ext cx="990600" cy="927100"/>
          </a:xfrm>
          <a:prstGeom prst="rect">
            <a:avLst/>
          </a:prstGeom>
          <a:noFill/>
          <a:ln w="25400" cap="flat" cmpd="sng">
            <a:noFill/>
            <a:prstDash val="solid"/>
            <a:round/>
          </a:ln>
        </p:spPr>
      </p:pic>
      <p:sp>
        <p:nvSpPr>
          <p:cNvPr id="6" name="AutoShape 6"/>
          <p:cNvSpPr/>
          <p:nvPr/>
        </p:nvSpPr>
        <p:spPr>
          <a:xfrm>
            <a:off x="10083800" y="254000"/>
            <a:ext cx="17145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天津大学</a:t>
            </a:r>
            <a:endParaRPr lang="en-US" sz="1100"/>
          </a:p>
        </p:txBody>
      </p:sp>
      <p:sp>
        <p:nvSpPr>
          <p:cNvPr id="7" name="AutoShape 7"/>
          <p:cNvSpPr/>
          <p:nvPr/>
        </p:nvSpPr>
        <p:spPr>
          <a:xfrm>
            <a:off x="914400" y="1651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05 总结与展望</a:t>
            </a:r>
            <a:endParaRPr lang="en-US" sz="1100"/>
          </a:p>
        </p:txBody>
      </p:sp>
      <p:sp>
        <p:nvSpPr>
          <p:cNvPr id="8" name="AutoShape 8"/>
          <p:cNvSpPr/>
          <p:nvPr>
            <p:custDataLst>
              <p:tags r:id="rId4"/>
            </p:custDataLst>
          </p:nvPr>
        </p:nvSpPr>
        <p:spPr>
          <a:xfrm>
            <a:off x="508000" y="1587500"/>
            <a:ext cx="3632200" cy="2413000"/>
          </a:xfrm>
          <a:prstGeom prst="roundRect">
            <a:avLst>
              <a:gd name="adj" fmla="val 0"/>
            </a:avLst>
          </a:prstGeom>
          <a:solidFill>
            <a:srgbClr val="3B82F6">
              <a:alpha val="1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custDataLst>
              <p:tags r:id="rId5"/>
            </p:custDataLst>
          </p:nvPr>
        </p:nvSpPr>
        <p:spPr>
          <a:xfrm>
            <a:off x="635000" y="1714500"/>
            <a:ext cx="3378200" cy="457200"/>
          </a:xfrm>
          <a:prstGeom prst="rect">
            <a:avLst/>
          </a:prstGeom>
          <a:noFill/>
          <a:ln w="12700" cap="flat" cmpd="sng">
            <a:noFill/>
            <a:prstDash val="solid"/>
            <a:round/>
          </a:ln>
        </p:spPr>
        <p:txBody>
          <a:bodyPr vert="horz" wrap="square" lIns="63500" tIns="0" rIns="63500" bIns="0" rtlCol="0" anchor="t" anchorCtr="0"/>
          <a:lstStyle/>
          <a:p>
            <a:pPr marL="0" indent="0" algn="l">
              <a:lnSpc>
                <a:spcPct val="125000"/>
              </a:lnSpc>
              <a:defRPr/>
            </a:pPr>
            <a:r>
              <a:rPr lang="en-US" sz="1800" b="1" i="0" u="none" strike="noStrike">
                <a:solidFill>
                  <a:srgbClr val="1E4264"/>
                </a:solidFill>
                <a:latin typeface="微软雅黑" panose="020B0503020204020204" charset="-122"/>
                <a:ea typeface="微软雅黑" panose="020B0503020204020204" charset="-122"/>
                <a:cs typeface="微软雅黑" panose="020B0503020204020204" charset="-122"/>
                <a:sym typeface="微软雅黑" panose="020B0503020204020204" charset="-122"/>
              </a:rPr>
              <a:t>理论贡献：密钥恢复方法</a:t>
            </a:r>
            <a:endParaRPr lang="en-US" sz="1100"/>
          </a:p>
        </p:txBody>
      </p:sp>
      <p:sp>
        <p:nvSpPr>
          <p:cNvPr id="10" name="AutoShape 10"/>
          <p:cNvSpPr/>
          <p:nvPr>
            <p:custDataLst>
              <p:tags r:id="rId6"/>
            </p:custDataLst>
          </p:nvPr>
        </p:nvSpPr>
        <p:spPr>
          <a:xfrm>
            <a:off x="635000" y="2286000"/>
            <a:ext cx="3378200" cy="1587500"/>
          </a:xfrm>
          <a:prstGeom prst="rect">
            <a:avLst/>
          </a:prstGeom>
          <a:noFill/>
          <a:ln w="12700" cap="flat" cmpd="sng">
            <a:noFill/>
            <a:prstDash val="solid"/>
            <a:round/>
          </a:ln>
        </p:spPr>
        <p:txBody>
          <a:bodyPr vert="horz" wrap="square" lIns="63500" tIns="0" rIns="63500" bIns="0" rtlCol="0" anchor="t" anchorCtr="0"/>
          <a:lstStyle/>
          <a:p>
            <a:pPr marL="0" indent="0" algn="l">
              <a:lnSpc>
                <a:spcPct val="108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AES-192/256长密钥加密算法的技术瓶颈，创新性提出并验证了“两阶段密钥恢复方法”。该方法将复杂的密钥破解过程拆解为逻辑独立的阶段执行，突破了传统单一阶段攻击的算力与效率限制，为长密钥AES的密码分析领域提供了全新的理论支撑与可行的技术实现路径。</a:t>
            </a:r>
            <a:endParaRPr lang="en-US" sz="1100"/>
          </a:p>
        </p:txBody>
      </p:sp>
      <p:sp>
        <p:nvSpPr>
          <p:cNvPr id="11" name="AutoShape 11"/>
          <p:cNvSpPr/>
          <p:nvPr>
            <p:custDataLst>
              <p:tags r:id="rId7"/>
            </p:custDataLst>
          </p:nvPr>
        </p:nvSpPr>
        <p:spPr>
          <a:xfrm>
            <a:off x="4267200" y="1587500"/>
            <a:ext cx="3632200" cy="24130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8"/>
            </p:custDataLst>
          </p:nvPr>
        </p:nvSpPr>
        <p:spPr>
          <a:xfrm>
            <a:off x="4394200" y="1714500"/>
            <a:ext cx="3378200" cy="457200"/>
          </a:xfrm>
          <a:prstGeom prst="rect">
            <a:avLst/>
          </a:prstGeom>
          <a:noFill/>
          <a:ln w="12700" cap="flat" cmpd="sng">
            <a:noFill/>
            <a:prstDash val="solid"/>
            <a:round/>
          </a:ln>
        </p:spPr>
        <p:txBody>
          <a:bodyPr vert="horz" wrap="square" lIns="63500" tIns="0" rIns="63500" bIns="0" rtlCol="0" anchor="t" anchorCtr="0"/>
          <a:lstStyle/>
          <a:p>
            <a:pPr marL="0" indent="0" algn="l">
              <a:lnSpc>
                <a:spcPct val="125000"/>
              </a:lnSpc>
              <a:defRPr/>
            </a:pPr>
            <a:r>
              <a:rPr lang="en-US" sz="1800" b="1" i="0" u="none" strike="noStrike">
                <a:solidFill>
                  <a:srgbClr val="064E3B"/>
                </a:solidFill>
                <a:latin typeface="微软雅黑" panose="020B0503020204020204" charset="-122"/>
                <a:ea typeface="微软雅黑" panose="020B0503020204020204" charset="-122"/>
                <a:cs typeface="微软雅黑" panose="020B0503020204020204" charset="-122"/>
                <a:sym typeface="微软雅黑" panose="020B0503020204020204" charset="-122"/>
              </a:rPr>
              <a:t>工具贡献：自动化测试框架</a:t>
            </a:r>
            <a:endParaRPr lang="en-US" sz="1100"/>
          </a:p>
        </p:txBody>
      </p:sp>
      <p:sp>
        <p:nvSpPr>
          <p:cNvPr id="13" name="AutoShape 13"/>
          <p:cNvSpPr/>
          <p:nvPr>
            <p:custDataLst>
              <p:tags r:id="rId9"/>
            </p:custDataLst>
          </p:nvPr>
        </p:nvSpPr>
        <p:spPr>
          <a:xfrm>
            <a:off x="4394200" y="2286000"/>
            <a:ext cx="3378200" cy="1587500"/>
          </a:xfrm>
          <a:prstGeom prst="rect">
            <a:avLst/>
          </a:prstGeom>
          <a:noFill/>
          <a:ln w="12700" cap="flat" cmpd="sng">
            <a:noFill/>
            <a:prstDash val="solid"/>
            <a:round/>
          </a:ln>
        </p:spPr>
        <p:txBody>
          <a:bodyPr vert="horz" wrap="square" lIns="63500" tIns="0" rIns="63500" bIns="0" rtlCol="0" anchor="t" anchorCtr="0"/>
          <a:lstStyle/>
          <a:p>
            <a:pPr marL="0" indent="0" algn="l">
              <a:lnSpc>
                <a:spcPct val="108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并研发了一套统一的自动化攻击测试框架，全面兼容并支持多种AES密钥长度的测试场景。框架实现了实验环境的快速部署、攻击流程的自动执行与结果的标准化采集，大幅降低了安全分析的人工操作成本，同时显著提升了攻击方案验证的可复现性与整体执行效率。</a:t>
            </a:r>
            <a:endParaRPr lang="en-US" sz="1100"/>
          </a:p>
        </p:txBody>
      </p:sp>
      <p:sp>
        <p:nvSpPr>
          <p:cNvPr id="14" name="AutoShape 14"/>
          <p:cNvSpPr/>
          <p:nvPr>
            <p:custDataLst>
              <p:tags r:id="rId10"/>
            </p:custDataLst>
          </p:nvPr>
        </p:nvSpPr>
        <p:spPr>
          <a:xfrm>
            <a:off x="8026400" y="1587500"/>
            <a:ext cx="3632200" cy="2413000"/>
          </a:xfrm>
          <a:prstGeom prst="roundRect">
            <a:avLst>
              <a:gd name="adj" fmla="val 0"/>
            </a:avLst>
          </a:prstGeom>
          <a:solidFill>
            <a:srgbClr val="F59E0B">
              <a:alpha val="1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1"/>
            </p:custDataLst>
          </p:nvPr>
        </p:nvSpPr>
        <p:spPr>
          <a:xfrm>
            <a:off x="8153400" y="1714500"/>
            <a:ext cx="3378200" cy="457200"/>
          </a:xfrm>
          <a:prstGeom prst="rect">
            <a:avLst/>
          </a:prstGeom>
          <a:noFill/>
          <a:ln w="12700" cap="flat" cmpd="sng">
            <a:noFill/>
            <a:prstDash val="solid"/>
            <a:round/>
          </a:ln>
        </p:spPr>
        <p:txBody>
          <a:bodyPr vert="horz" wrap="square" lIns="63500" tIns="0" rIns="63500" bIns="0" rtlCol="0" anchor="t" anchorCtr="0"/>
          <a:lstStyle/>
          <a:p>
            <a:pPr marL="0" indent="0" algn="l">
              <a:lnSpc>
                <a:spcPct val="125000"/>
              </a:lnSpc>
              <a:defRPr/>
            </a:pPr>
            <a:r>
              <a:rPr lang="en-US" sz="1800" b="1" i="0" u="none" strike="noStrike">
                <a:solidFill>
                  <a:srgbClr val="78350F"/>
                </a:solidFill>
                <a:latin typeface="微软雅黑" panose="020B0503020204020204" charset="-122"/>
                <a:ea typeface="微软雅黑" panose="020B0503020204020204" charset="-122"/>
                <a:cs typeface="微软雅黑" panose="020B0503020204020204" charset="-122"/>
                <a:sym typeface="微软雅黑" panose="020B0503020204020204" charset="-122"/>
              </a:rPr>
              <a:t>实践贡献：量化评估体系</a:t>
            </a:r>
            <a:endParaRPr lang="en-US" sz="1100"/>
          </a:p>
        </p:txBody>
      </p:sp>
      <p:sp>
        <p:nvSpPr>
          <p:cNvPr id="16" name="AutoShape 16"/>
          <p:cNvSpPr/>
          <p:nvPr>
            <p:custDataLst>
              <p:tags r:id="rId12"/>
            </p:custDataLst>
          </p:nvPr>
        </p:nvSpPr>
        <p:spPr>
          <a:xfrm>
            <a:off x="8153400" y="2286000"/>
            <a:ext cx="3378200" cy="1587500"/>
          </a:xfrm>
          <a:prstGeom prst="rect">
            <a:avLst/>
          </a:prstGeom>
          <a:noFill/>
          <a:ln w="12700" cap="flat" cmpd="sng">
            <a:noFill/>
            <a:prstDash val="solid"/>
            <a:round/>
          </a:ln>
        </p:spPr>
        <p:txBody>
          <a:bodyPr vert="horz" wrap="square" lIns="63500" tIns="0" rIns="63500" bIns="0" rtlCol="0" anchor="t" anchorCtr="0"/>
          <a:lstStyle/>
          <a:p>
            <a:pPr marL="0" indent="0" algn="l">
              <a:lnSpc>
                <a:spcPct val="108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了包含核心指标“泄露带宽”在内的多维度量化评估体系，能够科学、客观地衡量侧信道攻击的实际效果与目标系统的安全脆弱性程度。该体系为密码算法的安全性分析、防御策略的有效性验证以及系统加固方案的制定，提供了一套标准化、可量化的关键参考依据。</a:t>
            </a:r>
            <a:endParaRPr lang="en-US" sz="1100"/>
          </a:p>
        </p:txBody>
      </p:sp>
      <p:sp>
        <p:nvSpPr>
          <p:cNvPr id="17" name="AutoShape 17"/>
          <p:cNvSpPr/>
          <p:nvPr/>
        </p:nvSpPr>
        <p:spPr>
          <a:xfrm>
            <a:off x="508000" y="4191000"/>
            <a:ext cx="5486400" cy="2222500"/>
          </a:xfrm>
          <a:prstGeom prst="roundRect">
            <a:avLst>
              <a:gd name="adj" fmla="val 0"/>
            </a:avLst>
          </a:prstGeom>
          <a:solidFill>
            <a:srgbClr val="6366F1">
              <a:alpha val="12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35000" y="4318000"/>
            <a:ext cx="5232400" cy="431800"/>
          </a:xfrm>
          <a:prstGeom prst="rect">
            <a:avLst/>
          </a:prstGeom>
          <a:noFill/>
          <a:ln w="12700" cap="flat" cmpd="sng">
            <a:noFill/>
            <a:prstDash val="solid"/>
            <a:round/>
          </a:ln>
        </p:spPr>
        <p:txBody>
          <a:bodyPr vert="horz" wrap="square" lIns="63500" tIns="0" rIns="63500" bIns="0" rtlCol="0" anchor="t" anchorCtr="0"/>
          <a:lstStyle/>
          <a:p>
            <a:pPr marL="0" indent="0" algn="l">
              <a:lnSpc>
                <a:spcPct val="125000"/>
              </a:lnSpc>
              <a:defRPr/>
            </a:pPr>
            <a:r>
              <a:rPr lang="en-US" sz="1800" b="1" i="0" u="none" strike="noStrike">
                <a:solidFill>
                  <a:srgbClr val="312E81"/>
                </a:solidFill>
                <a:latin typeface="微软雅黑" panose="020B0503020204020204" charset="-122"/>
                <a:ea typeface="微软雅黑" panose="020B0503020204020204" charset="-122"/>
                <a:cs typeface="微软雅黑" panose="020B0503020204020204" charset="-122"/>
                <a:sym typeface="微软雅黑" panose="020B0503020204020204" charset="-122"/>
              </a:rPr>
              <a:t>未来方向一：跨平台架构适配验证</a:t>
            </a:r>
            <a:endParaRPr lang="en-US" sz="1100"/>
          </a:p>
        </p:txBody>
      </p:sp>
      <p:sp>
        <p:nvSpPr>
          <p:cNvPr id="19" name="AutoShape 19"/>
          <p:cNvSpPr/>
          <p:nvPr/>
        </p:nvSpPr>
        <p:spPr>
          <a:xfrm>
            <a:off x="635000" y="4889500"/>
            <a:ext cx="5232400" cy="1397000"/>
          </a:xfrm>
          <a:prstGeom prst="rect">
            <a:avLst/>
          </a:prstGeom>
          <a:noFill/>
          <a:ln w="12700" cap="flat" cmpd="sng">
            <a:noFill/>
            <a:prstDash val="solid"/>
            <a:round/>
          </a:ln>
        </p:spPr>
        <p:txBody>
          <a:bodyPr vert="horz" wrap="square" lIns="63500" tIns="0" rIns="63500" bIns="0" rtlCol="0" anchor="t" anchorCtr="0"/>
          <a:lstStyle/>
          <a:p>
            <a:pPr marL="0" indent="0" algn="l">
              <a:lnSpc>
                <a:spcPct val="108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计划将现有成熟的攻击框架从当前运行平台，全面移植并适配到ARM、RISC-V等主流异构硬件架构中。通过在不同架构环境下的反复测试，验证算法的跨平台适应性与攻击有效性，深入探索硬件架构特性对侧信道攻击成功率的潜在影响，从而拓宽研究成果的实际应用场景与工程参考价值。</a:t>
            </a:r>
            <a:endParaRPr lang="en-US" sz="1100"/>
          </a:p>
        </p:txBody>
      </p:sp>
      <p:sp>
        <p:nvSpPr>
          <p:cNvPr id="20" name="AutoShape 20"/>
          <p:cNvSpPr/>
          <p:nvPr/>
        </p:nvSpPr>
        <p:spPr>
          <a:xfrm>
            <a:off x="6197600" y="4191000"/>
            <a:ext cx="5486400" cy="2222500"/>
          </a:xfrm>
          <a:prstGeom prst="roundRect">
            <a:avLst>
              <a:gd name="adj" fmla="val 0"/>
            </a:avLst>
          </a:prstGeom>
          <a:solidFill>
            <a:srgbClr val="EC4899">
              <a:alpha val="1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324600" y="4318000"/>
            <a:ext cx="5232400" cy="431800"/>
          </a:xfrm>
          <a:prstGeom prst="rect">
            <a:avLst/>
          </a:prstGeom>
          <a:noFill/>
          <a:ln w="12700" cap="flat" cmpd="sng">
            <a:noFill/>
            <a:prstDash val="solid"/>
            <a:round/>
          </a:ln>
        </p:spPr>
        <p:txBody>
          <a:bodyPr vert="horz" wrap="square" lIns="63500" tIns="0" rIns="63500" bIns="0" rtlCol="0" anchor="t" anchorCtr="0"/>
          <a:lstStyle/>
          <a:p>
            <a:pPr marL="0" indent="0" algn="l">
              <a:lnSpc>
                <a:spcPct val="125000"/>
              </a:lnSpc>
              <a:defRPr/>
            </a:pPr>
            <a:r>
              <a:rPr lang="en-US" sz="1800" b="1" i="0" u="none" strike="noStrike">
                <a:solidFill>
                  <a:srgbClr val="831843"/>
                </a:solidFill>
                <a:latin typeface="微软雅黑" panose="020B0503020204020204" charset="-122"/>
                <a:ea typeface="微软雅黑" panose="020B0503020204020204" charset="-122"/>
                <a:cs typeface="微软雅黑" panose="020B0503020204020204" charset="-122"/>
                <a:sym typeface="微软雅黑" panose="020B0503020204020204" charset="-122"/>
              </a:rPr>
              <a:t>未来方向二：自适应安全缓解策略</a:t>
            </a:r>
            <a:endParaRPr lang="en-US" sz="1100"/>
          </a:p>
        </p:txBody>
      </p:sp>
      <p:sp>
        <p:nvSpPr>
          <p:cNvPr id="22" name="AutoShape 22"/>
          <p:cNvSpPr/>
          <p:nvPr/>
        </p:nvSpPr>
        <p:spPr>
          <a:xfrm>
            <a:off x="6324600" y="4889500"/>
            <a:ext cx="5232400" cy="1397000"/>
          </a:xfrm>
          <a:prstGeom prst="rect">
            <a:avLst/>
          </a:prstGeom>
          <a:noFill/>
          <a:ln w="12700" cap="flat" cmpd="sng">
            <a:noFill/>
            <a:prstDash val="solid"/>
            <a:round/>
          </a:ln>
        </p:spPr>
        <p:txBody>
          <a:bodyPr vert="horz" wrap="square" lIns="63500" tIns="0" rIns="63500" bIns="0" rtlCol="0" anchor="t" anchorCtr="0"/>
          <a:lstStyle/>
          <a:p>
            <a:pPr marL="0" indent="0" algn="l">
              <a:lnSpc>
                <a:spcPct val="108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探索自适应缓解策略的优化设计，在保障系统安全性与维持运行性能之间寻求最佳平衡点。通过实时监测系统负载与潜在攻击特征，动态调整防御机制的触发条件与执行强度，在有效识别并阻断恶意侧信道攻击的同时，最大程度减少安全防护措施对业务处理的性能损耗，实现安全与效率的协同提升。</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3683000"/>
          </a:xfrm>
          <a:prstGeom prst="roundRect">
            <a:avLst>
              <a:gd name="adj" fmla="val 0"/>
            </a:avLst>
          </a:prstGeom>
          <a:solidFill>
            <a:srgbClr val="15436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143000"/>
            <a:ext cx="12192000" cy="1397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6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致 谢</a:t>
            </a:r>
            <a:endParaRPr lang="en-US" sz="1100"/>
          </a:p>
        </p:txBody>
      </p:sp>
      <p:sp>
        <p:nvSpPr>
          <p:cNvPr id="4" name="AutoShape 4"/>
          <p:cNvSpPr/>
          <p:nvPr/>
        </p:nvSpPr>
        <p:spPr>
          <a:xfrm>
            <a:off x="0" y="2667000"/>
            <a:ext cx="12192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 敬请指正</a:t>
            </a:r>
            <a:endParaRPr lang="en-US" sz="1100"/>
          </a:p>
        </p:txBody>
      </p:sp>
      <p:sp>
        <p:nvSpPr>
          <p:cNvPr id="5" name="AutoShape 5"/>
          <p:cNvSpPr/>
          <p:nvPr/>
        </p:nvSpPr>
        <p:spPr>
          <a:xfrm>
            <a:off x="0" y="3683000"/>
            <a:ext cx="12192000" cy="3175000"/>
          </a:xfrm>
          <a:prstGeom prst="roundRect">
            <a:avLst>
              <a:gd name="adj" fmla="val 0"/>
            </a:avLst>
          </a:pr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651000" y="4191000"/>
            <a:ext cx="8890000" cy="165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50000"/>
              </a:lnSpc>
              <a:defRPr/>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感谢鲁赵骏老师的悉心指导！</a:t>
            </a:r>
            <a:b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在研究与论文撰写过程中，也衷心感谢所有帮助过我的老师、同学和朋友们，</a:t>
            </a:r>
            <a:b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是你们的支持与帮助让我能够顺利完成此次汇报。</a:t>
            </a:r>
            <a:endParaRPr lang="en-US" sz="1100"/>
          </a:p>
        </p:txBody>
      </p:sp>
    </p:spTree>
  </p:cSld>
  <p:clrMapOvr>
    <a:masterClrMapping/>
  </p:clrMapOvr>
</p:sld>
</file>

<file path=ppt/tags/tag1.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2.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4.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5.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6.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7.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8.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9.xml><?xml version="1.0" encoding="utf-8"?>
<p:tagLst xmlns:p="http://schemas.openxmlformats.org/presentationml/2006/main">
  <p:tag name="KSO_WM_BEAUTIFY_FLAG" val="#fgm#"/>
  <p:tag name="KSO_WM_FIGMA_FLAG" val="#fgm#"/>
  <p:tag name="KSO_WM_UNIT_INDEX" val="1"/>
  <p:tag name="KSO_WM_UNIT_TYPE" val="a"/>
  <p:tag name="KSO_WM_LAYOUT_CHECK_HASH" val="e0f51be442d348dcd3676fa585af84194925b45e"/>
  <p:tag name="KSO_WM_NEWLAYOUT_GROUP_ID" val="layout_10007"/>
  <p:tag name="KSO_WM_NEWLAYOUT_ID" val="slide_6b62f1f9edcefd50"/>
</p:tagLst>
</file>

<file path=ppt/tags/tag1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4.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15.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16.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17.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18.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19.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20.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21.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22.xml><?xml version="1.0" encoding="utf-8"?>
<p:tagLst xmlns:p="http://schemas.openxmlformats.org/presentationml/2006/main">
  <p:tag name="KSO_WM_BEAUTIFY_FLAG" val="#fgm#"/>
  <p:tag name="KSO_WM_FIGMA_FLAG" val="#fgm#"/>
  <p:tag name="KSO_WM_UNIT_INDEX" val="1"/>
  <p:tag name="KSO_WM_UNIT_TYPE" val="a"/>
  <p:tag name="KSO_WM_LAYOUT_CHECK_HASH" val="fdaeedc869f7909be1b4acd7e9ae2b145a1e17d9"/>
  <p:tag name="KSO_WM_NEWLAYOUT_GROUP_ID" val="layout_10003"/>
  <p:tag name="KSO_WM_NEWLAYOUT_ID" val="slide_f03f66a8173a28af"/>
</p:tagLst>
</file>

<file path=ppt/tags/tag2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3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2.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3.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4.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5.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6.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7.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8.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9.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40.xml><?xml version="1.0" encoding="utf-8"?>
<p:tagLst xmlns:p="http://schemas.openxmlformats.org/presentationml/2006/main">
  <p:tag name="KSO_WM_BEAUTIFY_FLAG" val="#fgm#"/>
  <p:tag name="KSO_WM_FIGMA_FLAG" val="#fgm#"/>
  <p:tag name="KSO_WM_UNIT_INDEX" val="1"/>
  <p:tag name="KSO_WM_UNIT_TYPE" val="a"/>
  <p:tag name="KSO_WM_LAYOUT_CHECK_HASH" val="0028ba39ccea91001d33bde68707bc4f8d970998"/>
  <p:tag name="KSO_WM_NEWLAYOUT_GROUP_ID" val="layout_10004"/>
  <p:tag name="KSO_WM_NEWLAYOUT_ID" val="slide_2413216d433b758f"/>
</p:tagLst>
</file>

<file path=ppt/tags/tag4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4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7.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48.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49.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50.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51.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52.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53.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54.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55.xml><?xml version="1.0" encoding="utf-8"?>
<p:tagLst xmlns:p="http://schemas.openxmlformats.org/presentationml/2006/main">
  <p:tag name="KSO_WM_BEAUTIFY_FLAG" val="#fgm#"/>
  <p:tag name="KSO_WM_FIGMA_FLAG" val="#fgm#"/>
  <p:tag name="KSO_WM_UNIT_INDEX" val="1"/>
  <p:tag name="KSO_WM_UNIT_TYPE" val="a"/>
  <p:tag name="KSO_WM_LAYOUT_CHECK_HASH" val="6bc9125b8975ae5e7de56b93eb0dac3ca0c57159"/>
  <p:tag name="KSO_WM_NEWLAYOUT_GROUP_ID" val="layout_14"/>
  <p:tag name="KSO_WM_NEWLAYOUT_ID" val="slide_fbd1737be693ef9a"/>
</p:tagLst>
</file>

<file path=ppt/tags/tag56.xml><?xml version="1.0" encoding="utf-8"?>
<p:tagLst xmlns:p="http://schemas.openxmlformats.org/presentationml/2006/main">
  <p:tag name="KSO_WM_FIGMA_DECORATION_INDEX" val="18_contentModel"/>
  <p:tag name="$PH_EXT" val="2"/>
  <p:tag name="KSO_WM_BEAUTIFY_FLAG" val="#fgm#"/>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
  <p:tag name="KSO_WM_UNIT_TYPE" val="l_i"/>
</p:tagLst>
</file>

<file path=ppt/tags/tag57.xml><?xml version="1.0" encoding="utf-8"?>
<p:tagLst xmlns:p="http://schemas.openxmlformats.org/presentationml/2006/main">
  <p:tag name="KSO_WM_BEAUTIFY_FLAG" val="#fgm#"/>
  <p:tag name="KSO_WM_FIGMA_FLAG" val="#fgm#"/>
  <p:tag name="KSO_WM_UNIT_INDEX" val="1"/>
  <p:tag name="KSO_WM_UNIT_TYPE" val="f"/>
</p:tagLst>
</file>

<file path=ppt/tags/tag58.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59.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60.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61.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62.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63.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64.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65.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66.xml><?xml version="1.0" encoding="utf-8"?>
<p:tagLst xmlns:p="http://schemas.openxmlformats.org/presentationml/2006/main">
  <p:tag name="KSO_WM_BEAUTIFY_FLAG" val="#fgm#"/>
  <p:tag name="KSO_WM_FIGMA_FLAG" val="#fgm#"/>
  <p:tag name="KSO_WM_UNIT_INDEX" val="1"/>
  <p:tag name="KSO_WM_UNIT_TYPE" val="a"/>
  <p:tag name="KSO_WM_LAYOUT_CHECK_HASH" val="6652b3ac7b201e87e19932171151b4a173c6c2dc"/>
  <p:tag name="KSO_WM_NEWLAYOUT_GROUP_ID" val="layout_30"/>
  <p:tag name="KSO_WM_NEWLAYOUT_ID" val="slide_3d2465070914cbc5"/>
</p:tagLst>
</file>

<file path=ppt/tags/tag67.xml><?xml version="1.0" encoding="utf-8"?>
<p:tagLst xmlns:p="http://schemas.openxmlformats.org/presentationml/2006/main">
  <p:tag name="KSO_WM_BEAUTIFY_FLAG" val="#fgm#"/>
  <p:tag name="KSO_WM_FIGMA_FLAG" val="#fgm#"/>
  <p:tag name="KSO_WM_UNIT_INDEX" val="1"/>
  <p:tag name="KSO_WM_UNIT_TYPE" val="d"/>
</p:tagLst>
</file>

<file path=ppt/tags/tag6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6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7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7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7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7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7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7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77.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78.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79.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80.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81.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82.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83.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84.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85.xml><?xml version="1.0" encoding="utf-8"?>
<p:tagLst xmlns:p="http://schemas.openxmlformats.org/presentationml/2006/main">
  <p:tag name="KSO_WM_BEAUTIFY_FLAG" val="#fgm#"/>
  <p:tag name="KSO_WM_FIGMA_FLAG" val="#fgm#"/>
  <p:tag name="KSO_WM_UNIT_INDEX" val="1"/>
  <p:tag name="KSO_WM_UNIT_TYPE" val="a"/>
  <p:tag name="KSO_WM_LAYOUT_CHECK_HASH" val="84641a8daa89333762de2f03c211b475a9c258d0"/>
  <p:tag name="KSO_WM_NEWLAYOUT_GROUP_ID" val="layout_6"/>
  <p:tag name="KSO_WM_NEWLAYOUT_ID" val="slide_db6ecc7827b66e6e"/>
</p:tagLst>
</file>

<file path=ppt/tags/tag86.xml><?xml version="1.0" encoding="utf-8"?>
<p:tagLst xmlns:p="http://schemas.openxmlformats.org/presentationml/2006/main">
  <p:tag name="KSO_WM_BEAUTIFY_FLAG" val="#fgm#"/>
  <p:tag name="KSO_WM_FIGMA_FLAG" val="#fgm#"/>
  <p:tag name="KSO_WM_UNIT_INDEX" val="1"/>
  <p:tag name="KSO_WM_UNIT_TYPE" val="d"/>
</p:tagLst>
</file>

<file path=ppt/tags/tag8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8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9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9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9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9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9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9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96.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97.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98.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99.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100.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101.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102.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103.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104.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Lst>
</file>

<file path=ppt/tags/tag10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06.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0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0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0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10.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1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1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1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1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1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1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1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1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1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2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2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2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2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2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2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2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2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2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2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3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3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3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3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3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3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3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3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3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3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4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4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4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4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4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4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4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4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4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4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5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5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5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5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5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5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5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5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5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5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6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6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6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6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6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6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6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6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6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6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7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7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7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7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7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7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7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7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7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7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8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8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8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8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8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8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8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8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8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8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9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9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9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9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9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9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9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9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9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19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0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0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0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0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0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0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0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0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0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0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1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1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1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1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1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1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1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1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1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1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2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2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2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2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2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2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2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2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2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2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3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3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3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3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3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3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3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3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3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3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4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4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4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4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4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4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4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4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4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4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5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5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5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5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5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5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5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5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5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5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6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6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6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6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6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6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6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6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6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6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7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7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7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7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7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7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7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7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7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7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8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8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8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8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8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8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8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8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8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8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9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9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9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9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9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95.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96.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97.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98.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299.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300.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301.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302.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303.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304.xml><?xml version="1.0" encoding="utf-8"?>
<p:tagLst xmlns:p="http://schemas.openxmlformats.org/presentationml/2006/main">
  <p:tag name="KSO_WM_UNIT_ID" val="_1**"/>
  <p:tag name="KSO_WM_BEAUTIFY_FLAG" val="#wm#"/>
  <p:tag name="KSO_WM_TAG_VERSION" val="3.0"/>
  <p:tag name="KSO_WM_UNIT_LAYERLEVEL" val="1"/>
  <p:tag name="KSO_WM_TEMPLATE_INDEX" val="4"/>
  <p:tag name="KSO_WM_TEMPLATE_CATEGORY" val="custom"/>
</p:tagLst>
</file>

<file path=ppt/tags/tag305.xml><?xml version="1.0" encoding="utf-8"?>
<p:tagLst xmlns:p="http://schemas.openxmlformats.org/presentationml/2006/main">
  <p:tag name="KSO_WM_UNIT_ID" val="_2**"/>
  <p:tag name="KSO_WM_BEAUTIFY_FLAG" val="#wm#"/>
  <p:tag name="KSO_WM_TAG_VERSION" val="3.0"/>
  <p:tag name="KSO_WM_UNIT_LAYERLEVEL" val="1"/>
  <p:tag name="KSO_WM_TEMPLATE_INDEX" val="4"/>
  <p:tag name="KSO_WM_TEMPLATE_CATEGORY" val="custom"/>
</p:tagLst>
</file>

<file path=ppt/tags/tag306.xml><?xml version="1.0" encoding="utf-8"?>
<p:tagLst xmlns:p="http://schemas.openxmlformats.org/presentationml/2006/main">
  <p:tag name="KSO_WM_UNIT_ID" val="_2**"/>
  <p:tag name="KSO_WM_BEAUTIFY_FLAG" val="#wm#"/>
  <p:tag name="KSO_WM_TAG_VERSION" val="3.0"/>
  <p:tag name="KSO_WM_UNIT_LAYERLEVEL" val="1"/>
  <p:tag name="KSO_WM_TEMPLATE_INDEX" val="4"/>
  <p:tag name="KSO_WM_TEMPLATE_CATEGORY" val="custom"/>
</p:tagLst>
</file>

<file path=ppt/tags/tag307.xml><?xml version="1.0" encoding="utf-8"?>
<p:tagLst xmlns:p="http://schemas.openxmlformats.org/presentationml/2006/main">
  <p:tag name="KSO_WM_UNIT_ID" val="_2**"/>
  <p:tag name="KSO_WM_BEAUTIFY_FLAG" val="#wm#"/>
  <p:tag name="KSO_WM_TAG_VERSION" val="3.0"/>
  <p:tag name="KSO_WM_UNIT_LAYERLEVEL" val="1"/>
  <p:tag name="KSO_WM_TEMPLATE_INDEX" val="4"/>
  <p:tag name="KSO_WM_TEMPLATE_CATEGORY" val="custom"/>
</p:tagLst>
</file>

<file path=ppt/tags/tag308.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09.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10.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11.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12.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13.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14.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15.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16.xml><?xml version="1.0" encoding="utf-8"?>
<p:tagLst xmlns:p="http://schemas.openxmlformats.org/presentationml/2006/main">
  <p:tag name="KSO_WM_UNIT_ID" val="_3**"/>
  <p:tag name="KSO_WM_BEAUTIFY_FLAG" val="#wm#"/>
  <p:tag name="KSO_WM_TAG_VERSION" val="3.0"/>
  <p:tag name="KSO_WM_UNIT_LAYERLEVEL" val="1"/>
  <p:tag name="KSO_WM_TEMPLATE_INDEX" val="4"/>
  <p:tag name="KSO_WM_TEMPLATE_CATEGORY" val="custom"/>
</p:tagLst>
</file>

<file path=ppt/tags/tag317.xml><?xml version="1.0" encoding="utf-8"?>
<p:tagLst xmlns:p="http://schemas.openxmlformats.org/presentationml/2006/main">
  <p:tag name="KSO_WM_UNIT_ID" val="_4**"/>
  <p:tag name="KSO_WM_BEAUTIFY_FLAG" val="#wm#"/>
  <p:tag name="KSO_WM_TAG_VERSION" val="3.0"/>
  <p:tag name="KSO_WM_UNIT_LAYERLEVEL" val="1"/>
  <p:tag name="KSO_WM_TEMPLATE_INDEX" val="4"/>
  <p:tag name="KSO_WM_TEMPLATE_CATEGORY" val="custom"/>
</p:tagLst>
</file>

<file path=ppt/tags/tag318.xml><?xml version="1.0" encoding="utf-8"?>
<p:tagLst xmlns:p="http://schemas.openxmlformats.org/presentationml/2006/main">
  <p:tag name="KSO_WM_UNIT_ID" val="_4**"/>
  <p:tag name="KSO_WM_BEAUTIFY_FLAG" val="#wm#"/>
  <p:tag name="KSO_WM_TAG_VERSION" val="3.0"/>
  <p:tag name="KSO_WM_UNIT_LAYERLEVEL" val="1"/>
  <p:tag name="KSO_WM_TEMPLATE_INDEX" val="4"/>
  <p:tag name="KSO_WM_TEMPLATE_CATEGORY" val="custom"/>
</p:tagLst>
</file>

<file path=ppt/tags/tag319.xml><?xml version="1.0" encoding="utf-8"?>
<p:tagLst xmlns:p="http://schemas.openxmlformats.org/presentationml/2006/main">
  <p:tag name="KSO_WM_UNIT_ID" val="_4**"/>
  <p:tag name="KSO_WM_BEAUTIFY_FLAG" val="#wm#"/>
  <p:tag name="KSO_WM_TAG_VERSION" val="3.0"/>
  <p:tag name="KSO_WM_UNIT_LAYERLEVEL" val="1"/>
  <p:tag name="KSO_WM_TEMPLATE_INDEX" val="4"/>
  <p:tag name="KSO_WM_TEMPLATE_CATEGORY" val="custom"/>
</p:tagLst>
</file>

<file path=ppt/tags/tag320.xml><?xml version="1.0" encoding="utf-8"?>
<p:tagLst xmlns:p="http://schemas.openxmlformats.org/presentationml/2006/main">
  <p:tag name="KSO_WM_UNIT_ID" val="_4**"/>
  <p:tag name="KSO_WM_BEAUTIFY_FLAG" val="#wm#"/>
  <p:tag name="KSO_WM_TAG_VERSION" val="3.0"/>
  <p:tag name="KSO_WM_UNIT_LAYERLEVEL" val="1"/>
  <p:tag name="KSO_WM_TEMPLATE_INDEX" val="4"/>
  <p:tag name="KSO_WM_TEMPLATE_CATEGORY" val="custom"/>
</p:tagLst>
</file>

<file path=ppt/tags/tag321.xml><?xml version="1.0" encoding="utf-8"?>
<p:tagLst xmlns:p="http://schemas.openxmlformats.org/presentationml/2006/main">
  <p:tag name="KSO_WM_UNIT_ID" val="_0**"/>
  <p:tag name="KSO_WM_BEAUTIFY_FLAG" val="#wm#"/>
  <p:tag name="KSO_WM_TAG_VERSION" val="3.0"/>
  <p:tag name="KSO_WM_UNIT_LAYERLEVEL" val="1"/>
  <p:tag name="KSO_WM_TEMPLATE_INDEX" val="4"/>
  <p:tag name="KSO_WM_TEMPLATE_CATEGORY" val="custom"/>
</p:tagLst>
</file>

<file path=ppt/tags/tag322.xml><?xml version="1.0" encoding="utf-8"?>
<p:tagLst xmlns:p="http://schemas.openxmlformats.org/presentationml/2006/main">
  <p:tag name="KSO_WM_UNIT_ID" val="_0**"/>
  <p:tag name="KSO_WM_BEAUTIFY_FLAG" val="#wm#"/>
  <p:tag name="KSO_WM_TAG_VERSION" val="3.0"/>
  <p:tag name="KSO_WM_UNIT_LAYERLEVEL" val="1"/>
  <p:tag name="KSO_WM_TEMPLATE_INDEX" val="4"/>
  <p:tag name="KSO_WM_TEMPLATE_CATEGORY" val="custom"/>
</p:tagLst>
</file>

<file path=ppt/tags/tag323.xml><?xml version="1.0" encoding="utf-8"?>
<p:tagLst xmlns:p="http://schemas.openxmlformats.org/presentationml/2006/main">
  <p:tag name="KSO_WM_UNIT_ID" val="_0**"/>
  <p:tag name="KSO_WM_BEAUTIFY_FLAG" val="#wm#"/>
  <p:tag name="KSO_WM_TAG_VERSION" val="3.0"/>
  <p:tag name="KSO_WM_UNIT_LAYERLEVEL" val="1"/>
  <p:tag name="KSO_WM_TEMPLATE_INDEX" val="4"/>
  <p:tag name="KSO_WM_TEMPLATE_CATEGORY" val="custom"/>
</p:tagLst>
</file>

<file path=ppt/tags/tag324.xml><?xml version="1.0" encoding="utf-8"?>
<p:tagLst xmlns:p="http://schemas.openxmlformats.org/presentationml/2006/main">
  <p:tag name="KSO_WM_AITEMPLATE_STYLE_ID" val="0"/>
</p:tagLst>
</file>

<file path=ppt/tags/tag325.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26.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27.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28.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29.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30.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31.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32.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33.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34.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35.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36.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37.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38.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39.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40.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41.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42.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43.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44.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45.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46.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47.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48.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49.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50.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51.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52.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53.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54.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55.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56.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57.xml><?xml version="1.0" encoding="utf-8"?>
<p:tagLst xmlns:p="http://schemas.openxmlformats.org/presentationml/2006/main">
  <p:tag name="KSO_WM_BEAUTIFY_FLAG" val="#fgm#"/>
  <p:tag name="KSO_WM_FIGMA_FLAG" val="#fgm#"/>
  <p:tag name="KSO_WM_UNIT_INDEX" val="1"/>
  <p:tag name="KSO_WM_UNIT_TYPE" val="a"/>
  <p:tag name="KSO_WM_LAYOUT_CHECK_HASH" val="8edc77f65be303c8b000eb97ce735b615339f38c"/>
  <p:tag name="KSO_WM_NEWLAYOUT_GROUP_ID" val="layout_26"/>
  <p:tag name="KSO_WM_NEWLAYOUT_ID" val="slide_f735ce61ce8c34f7"/>
  <p:tag name="KSO_WM_UNIT_PRESET_TEXT" val="单击此处添加标题"/>
</p:tagLst>
</file>

<file path=ppt/tags/tag358.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f735ce61ce8c34f7"/>
</p:tagLst>
</file>

<file path=ppt/tags/tag359.xml><?xml version="1.0" encoding="utf-8"?>
<p:tagLst xmlns:p="http://schemas.openxmlformats.org/presentationml/2006/main">
  <p:tag name="KSO_WM_DIAGRAM_VIRTUALLY_FRAME" val="{&quot;height&quot;:190,&quot;left&quot;:40,&quot;top&quot;:125,&quot;width&quot;:878}"/>
</p:tagLst>
</file>

<file path=ppt/tags/tag360.xml><?xml version="1.0" encoding="utf-8"?>
<p:tagLst xmlns:p="http://schemas.openxmlformats.org/presentationml/2006/main">
  <p:tag name="KSO_WM_DIAGRAM_VIRTUALLY_FRAME" val="{&quot;height&quot;:190,&quot;left&quot;:40,&quot;top&quot;:125,&quot;width&quot;:878}"/>
</p:tagLst>
</file>

<file path=ppt/tags/tag361.xml><?xml version="1.0" encoding="utf-8"?>
<p:tagLst xmlns:p="http://schemas.openxmlformats.org/presentationml/2006/main">
  <p:tag name="KSO_WM_DIAGRAM_VIRTUALLY_FRAME" val="{&quot;height&quot;:190,&quot;left&quot;:40,&quot;top&quot;:125,&quot;width&quot;:878}"/>
</p:tagLst>
</file>

<file path=ppt/tags/tag362.xml><?xml version="1.0" encoding="utf-8"?>
<p:tagLst xmlns:p="http://schemas.openxmlformats.org/presentationml/2006/main">
  <p:tag name="KSO_WM_DIAGRAM_VIRTUALLY_FRAME" val="{&quot;height&quot;:190,&quot;left&quot;:40,&quot;top&quot;:125,&quot;width&quot;:878}"/>
</p:tagLst>
</file>

<file path=ppt/tags/tag363.xml><?xml version="1.0" encoding="utf-8"?>
<p:tagLst xmlns:p="http://schemas.openxmlformats.org/presentationml/2006/main">
  <p:tag name="KSO_WM_DIAGRAM_VIRTUALLY_FRAME" val="{&quot;height&quot;:190,&quot;left&quot;:40,&quot;top&quot;:125,&quot;width&quot;:878}"/>
</p:tagLst>
</file>

<file path=ppt/tags/tag364.xml><?xml version="1.0" encoding="utf-8"?>
<p:tagLst xmlns:p="http://schemas.openxmlformats.org/presentationml/2006/main">
  <p:tag name="KSO_WM_DIAGRAM_VIRTUALLY_FRAME" val="{&quot;height&quot;:190,&quot;left&quot;:40,&quot;top&quot;:125,&quot;width&quot;:878}"/>
</p:tagLst>
</file>

<file path=ppt/tags/tag365.xml><?xml version="1.0" encoding="utf-8"?>
<p:tagLst xmlns:p="http://schemas.openxmlformats.org/presentationml/2006/main">
  <p:tag name="KSO_WM_DIAGRAM_VIRTUALLY_FRAME" val="{&quot;height&quot;:190,&quot;left&quot;:40,&quot;top&quot;:125,&quot;width&quot;:878}"/>
</p:tagLst>
</file>

<file path=ppt/tags/tag366.xml><?xml version="1.0" encoding="utf-8"?>
<p:tagLst xmlns:p="http://schemas.openxmlformats.org/presentationml/2006/main">
  <p:tag name="KSO_WM_DIAGRAM_VIRTUALLY_FRAME" val="{&quot;height&quot;:190,&quot;left&quot;:40,&quot;top&quot;:125,&quot;width&quot;:878}"/>
</p:tagLst>
</file>

<file path=ppt/tags/tag367.xml><?xml version="1.0" encoding="utf-8"?>
<p:tagLst xmlns:p="http://schemas.openxmlformats.org/presentationml/2006/main">
  <p:tag name="KSO_WM_DIAGRAM_VIRTUALLY_FRAME" val="{&quot;height&quot;:190,&quot;left&quot;:40,&quot;top&quot;:125,&quot;width&quot;:878}"/>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5">
      <a:dk1>
        <a:sysClr val="windowText" lastClr="000000"/>
      </a:dk1>
      <a:lt1>
        <a:sysClr val="window" lastClr="FFFFFF"/>
      </a:lt1>
      <a:dk2>
        <a:srgbClr val="44546A"/>
      </a:dk2>
      <a:lt2>
        <a:srgbClr val="E7E6E6"/>
      </a:lt2>
      <a:accent1>
        <a:srgbClr val="1E426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8626</Words>
  <Application>WPS 演示</Application>
  <PresentationFormat/>
  <Paragraphs>384</Paragraphs>
  <Slides>27</Slides>
  <Notes>0</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27</vt:i4>
      </vt:variant>
    </vt:vector>
  </HeadingPairs>
  <TitlesOfParts>
    <vt:vector size="45" baseType="lpstr">
      <vt:lpstr>Arial</vt:lpstr>
      <vt:lpstr>宋体</vt:lpstr>
      <vt:lpstr>Wingdings</vt:lpstr>
      <vt:lpstr>Arial</vt:lpstr>
      <vt:lpstr>汉仪尚巍手书W</vt:lpstr>
      <vt:lpstr>Lato Regular</vt:lpstr>
      <vt:lpstr>Lato</vt:lpstr>
      <vt:lpstr>Lato Hairline</vt:lpstr>
      <vt:lpstr>Lato Light</vt:lpstr>
      <vt:lpstr>Oxford Regular</vt:lpstr>
      <vt:lpstr>Noto Sans SC</vt:lpstr>
      <vt:lpstr>Songti SC</vt:lpstr>
      <vt:lpstr>Segoe Print</vt:lpstr>
      <vt:lpstr>微软雅黑</vt:lpstr>
      <vt:lpstr>Arial Unicode MS</vt:lpstr>
      <vt:lpstr>Office 主题​​</vt:lpstr>
      <vt:lpstr>默认主题</vt:lpstr>
      <vt:lpstr>1_Office 主题​​</vt:lpstr>
      <vt:lpstr>PowerPoint 演示文稿</vt:lpstr>
      <vt:lpstr>PowerPoint 演示文稿</vt:lpstr>
      <vt:lpstr>PowerPoint 演示文稿</vt:lpstr>
      <vt:lpstr>PowerPoint 演示文稿</vt:lpstr>
      <vt:lpstr>2.1 AES128算法加密</vt:lpstr>
      <vt:lpstr>2.1 AES128算法加密</vt:lpstr>
      <vt:lpstr>2.1 带查表加速的AES128算法加密</vt:lpstr>
      <vt:lpstr>2.1 攻击思想 - 最终轮 </vt:lpstr>
      <vt:lpstr>2.1 攻击思想 - 最终轮 </vt:lpstr>
      <vt:lpstr>2.1 加密细节 - 最终轮 </vt:lpstr>
      <vt:lpstr>2.1 攻击切入点 - 最终轮 - T表</vt:lpstr>
      <vt:lpstr>2.1 监控策略解释</vt:lpstr>
      <vt:lpstr>2.1 攻击：flush and reload + 排除法</vt:lpstr>
      <vt:lpstr>2.1 攻击：flush and reload + 排除法</vt:lpstr>
      <vt:lpstr>2.1 攻击：flush and reload + 排除法</vt:lpstr>
      <vt:lpstr>2.1 计算得到原始密钥</vt:lpstr>
      <vt:lpstr>2.2 AES192算法加密</vt:lpstr>
      <vt:lpstr>2.2 攻击阶段一：恢复Kd1</vt:lpstr>
      <vt:lpstr>2.2 恢复Kd1：flush and reload+排除法</vt:lpstr>
      <vt:lpstr>2.2 恢复Kd1：flush and reload+排除法</vt:lpstr>
      <vt:lpstr>2.2 进一步分析 - 简化攻击过程</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杨宇鑫</cp:lastModifiedBy>
  <cp:revision>27</cp:revision>
  <dcterms:created xsi:type="dcterms:W3CDTF">2026-05-30T08:04:00Z</dcterms:created>
  <dcterms:modified xsi:type="dcterms:W3CDTF">2026-05-30T15:25:32Z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{"Label":"1","ContentProducer":"001191110102MACQD9K64010000","ProduceID":"7645583039360224460","ReservedCode1":"","ContentPropagator":"","PropagateID":"","ReservedCode2":""}</vt:lpwstr>
  </property>
  <property fmtid="{D5CDD505-2E9C-101B-9397-08002B2CF9AE}" pid="3" name="ICV">
    <vt:lpwstr>62CAB85A05DD40878446D8AB7B84CAB4_12</vt:lpwstr>
  </property>
  <property fmtid="{D5CDD505-2E9C-101B-9397-08002B2CF9AE}" pid="4" name="KSOProductBuildVer">
    <vt:lpwstr>2052-12.1.0.23542</vt:lpwstr>
  </property>
</Properties>
</file>