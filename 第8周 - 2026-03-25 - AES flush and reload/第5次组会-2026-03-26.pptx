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55"/>
  </p:handoutMasterIdLst>
  <p:sldIdLst>
    <p:sldId id="260" r:id="rId4"/>
    <p:sldId id="279" r:id="rId6"/>
    <p:sldId id="311" r:id="rId7"/>
    <p:sldId id="310" r:id="rId8"/>
    <p:sldId id="294" r:id="rId9"/>
    <p:sldId id="342" r:id="rId10"/>
    <p:sldId id="312" r:id="rId11"/>
    <p:sldId id="314" r:id="rId12"/>
    <p:sldId id="313" r:id="rId13"/>
    <p:sldId id="315" r:id="rId14"/>
    <p:sldId id="319" r:id="rId15"/>
    <p:sldId id="316" r:id="rId16"/>
    <p:sldId id="320" r:id="rId17"/>
    <p:sldId id="321" r:id="rId18"/>
    <p:sldId id="322" r:id="rId19"/>
    <p:sldId id="324" r:id="rId20"/>
    <p:sldId id="364" r:id="rId21"/>
    <p:sldId id="323" r:id="rId22"/>
    <p:sldId id="325" r:id="rId23"/>
    <p:sldId id="326" r:id="rId24"/>
    <p:sldId id="327" r:id="rId25"/>
    <p:sldId id="297" r:id="rId26"/>
    <p:sldId id="329" r:id="rId27"/>
    <p:sldId id="331" r:id="rId28"/>
    <p:sldId id="334" r:id="rId29"/>
    <p:sldId id="335" r:id="rId30"/>
    <p:sldId id="343" r:id="rId31"/>
    <p:sldId id="336" r:id="rId32"/>
    <p:sldId id="337" r:id="rId33"/>
    <p:sldId id="340" r:id="rId34"/>
    <p:sldId id="339" r:id="rId35"/>
    <p:sldId id="341" r:id="rId36"/>
    <p:sldId id="365" r:id="rId37"/>
    <p:sldId id="345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6" r:id="rId53"/>
    <p:sldId id="361" r:id="rId5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Oxford Regular" panose="02010600010101010101" charset="-122"/>
                <a:cs typeface="Oxford Regular" panose="02010600010101010101" charset="-122"/>
                <a:sym typeface="Oxford Regular" panose="02010600010101010101" charset="-122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9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7.xml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3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61.xml"/><Relationship Id="rId2" Type="http://schemas.openxmlformats.org/officeDocument/2006/relationships/image" Target="../media/image4.png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6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5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7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69.xml"/><Relationship Id="rId2" Type="http://schemas.openxmlformats.org/officeDocument/2006/relationships/image" Target="../media/image4.png"/><Relationship Id="rId1" Type="http://schemas.openxmlformats.org/officeDocument/2006/relationships/tags" Target="../tags/tag36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71.xml"/><Relationship Id="rId1" Type="http://schemas.openxmlformats.org/officeDocument/2006/relationships/tags" Target="../tags/tag370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7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37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75.xml"/><Relationship Id="rId2" Type="http://schemas.openxmlformats.org/officeDocument/2006/relationships/image" Target="../media/image24.png"/><Relationship Id="rId1" Type="http://schemas.openxmlformats.org/officeDocument/2006/relationships/tags" Target="../tags/tag37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7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79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8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8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80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3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38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5.xml"/><Relationship Id="rId2" Type="http://schemas.openxmlformats.org/officeDocument/2006/relationships/image" Target="../media/image29.png"/><Relationship Id="rId1" Type="http://schemas.openxmlformats.org/officeDocument/2006/relationships/tags" Target="../tags/tag384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7.xml"/><Relationship Id="rId2" Type="http://schemas.openxmlformats.org/officeDocument/2006/relationships/image" Target="../media/image29.png"/><Relationship Id="rId1" Type="http://schemas.openxmlformats.org/officeDocument/2006/relationships/tags" Target="../tags/tag386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9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tags" Target="../tags/tag388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9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tags" Target="../tags/tag390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98.xml"/><Relationship Id="rId1" Type="http://schemas.openxmlformats.org/officeDocument/2006/relationships/tags" Target="../tags/tag39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0.xml"/><Relationship Id="rId1" Type="http://schemas.openxmlformats.org/officeDocument/2006/relationships/tags" Target="../tags/tag39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2.xml"/><Relationship Id="rId1" Type="http://schemas.openxmlformats.org/officeDocument/2006/relationships/tags" Target="../tags/tag40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4.xml"/><Relationship Id="rId1" Type="http://schemas.openxmlformats.org/officeDocument/2006/relationships/tags" Target="../tags/tag40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6.xml"/><Relationship Id="rId1" Type="http://schemas.openxmlformats.org/officeDocument/2006/relationships/tags" Target="../tags/tag40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8.xml"/><Relationship Id="rId1" Type="http://schemas.openxmlformats.org/officeDocument/2006/relationships/tags" Target="../tags/tag407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10.xml"/><Relationship Id="rId2" Type="http://schemas.openxmlformats.org/officeDocument/2006/relationships/image" Target="../media/image4.png"/><Relationship Id="rId1" Type="http://schemas.openxmlformats.org/officeDocument/2006/relationships/tags" Target="../tags/tag409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12.xml"/><Relationship Id="rId2" Type="http://schemas.openxmlformats.org/officeDocument/2006/relationships/image" Target="../media/image4.png"/><Relationship Id="rId1" Type="http://schemas.openxmlformats.org/officeDocument/2006/relationships/tags" Target="../tags/tag41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414.xml"/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tags" Target="../tags/tag413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16.xml"/><Relationship Id="rId2" Type="http://schemas.openxmlformats.org/officeDocument/2006/relationships/image" Target="../media/image4.png"/><Relationship Id="rId1" Type="http://schemas.openxmlformats.org/officeDocument/2006/relationships/tags" Target="../tags/tag415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418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tags" Target="../tags/tag417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420.xml"/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tags" Target="../tags/tag419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42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tags" Target="../tags/tag42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42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tags" Target="../tags/tag423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26.xml"/><Relationship Id="rId2" Type="http://schemas.openxmlformats.org/officeDocument/2006/relationships/image" Target="../media/image4.png"/><Relationship Id="rId1" Type="http://schemas.openxmlformats.org/officeDocument/2006/relationships/tags" Target="../tags/tag425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28.xml"/><Relationship Id="rId2" Type="http://schemas.openxmlformats.org/officeDocument/2006/relationships/image" Target="../media/image4.png"/><Relationship Id="rId1" Type="http://schemas.openxmlformats.org/officeDocument/2006/relationships/tags" Target="../tags/tag42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30.xml"/><Relationship Id="rId1" Type="http://schemas.openxmlformats.org/officeDocument/2006/relationships/tags" Target="../tags/tag4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026.03.18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03675"/>
            <a:ext cx="117557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9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仍然使用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表，但只提取其包含的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盒结果的那些字节（因为不进行列混淆），然后与轮密钥异或</a:t>
            </a:r>
            <a:endParaRPr lang="zh-CN" altLang="en-US">
              <a:solidFill>
                <a:srgbClr val="2177F9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最终轮：仍然使用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表，但只提取其包含的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盒结果的那些字节（因为不进行列混淆），然后与轮密钥异或</a:t>
            </a:r>
            <a:endParaRPr lang="en-US" altLang="zh-CN">
              <a:solidFill>
                <a:srgbClr val="2177F9"/>
              </a:solidFill>
            </a:endParaRPr>
          </a:p>
          <a:p>
            <a:endParaRPr lang="en-US" altLang="zh-CN">
              <a:solidFill>
                <a:srgbClr val="2177F9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在最终轮中基于如下关系：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4780" y="390080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如何求出</a:t>
            </a:r>
            <a:r>
              <a:rPr lang="en-US" altLang="zh-CN"/>
              <a:t>x</a:t>
            </a:r>
            <a:r>
              <a:rPr lang="zh-CN" altLang="en-US"/>
              <a:t>？</a:t>
            </a:r>
            <a:endParaRPr lang="zh-CN" altLang="en-US"/>
          </a:p>
          <a:p>
            <a:r>
              <a:rPr lang="zh-CN" altLang="en-US"/>
              <a:t>因为需要进行</a:t>
            </a:r>
            <a:r>
              <a:rPr lang="zh-CN" altLang="en-US">
                <a:solidFill>
                  <a:srgbClr val="2177F9"/>
                </a:solidFill>
              </a:rPr>
              <a:t>针对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的查表</a:t>
            </a:r>
            <a:r>
              <a:rPr lang="zh-CN" altLang="en-US"/>
              <a:t>操作，</a:t>
            </a:r>
            <a:endParaRPr lang="zh-CN" altLang="en-US"/>
          </a:p>
          <a:p>
            <a:r>
              <a:rPr lang="zh-CN" altLang="en-US"/>
              <a:t>所以</a:t>
            </a:r>
            <a:r>
              <a:rPr lang="zh-CN" altLang="en-US">
                <a:solidFill>
                  <a:srgbClr val="FF0000"/>
                </a:solidFill>
              </a:rPr>
              <a:t>对表进行</a:t>
            </a:r>
            <a:r>
              <a:rPr lang="en-US" altLang="zh-CN">
                <a:solidFill>
                  <a:srgbClr val="FF0000"/>
                </a:solidFill>
              </a:rPr>
              <a:t>flush and reload</a:t>
            </a:r>
            <a:r>
              <a:rPr lang="zh-CN" altLang="en-US">
                <a:solidFill>
                  <a:srgbClr val="FF0000"/>
                </a:solidFill>
              </a:rPr>
              <a:t>监测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进而</a:t>
            </a:r>
            <a:r>
              <a:rPr lang="zh-CN" altLang="en-US">
                <a:solidFill>
                  <a:srgbClr val="2177F9"/>
                </a:solidFill>
              </a:rPr>
              <a:t>泄露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的值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使用</a:t>
            </a:r>
            <a:r>
              <a:rPr lang="en-US" altLang="zh-CN">
                <a:solidFill>
                  <a:schemeClr val="bg1"/>
                </a:solidFill>
              </a:rPr>
              <a:t>Te</a:t>
            </a:r>
            <a:r>
              <a:rPr lang="zh-CN" altLang="en-US">
                <a:solidFill>
                  <a:schemeClr val="bg1"/>
                </a:solidFill>
              </a:rPr>
              <a:t>表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密钥预处理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128</a:t>
            </a:r>
            <a:r>
              <a:rPr lang="zh-CN" altLang="en-US">
                <a:ln>
                  <a:noFill/>
                </a:ln>
              </a:rPr>
              <a:t>位种子密钥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按列填充到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的矩阵中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密钥扩展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扩展出</a:t>
            </a:r>
            <a:r>
              <a:rPr lang="en-US" altLang="zh-CN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11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个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 128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位的子密钥</a:t>
            </a:r>
            <a:r>
              <a:rPr lang="zh-CN" altLang="en-US">
                <a:ln>
                  <a:noFill/>
                </a:ln>
              </a:rPr>
              <a:t>，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</a:rPr>
              <a:t>                   </a:t>
            </a:r>
            <a:r>
              <a:rPr lang="zh-CN" altLang="en-US">
                <a:ln>
                  <a:noFill/>
                </a:ln>
              </a:rPr>
              <a:t>每个子密钥也是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的字节矩阵。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明文处理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   </a:t>
            </a:r>
            <a:r>
              <a:rPr lang="zh-CN" altLang="en-US">
                <a:ln>
                  <a:noFill/>
                </a:ln>
              </a:rPr>
              <a:t>取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>
                <a:ln>
                  <a:noFill/>
                </a:ln>
              </a:rPr>
              <a:t>明文（分组加密）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经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11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</a:t>
            </a:r>
            <a:r>
              <a:rPr lang="zh-CN" altLang="en-US">
                <a:ln>
                  <a:noFill/>
                </a:ln>
              </a:rPr>
              <a:t>加密：</a:t>
            </a:r>
            <a:endParaRPr lang="en-US" altLang="zh-CN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初始轮</a:t>
            </a:r>
            <a:r>
              <a:rPr lang="zh-CN" altLang="en-US">
                <a:ln>
                  <a:noFill/>
                </a:ln>
              </a:rPr>
              <a:t>：仅进行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（与第</a:t>
            </a:r>
            <a:r>
              <a:rPr lang="en-US" altLang="zh-CN">
                <a:ln>
                  <a:noFill/>
                </a:ln>
              </a:rPr>
              <a:t> 0 </a:t>
            </a:r>
            <a:r>
              <a:rPr lang="zh-CN" altLang="en-US">
                <a:ln>
                  <a:noFill/>
                </a:ln>
              </a:rPr>
              <a:t>轮密钥异或）。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轮标准轮</a:t>
            </a:r>
            <a:r>
              <a:rPr lang="zh-CN" altLang="en-US">
                <a:ln>
                  <a:noFill/>
                </a:ln>
              </a:rPr>
              <a:t>：每轮依次执行</a:t>
            </a:r>
            <a:r>
              <a:rPr lang="en-US" altLang="zh-CN">
                <a:ln>
                  <a:noFill/>
                </a:ln>
              </a:rPr>
              <a:t>            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最终轮</a:t>
            </a:r>
            <a:r>
              <a:rPr lang="zh-CN" altLang="en-US">
                <a:ln>
                  <a:noFill/>
                </a:ln>
              </a:rPr>
              <a:t>：依次执行</a:t>
            </a:r>
            <a:r>
              <a:rPr lang="en-US" altLang="zh-CN">
                <a:ln>
                  <a:noFill/>
                </a:ln>
              </a:rPr>
              <a:t>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（没有</a:t>
            </a:r>
            <a:r>
              <a:rPr lang="en-US" altLang="zh-CN">
                <a:ln>
                  <a:noFill/>
                </a:ln>
              </a:rPr>
              <a:t> MixColumns</a:t>
            </a:r>
            <a:r>
              <a:rPr lang="zh-CN" altLang="en-US">
                <a:ln>
                  <a:noFill/>
                </a:ln>
              </a:rPr>
              <a:t>）。</a:t>
            </a:r>
            <a:endParaRPr lang="zh-CN" altLang="en-US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可以预先计算</a:t>
            </a:r>
            <a:r>
              <a:rPr lang="en-US" altLang="zh-CN">
                <a:ln>
                  <a:noFill/>
                </a:ln>
                <a:sym typeface="+mn-ea"/>
              </a:rPr>
              <a:t>SubBytes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ShiftRows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MixColumns</a:t>
            </a:r>
            <a:r>
              <a:rPr lang="zh-CN" altLang="en-US">
                <a:ln>
                  <a:noFill/>
                </a:ln>
                <a:sym typeface="+mn-ea"/>
              </a:rPr>
              <a:t>，得到</a:t>
            </a:r>
            <a:r>
              <a:rPr lang="en-US" altLang="zh-CN">
                <a:ln>
                  <a:noFill/>
                </a:ln>
                <a:sym typeface="+mn-ea"/>
              </a:rPr>
              <a:t>4</a:t>
            </a:r>
            <a:r>
              <a:rPr lang="zh-CN" altLang="en-US">
                <a:ln>
                  <a:noFill/>
                </a:ln>
                <a:sym typeface="+mn-ea"/>
              </a:rPr>
              <a:t>张</a:t>
            </a:r>
            <a:r>
              <a:rPr lang="en-US" altLang="zh-CN">
                <a:ln>
                  <a:noFill/>
                </a:ln>
                <a:sym typeface="+mn-ea"/>
              </a:rPr>
              <a:t>256</a:t>
            </a:r>
            <a:r>
              <a:rPr lang="zh-CN" altLang="en-US">
                <a:ln>
                  <a:noFill/>
                </a:ln>
                <a:sym typeface="+mn-ea"/>
              </a:rPr>
              <a:t>×</a:t>
            </a:r>
            <a:r>
              <a:rPr lang="en-US" altLang="zh-CN">
                <a:ln>
                  <a:noFill/>
                </a:ln>
                <a:sym typeface="+mn-ea"/>
              </a:rPr>
              <a:t>32bit</a:t>
            </a:r>
            <a:r>
              <a:rPr lang="zh-CN" altLang="en-US">
                <a:ln>
                  <a:noFill/>
                </a:ln>
                <a:sym typeface="+mn-ea"/>
              </a:rPr>
              <a:t>的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表（</a:t>
            </a:r>
            <a:r>
              <a:rPr lang="en-US" altLang="zh-CN">
                <a:ln>
                  <a:noFill/>
                </a:ln>
                <a:sym typeface="+mn-ea"/>
              </a:rPr>
              <a:t>Te0~Te3</a:t>
            </a:r>
            <a:r>
              <a:rPr lang="zh-CN" altLang="en-US">
                <a:ln>
                  <a:noFill/>
                </a:ln>
                <a:sym typeface="+mn-ea"/>
              </a:rPr>
              <a:t>）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en-US" altLang="zh-CN">
                <a:ln>
                  <a:noFill/>
                </a:ln>
                <a:sym typeface="+mn-ea"/>
              </a:rPr>
              <a:t>9</a:t>
            </a:r>
            <a:r>
              <a:rPr lang="zh-CN" altLang="en-US">
                <a:ln>
                  <a:noFill/>
                </a:ln>
                <a:sym typeface="+mn-ea"/>
              </a:rPr>
              <a:t>轮标准轮：每轮输入状态直接通过查询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表得到结果，然后与轮密钥异或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最终轮：仍然使用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表，但只提取其包含的</a:t>
            </a:r>
            <a:r>
              <a:rPr lang="en-US" altLang="zh-CN">
                <a:ln>
                  <a:noFill/>
                </a:ln>
                <a:sym typeface="+mn-ea"/>
              </a:rPr>
              <a:t>S</a:t>
            </a:r>
            <a:r>
              <a:rPr lang="zh-CN" altLang="en-US">
                <a:ln>
                  <a:noFill/>
                </a:ln>
                <a:sym typeface="+mn-ea"/>
              </a:rPr>
              <a:t>盒结果的那些字节（因为不进行列混淆），然后与轮密钥异或</a:t>
            </a:r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117975" y="2373630"/>
            <a:ext cx="1482725" cy="33528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046470" y="2382520"/>
            <a:ext cx="4465955" cy="3257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62880" y="2889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轮密钥加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5939790" y="171831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2.3 </a:t>
            </a:r>
            <a:r>
              <a:rPr lang="zh-CN" altLang="en-US">
                <a:solidFill>
                  <a:schemeClr val="bg1"/>
                </a:solidFill>
              </a:rPr>
              <a:t>攻击切入点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- T</a:t>
            </a:r>
            <a:r>
              <a:rPr lang="zh-CN" altLang="en-US">
                <a:solidFill>
                  <a:schemeClr val="bg1"/>
                </a:solidFill>
              </a:rPr>
              <a:t>表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450" y="5899150"/>
            <a:ext cx="7664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攻击方法：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flush and reload + 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排除法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监控策略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解释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74725"/>
            <a:ext cx="11442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为什么攻击者只需监控每个</a:t>
            </a: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zh-CN" altLang="en-US">
                <a:solidFill>
                  <a:srgbClr val="FF0000"/>
                </a:solidFill>
              </a:rPr>
              <a:t>表的第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号缓存行？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295" y="1544955"/>
            <a:ext cx="1204277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>
                <a:solidFill>
                  <a:srgbClr val="2177F9"/>
                </a:solidFill>
              </a:rPr>
              <a:t>足够的信息量</a:t>
            </a:r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r>
              <a:rPr lang="en-US" altLang="zh-CN"/>
              <a:t>2. </a:t>
            </a:r>
            <a:r>
              <a:rPr lang="zh-CN" altLang="en-US">
                <a:solidFill>
                  <a:srgbClr val="2177F9"/>
                </a:solidFill>
              </a:rPr>
              <a:t>降低</a:t>
            </a:r>
            <a:r>
              <a:rPr lang="zh-CN" altLang="en-US">
                <a:solidFill>
                  <a:srgbClr val="2177F9"/>
                </a:solidFill>
              </a:rPr>
              <a:t>单次攻击开销</a:t>
            </a:r>
            <a:endParaRPr lang="zh-CN" altLang="en-US">
              <a:solidFill>
                <a:srgbClr val="2177F9"/>
              </a:solidFill>
            </a:endParaRPr>
          </a:p>
          <a:p>
            <a:endParaRPr lang="en-US" altLang="zh-CN"/>
          </a:p>
          <a:p>
            <a:r>
              <a:rPr lang="zh-CN" altLang="en-US">
                <a:solidFill>
                  <a:srgbClr val="00B050"/>
                </a:solidFill>
              </a:rPr>
              <a:t>减少刷新时间</a:t>
            </a:r>
            <a:r>
              <a:rPr lang="zh-CN" altLang="en-US"/>
              <a:t>：每次加密前需要刷新所有监控的缓存行。若只监控</a:t>
            </a:r>
            <a:r>
              <a:rPr lang="en-US" altLang="zh-CN"/>
              <a:t> 4 </a:t>
            </a:r>
            <a:r>
              <a:rPr lang="zh-CN" altLang="en-US"/>
              <a:t>个缓存行（每个</a:t>
            </a:r>
            <a:r>
              <a:rPr lang="en-US" altLang="zh-CN"/>
              <a:t> T </a:t>
            </a:r>
            <a:r>
              <a:rPr lang="zh-CN" altLang="en-US"/>
              <a:t>表一个），只需执行</a:t>
            </a:r>
            <a:r>
              <a:rPr lang="en-US" altLang="zh-CN"/>
              <a:t> 4 </a:t>
            </a:r>
            <a:r>
              <a:rPr lang="zh-CN" altLang="en-US"/>
              <a:t>次</a:t>
            </a:r>
            <a:r>
              <a:rPr lang="en-US" altLang="zh-CN"/>
              <a:t> clflush</a:t>
            </a:r>
            <a:r>
              <a:rPr lang="zh-CN" altLang="en-US"/>
              <a:t>；若监控全部</a:t>
            </a:r>
            <a:r>
              <a:rPr lang="en-US" altLang="zh-CN"/>
              <a:t> 64 </a:t>
            </a:r>
            <a:r>
              <a:rPr lang="zh-CN" altLang="en-US"/>
              <a:t>个缓存行（每个表</a:t>
            </a:r>
            <a:r>
              <a:rPr lang="en-US" altLang="zh-CN"/>
              <a:t> 16 </a:t>
            </a:r>
            <a:r>
              <a:rPr lang="zh-CN" altLang="en-US"/>
              <a:t>行），则需要</a:t>
            </a:r>
            <a:r>
              <a:rPr lang="en-US" altLang="zh-CN"/>
              <a:t> 64 </a:t>
            </a:r>
            <a:r>
              <a:rPr lang="zh-CN" altLang="en-US"/>
              <a:t>次</a:t>
            </a:r>
            <a:r>
              <a:rPr lang="en-US" altLang="zh-CN"/>
              <a:t> clflush</a:t>
            </a:r>
            <a:r>
              <a:rPr lang="zh-CN" altLang="en-US"/>
              <a:t>，这会使攻击明显变慢，且可能干扰受害者的执行。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00B050"/>
                </a:solidFill>
              </a:rPr>
              <a:t>减少测量时间</a:t>
            </a:r>
            <a:r>
              <a:rPr lang="zh-CN" altLang="en-US"/>
              <a:t>：加密后需要测量所有监控行的访问时间。</a:t>
            </a:r>
            <a:r>
              <a:rPr lang="en-US" altLang="zh-CN"/>
              <a:t>4 </a:t>
            </a:r>
            <a:r>
              <a:rPr lang="zh-CN" altLang="en-US"/>
              <a:t>次测量远少于</a:t>
            </a:r>
            <a:r>
              <a:rPr lang="en-US" altLang="zh-CN"/>
              <a:t> 64 </a:t>
            </a:r>
            <a:r>
              <a:rPr lang="zh-CN" altLang="en-US"/>
              <a:t>次，减少了测量噪声和延迟。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00B050"/>
                </a:solidFill>
              </a:rPr>
              <a:t>增加隐蔽性</a:t>
            </a:r>
            <a:r>
              <a:rPr lang="zh-CN" altLang="en-US"/>
              <a:t>：频繁刷新大量缓存行会显著增加受害者加密的缓存缺失次数，容易被检测或防御机制发现。只监控少量行则更隐蔽。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测量的时间序列稳定，</a:t>
            </a:r>
            <a:r>
              <a:rPr lang="zh-CN" altLang="en-US">
                <a:solidFill>
                  <a:srgbClr val="2177F9"/>
                </a:solidFill>
              </a:rPr>
              <a:t>阈值容易校准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54190" y="4418330"/>
            <a:ext cx="50349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这样，通过多次加密不同样本，正确密钥值被排除的次数极少，而错误候选被大量排除，最终选择</a:t>
            </a:r>
            <a:r>
              <a:rPr lang="zh-CN" altLang="en-US">
                <a:solidFill>
                  <a:srgbClr val="FF0000"/>
                </a:solidFill>
              </a:rPr>
              <a:t>被排除次数最少的候选作为恢复的密钥字节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6835775" y="4403725"/>
            <a:ext cx="5074920" cy="98869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2.5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攻击原理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概率论视角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00965" y="1137920"/>
            <a:ext cx="118846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每个</a:t>
            </a:r>
            <a:r>
              <a:rPr lang="en-US" altLang="zh-CN">
                <a:solidFill>
                  <a:srgbClr val="2177F9"/>
                </a:solidFill>
              </a:rPr>
              <a:t> T </a:t>
            </a:r>
            <a:r>
              <a:rPr lang="zh-CN" altLang="en-US">
                <a:solidFill>
                  <a:srgbClr val="2177F9"/>
                </a:solidFill>
              </a:rPr>
              <a:t>表在一次加密中被访问</a:t>
            </a:r>
            <a:r>
              <a:rPr lang="en-US" altLang="zh-CN">
                <a:solidFill>
                  <a:srgbClr val="2177F9"/>
                </a:solidFill>
              </a:rPr>
              <a:t> 40 </a:t>
            </a:r>
            <a:r>
              <a:rPr lang="zh-CN" altLang="en-US">
                <a:solidFill>
                  <a:srgbClr val="2177F9"/>
                </a:solidFill>
              </a:rPr>
              <a:t>次</a:t>
            </a:r>
            <a:r>
              <a:rPr lang="zh-CN" altLang="en-US"/>
              <a:t>（</a:t>
            </a:r>
            <a:r>
              <a:rPr lang="en-US" altLang="zh-CN"/>
              <a:t>10 </a:t>
            </a:r>
            <a:r>
              <a:rPr lang="zh-CN" altLang="en-US"/>
              <a:t>轮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每轮</a:t>
            </a:r>
            <a:r>
              <a:rPr lang="en-US" altLang="zh-CN"/>
              <a:t> 4 </a:t>
            </a:r>
            <a:r>
              <a:rPr lang="zh-CN" altLang="en-US"/>
              <a:t>次）。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每次访问的输入字节均匀随机，落在监控范围 0~15 的概率为 16/256 = 1/16，不落在的概率为 15/16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Flush+Reload </a:t>
            </a:r>
            <a:r>
              <a:rPr lang="zh-CN" altLang="en-US"/>
              <a:t>攻击中，</a:t>
            </a:r>
            <a:r>
              <a:rPr lang="zh-CN" altLang="en-US">
                <a:solidFill>
                  <a:srgbClr val="FF0000"/>
                </a:solidFill>
              </a:rPr>
              <a:t>每个 T 表在单次加密中未被访问的概率为 p = (15/16)^40 ≈ 0.0756</a:t>
            </a:r>
            <a:r>
              <a:rPr lang="zh-CN" altLang="en-US"/>
              <a:t>。由于有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T </a:t>
            </a:r>
            <a:r>
              <a:rPr lang="zh-CN" altLang="en-US"/>
              <a:t>表，且每个表未命中时会影响该表负责的</a:t>
            </a:r>
            <a:r>
              <a:rPr lang="en-US" altLang="zh-CN"/>
              <a:t> 4 </a:t>
            </a:r>
            <a:r>
              <a:rPr lang="zh-CN" altLang="en-US"/>
              <a:t>个密钥字节（每个字节排除</a:t>
            </a:r>
            <a:r>
              <a:rPr lang="en-US" altLang="zh-CN"/>
              <a:t> 16 </a:t>
            </a:r>
            <a:r>
              <a:rPr lang="zh-CN" altLang="en-US"/>
              <a:t>个候选值），因此</a:t>
            </a:r>
            <a:r>
              <a:rPr lang="zh-CN" altLang="en-US">
                <a:solidFill>
                  <a:srgbClr val="FF0000"/>
                </a:solidFill>
              </a:rPr>
              <a:t>一次加密中期望排除的候选总个数为：4 × p × 4 × 16 = 256p ≈ 256 × 0.0756 ≈ 19.35 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endParaRPr lang="zh-CN" altLang="en-US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zh-CN" altLang="en-US"/>
              <a:t>这表示平均每次加密会在所有</a:t>
            </a:r>
            <a:r>
              <a:rPr lang="en-US" altLang="zh-CN"/>
              <a:t> 16 </a:t>
            </a:r>
            <a:r>
              <a:rPr lang="zh-CN" altLang="en-US"/>
              <a:t>个密钥字节上累计增加约</a:t>
            </a:r>
            <a:r>
              <a:rPr lang="en-US" altLang="zh-CN"/>
              <a:t> 19.35 </a:t>
            </a:r>
            <a:r>
              <a:rPr lang="zh-CN" altLang="en-US"/>
              <a:t>个排除计数。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对于某个具体的密钥字节，它只受一个 T 表影响，因此该字节上的某个固定错误候选值被排除的概率为</a:t>
            </a:r>
            <a:r>
              <a:rPr lang="en-US" altLang="zh-CN">
                <a:solidFill>
                  <a:srgbClr val="2177F9"/>
                </a:solidFill>
              </a:rPr>
              <a:t> p </a:t>
            </a:r>
            <a:r>
              <a:rPr lang="en-US" altLang="en-US">
                <a:solidFill>
                  <a:srgbClr val="2177F9"/>
                </a:solidFill>
              </a:rPr>
              <a:t>×</a:t>
            </a:r>
            <a:r>
              <a:rPr lang="en-US" altLang="zh-CN">
                <a:solidFill>
                  <a:srgbClr val="2177F9"/>
                </a:solidFill>
              </a:rPr>
              <a:t> 16/256 = p/16 ≈ 0.004725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经过 N 次加密，该错误候选被排除的期望次数为 N · p/16</a:t>
            </a:r>
            <a:r>
              <a:rPr lang="zh-CN" altLang="en-US"/>
              <a:t>，而正确候选的排除次数理论上为</a:t>
            </a:r>
            <a:r>
              <a:rPr lang="en-US" altLang="zh-CN"/>
              <a:t> 0</a:t>
            </a:r>
            <a:r>
              <a:rPr lang="zh-CN" altLang="en-US"/>
              <a:t>。</a:t>
            </a:r>
            <a:r>
              <a:rPr lang="zh-CN" altLang="en-US">
                <a:solidFill>
                  <a:srgbClr val="2177F9"/>
                </a:solidFill>
              </a:rPr>
              <a:t>当 N =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时，期望排除</a:t>
            </a:r>
            <a:r>
              <a:rPr lang="zh-CN" altLang="en-US">
                <a:solidFill>
                  <a:srgbClr val="2177F9"/>
                </a:solidFill>
              </a:rPr>
              <a:t>个数约为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× 0.004725 ≈ </a:t>
            </a:r>
            <a:r>
              <a:rPr lang="en-US" altLang="zh-CN">
                <a:solidFill>
                  <a:srgbClr val="2177F9"/>
                </a:solidFill>
              </a:rPr>
              <a:t>23.625</a:t>
            </a:r>
            <a:r>
              <a:rPr lang="zh-CN" altLang="en-US">
                <a:solidFill>
                  <a:srgbClr val="2177F9"/>
                </a:solidFill>
              </a:rPr>
              <a:t> 个</a:t>
            </a:r>
            <a:r>
              <a:rPr lang="zh-CN" altLang="en-US"/>
              <a:t>，此时正确候选的计数期望</a:t>
            </a:r>
            <a:r>
              <a:rPr lang="en-US" altLang="zh-CN"/>
              <a:t> 0 </a:t>
            </a:r>
            <a:r>
              <a:rPr lang="zh-CN" altLang="en-US"/>
              <a:t>远小于所有错误候选的计数，因此分界非常明显。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3.1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环境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955040"/>
            <a:ext cx="12192635" cy="590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 </a:t>
            </a:r>
            <a:r>
              <a:rPr lang="zh-CN" altLang="en-US"/>
              <a:t>实验环境：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硬件环境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CPU型号</a:t>
            </a:r>
            <a:r>
              <a:rPr lang="en-US" altLang="zh-CN"/>
              <a:t>: 11th Gen Intel(R) Core(TM) i5-1135G7 @ 2.40GHz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CPU核心数</a:t>
            </a:r>
            <a:r>
              <a:rPr lang="en-US" altLang="zh-CN"/>
              <a:t>: 2</a:t>
            </a:r>
            <a:r>
              <a:rPr lang="zh-CN" altLang="en-US"/>
              <a:t>核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内存</a:t>
            </a:r>
            <a:r>
              <a:rPr lang="en-US" altLang="zh-CN"/>
              <a:t>: 2GB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架构</a:t>
            </a:r>
            <a:r>
              <a:rPr lang="en-US" altLang="zh-CN"/>
              <a:t>: x86_64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缓存行大小</a:t>
            </a:r>
            <a:r>
              <a:rPr lang="en-US" altLang="zh-CN"/>
              <a:t>: 64</a:t>
            </a:r>
            <a:r>
              <a:rPr lang="zh-CN" altLang="en-US"/>
              <a:t>字节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软件环境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操作系统</a:t>
            </a:r>
            <a:r>
              <a:rPr lang="en-US" altLang="zh-CN"/>
              <a:t>: Ubuntu 20.04.6 LTS (Focal Fossa)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内核版本</a:t>
            </a:r>
            <a:r>
              <a:rPr lang="en-US" altLang="zh-CN"/>
              <a:t>: Linux 5.15.0-139-generic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编译器</a:t>
            </a:r>
            <a:r>
              <a:rPr lang="en-US" altLang="zh-CN"/>
              <a:t>: GCC 9.4.0</a:t>
            </a:r>
            <a:endParaRPr lang="en-US" altLang="zh-CN"/>
          </a:p>
          <a:p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CFLAGS = -O0 -g -march=native -Wall -fno-stack-protector -Iinclude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编译选项说明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-O0</a:t>
            </a:r>
            <a:r>
              <a:rPr lang="en-US" altLang="zh-CN"/>
              <a:t>: </a:t>
            </a:r>
            <a:r>
              <a:rPr lang="zh-CN" altLang="en-US"/>
              <a:t>禁用优化，确保内存访问不被编译器优化掉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-march=native</a:t>
            </a:r>
            <a:r>
              <a:rPr lang="en-US" altLang="zh-CN"/>
              <a:t>: </a:t>
            </a:r>
            <a:r>
              <a:rPr lang="zh-CN" altLang="en-US"/>
              <a:t>针对当前</a:t>
            </a:r>
            <a:r>
              <a:rPr lang="en-US" altLang="zh-CN"/>
              <a:t>CPU</a:t>
            </a:r>
            <a:r>
              <a:rPr lang="zh-CN" altLang="en-US"/>
              <a:t>架构优化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-fno-stack-protector</a:t>
            </a:r>
            <a:r>
              <a:rPr lang="en-US" altLang="zh-CN"/>
              <a:t>: </a:t>
            </a:r>
            <a:r>
              <a:rPr lang="zh-CN" altLang="en-US"/>
              <a:t>避免栈保护代码干扰缓存行为</a:t>
            </a:r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初始化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" y="1322705"/>
            <a:ext cx="4953000" cy="1638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8275" y="95440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3.2.1 </a:t>
            </a:r>
            <a:r>
              <a:rPr lang="zh-CN" altLang="en-US"/>
              <a:t>参数</a:t>
            </a:r>
            <a:r>
              <a:rPr lang="zh-CN" altLang="en-US"/>
              <a:t>校验：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3.2.2 </a:t>
            </a:r>
            <a:r>
              <a:rPr lang="zh-CN" altLang="en-US"/>
              <a:t>创建共享</a:t>
            </a:r>
            <a:r>
              <a:rPr lang="zh-CN" altLang="en-US"/>
              <a:t>内存：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" y="3510915"/>
            <a:ext cx="4733925" cy="1800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53455" y="94551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3.2.3 </a:t>
            </a:r>
            <a:r>
              <a:rPr lang="zh-CN" altLang="en-US"/>
              <a:t>创建通信管道：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3.2.4 </a:t>
            </a:r>
            <a:r>
              <a:rPr lang="zh-CN" altLang="en-US"/>
              <a:t>准备测试</a:t>
            </a:r>
            <a:r>
              <a:rPr lang="zh-CN" altLang="en-US"/>
              <a:t>密钥：</a:t>
            </a:r>
            <a:endParaRPr lang="zh-CN" altLang="en-US"/>
          </a:p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560" y="1322705"/>
            <a:ext cx="5362575" cy="1571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560" y="3510915"/>
            <a:ext cx="5438775" cy="26765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>
                <a:solidFill>
                  <a:srgbClr val="FF0000"/>
                </a:solidFill>
              </a:rPr>
              <a:t>fork()</a:t>
            </a:r>
            <a:r>
              <a:rPr lang="zh-CN" altLang="en-US">
                <a:solidFill>
                  <a:schemeClr val="tx1"/>
                </a:solidFill>
              </a:rPr>
              <a:t>系统调用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603375"/>
            <a:ext cx="5995670" cy="26917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694420" y="4562475"/>
            <a:ext cx="2109470" cy="149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768330" y="446532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rgbClr val="FF0000"/>
                </a:solidFill>
              </a:rPr>
              <a:t>通过管道与攻击者进程</a:t>
            </a:r>
            <a:endParaRPr lang="zh-CN" altLang="en-US" sz="800">
              <a:solidFill>
                <a:srgbClr val="FF0000"/>
              </a:solidFill>
            </a:endParaRPr>
          </a:p>
          <a:p>
            <a:r>
              <a:rPr lang="zh-CN" altLang="en-US" sz="800">
                <a:solidFill>
                  <a:srgbClr val="FF0000"/>
                </a:solidFill>
              </a:rPr>
              <a:t>通信，实现进程同步。</a:t>
            </a:r>
            <a:endParaRPr lang="zh-CN" altLang="en-US" sz="8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攻击者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515"/>
            <a:ext cx="6356350" cy="23234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15" y="1309370"/>
            <a:ext cx="4924425" cy="4619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</a:t>
            </a:r>
            <a:r>
              <a:rPr lang="zh-CN" altLang="en-US" sz="1600">
                <a:solidFill>
                  <a:srgbClr val="FF0000"/>
                </a:solidFill>
              </a:rPr>
              <a:t>阈值设为</a:t>
            </a:r>
            <a:r>
              <a:rPr lang="en-US" altLang="zh-CN" sz="1600">
                <a:solidFill>
                  <a:srgbClr val="FF0000"/>
                </a:solidFill>
              </a:rPr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</a:t>
            </a:r>
            <a:r>
              <a:rPr lang="zh-CN" altLang="en-US" sz="1600">
                <a:solidFill>
                  <a:srgbClr val="FF0000"/>
                </a:solidFill>
              </a:rPr>
              <a:t>整体无访问率</a:t>
            </a:r>
            <a:r>
              <a:rPr lang="en-US" altLang="zh-CN" sz="1600">
                <a:solidFill>
                  <a:srgbClr val="FF0000"/>
                </a:solidFill>
              </a:rPr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>
                <a:solidFill>
                  <a:srgbClr val="FF0000"/>
                </a:solidFill>
              </a:rPr>
              <a:t>有用样本（至少一个表未命中）共</a:t>
            </a:r>
            <a:r>
              <a:rPr lang="en-US" altLang="zh-CN" sz="1600">
                <a:solidFill>
                  <a:srgbClr val="FF0000"/>
                </a:solidFill>
              </a:rPr>
              <a:t> 1191 </a:t>
            </a:r>
            <a:r>
              <a:rPr lang="zh-CN" altLang="en-US" sz="1600">
                <a:solidFill>
                  <a:srgbClr val="FF0000"/>
                </a:solidFill>
              </a:rPr>
              <a:t>个，占总样本的</a:t>
            </a:r>
            <a:r>
              <a:rPr lang="en-US" altLang="zh-CN" sz="1600">
                <a:solidFill>
                  <a:srgbClr val="FF0000"/>
                </a:solidFill>
              </a:rPr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个周期，阈值设为</a:t>
            </a:r>
            <a:r>
              <a:rPr lang="en-US" altLang="zh-CN" sz="1600"/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，整体无访问率</a:t>
            </a:r>
            <a:r>
              <a:rPr lang="en-US" altLang="zh-CN" sz="1600"/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有用样本（至少一个表未命中）共</a:t>
            </a:r>
            <a:r>
              <a:rPr lang="en-US" altLang="zh-CN" sz="1600"/>
              <a:t> 1191 </a:t>
            </a:r>
            <a:r>
              <a:rPr lang="zh-CN" altLang="en-US" sz="1600"/>
              <a:t>个，占总样本的</a:t>
            </a:r>
            <a:r>
              <a:rPr lang="en-US" altLang="zh-CN" sz="1600"/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  <p:sp>
        <p:nvSpPr>
          <p:cNvPr id="3" name="矩形 2"/>
          <p:cNvSpPr/>
          <p:nvPr/>
        </p:nvSpPr>
        <p:spPr>
          <a:xfrm>
            <a:off x="476885" y="3097530"/>
            <a:ext cx="2400935" cy="215328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525" y="6169025"/>
            <a:ext cx="3098165" cy="2825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39920" y="4897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SUCCESS! </a:t>
            </a:r>
            <a:r>
              <a:rPr lang="zh-CN" altLang="en-US">
                <a:solidFill>
                  <a:srgbClr val="FF0000"/>
                </a:solidFill>
              </a:rPr>
              <a:t>成功恢复出原始</a:t>
            </a:r>
            <a:r>
              <a:rPr lang="zh-CN" altLang="en-US">
                <a:solidFill>
                  <a:srgbClr val="FF0000"/>
                </a:solidFill>
              </a:rPr>
              <a:t>密钥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</a:rPr>
              <a:t>其他测试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增加样本</a:t>
            </a:r>
            <a:r>
              <a:rPr lang="zh-CN" altLang="en-US">
                <a:solidFill>
                  <a:schemeClr val="bg1"/>
                </a:solidFill>
              </a:rPr>
              <a:t>量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" y="1355725"/>
            <a:ext cx="4147185" cy="2654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170" y="987425"/>
            <a:ext cx="4616450" cy="58089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0" y="9340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3.4.1 </a:t>
            </a:r>
            <a:r>
              <a:rPr lang="zh-CN" altLang="en-US"/>
              <a:t>将样本量增加到</a:t>
            </a:r>
            <a:r>
              <a:rPr lang="en-US" altLang="zh-CN"/>
              <a:t>50</a:t>
            </a:r>
            <a:r>
              <a:rPr lang="zh-CN" altLang="en-US"/>
              <a:t>万：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0" y="1676400"/>
            <a:ext cx="4540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可以看到总体的无访问率收敛</a:t>
            </a:r>
            <a:r>
              <a:rPr lang="zh-CN" altLang="en-US"/>
              <a:t>在了</a:t>
            </a:r>
            <a:r>
              <a:rPr lang="en-US" altLang="zh-CN"/>
              <a:t>7.5%</a:t>
            </a:r>
            <a:r>
              <a:rPr lang="zh-CN" altLang="en-US"/>
              <a:t>，和理论计算的结果</a:t>
            </a:r>
            <a:r>
              <a:rPr lang="zh-CN" altLang="en-US"/>
              <a:t>一致。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8393430" y="1499870"/>
            <a:ext cx="1217930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AES-128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成功率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统计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0" y="934085"/>
            <a:ext cx="12192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3.4.2 </a:t>
            </a:r>
            <a:r>
              <a:rPr lang="zh-CN" altLang="en-US"/>
              <a:t>对攻击</a:t>
            </a:r>
            <a:r>
              <a:rPr lang="en-US" altLang="zh-CN">
                <a:sym typeface="+mn-ea"/>
              </a:rPr>
              <a:t>AES-128</a:t>
            </a:r>
            <a:r>
              <a:rPr lang="zh-CN" altLang="en-US"/>
              <a:t>成功率的</a:t>
            </a:r>
            <a:r>
              <a:rPr lang="zh-CN" altLang="en-US"/>
              <a:t>测试：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5000</a:t>
            </a:r>
            <a:r>
              <a:rPr lang="zh-CN" altLang="en-US"/>
              <a:t>样本：</a:t>
            </a:r>
            <a:r>
              <a:rPr lang="en-US" altLang="zh-CN"/>
              <a:t>                                              </a:t>
            </a:r>
            <a:r>
              <a:rPr lang="en-US" altLang="zh-CN">
                <a:sym typeface="+mn-ea"/>
              </a:rPr>
              <a:t>10000</a:t>
            </a:r>
            <a:r>
              <a:rPr lang="zh-CN" altLang="en-US">
                <a:sym typeface="+mn-ea"/>
              </a:rPr>
              <a:t>样本：</a:t>
            </a:r>
            <a:r>
              <a:rPr lang="en-US" altLang="zh-CN">
                <a:sym typeface="+mn-ea"/>
              </a:rPr>
              <a:t>                                           20000</a:t>
            </a:r>
            <a:r>
              <a:rPr lang="zh-CN" altLang="en-US">
                <a:sym typeface="+mn-ea"/>
              </a:rPr>
              <a:t>样本：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" y="1945005"/>
            <a:ext cx="3533775" cy="4810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995" y="1946910"/>
            <a:ext cx="3547110" cy="4828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0" y="1945005"/>
            <a:ext cx="3418840" cy="482092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14300" y="6393180"/>
            <a:ext cx="1223645" cy="1962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316730" y="6421120"/>
            <a:ext cx="1214120" cy="1689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537575" y="6402705"/>
            <a:ext cx="1335405" cy="1866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AES192</a:t>
            </a:r>
            <a:r>
              <a:rPr lang="zh-CN" altLang="en-US" sz="3900" dirty="0">
                <a:solidFill>
                  <a:schemeClr val="bg1"/>
                </a:solidFill>
              </a:rPr>
              <a:t>和</a:t>
            </a:r>
            <a:r>
              <a:rPr lang="en-US" altLang="zh-CN" sz="3900" dirty="0">
                <a:solidFill>
                  <a:schemeClr val="bg1"/>
                </a:solidFill>
              </a:rPr>
              <a:t>AES256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026.03.26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>
                <a:solidFill>
                  <a:srgbClr val="00B050"/>
                </a:solidFill>
              </a:rPr>
              <a:t> 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</a:t>
            </a:r>
            <a:r>
              <a:rPr lang="zh-CN" altLang="en-US">
                <a:solidFill>
                  <a:srgbClr val="00B050"/>
                </a:solidFill>
              </a:rPr>
              <a:t> 查T表  </a:t>
            </a:r>
            <a:r>
              <a:rPr lang="en-US" altLang="zh-CN"/>
              <a:t>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</a:t>
            </a:r>
            <a:r>
              <a:rPr lang="zh-CN" altLang="en-US">
                <a:solidFill>
                  <a:srgbClr val="00B050"/>
                </a:solidFill>
              </a:rPr>
              <a:t>  查T表    </a:t>
            </a:r>
            <a:r>
              <a:rPr lang="en-US" altLang="zh-CN"/>
              <a:t>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 - 256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9390" y="3727450"/>
            <a:ext cx="11410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解决方案：</a:t>
            </a:r>
            <a:r>
              <a:rPr lang="en-US" altLang="zh-CN">
                <a:solidFill>
                  <a:schemeClr val="tx1"/>
                </a:solidFill>
              </a:rPr>
              <a:t>AES192</a:t>
            </a:r>
            <a:r>
              <a:rPr lang="zh-CN" altLang="en-US">
                <a:solidFill>
                  <a:schemeClr val="tx1"/>
                </a:solidFill>
              </a:rPr>
              <a:t>还需要恢复</a:t>
            </a:r>
            <a:r>
              <a:rPr lang="en-US" altLang="zh-CN">
                <a:solidFill>
                  <a:srgbClr val="FF0000"/>
                </a:solidFill>
              </a:rPr>
              <a:t>K11</a:t>
            </a:r>
            <a:r>
              <a:rPr lang="zh-CN" altLang="en-US">
                <a:solidFill>
                  <a:schemeClr val="tx1"/>
                </a:solidFill>
              </a:rPr>
              <a:t>，才能与</a:t>
            </a:r>
            <a:r>
              <a:rPr lang="en-US" altLang="zh-CN">
                <a:solidFill>
                  <a:schemeClr val="tx1"/>
                </a:solidFill>
              </a:rPr>
              <a:t>K12</a:t>
            </a:r>
            <a:r>
              <a:rPr lang="zh-CN" altLang="en-US">
                <a:solidFill>
                  <a:schemeClr val="tx1"/>
                </a:solidFill>
              </a:rPr>
              <a:t>一起逆向推导原始密钥。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                 AES256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还需要恢复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K13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，才能与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K14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一起逆向推导原始密钥。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5.2 </a:t>
            </a:r>
            <a:r>
              <a:rPr lang="zh-CN" altLang="en-US">
                <a:solidFill>
                  <a:schemeClr val="bg1"/>
                </a:solidFill>
              </a:rPr>
              <a:t>攻击阶段</a:t>
            </a:r>
            <a:r>
              <a:rPr lang="zh-CN" altLang="en-US">
                <a:solidFill>
                  <a:schemeClr val="bg1"/>
                </a:solidFill>
              </a:rPr>
              <a:t>一：恢复</a:t>
            </a:r>
            <a:r>
              <a:rPr lang="en-US" altLang="zh-CN">
                <a:solidFill>
                  <a:schemeClr val="bg1"/>
                </a:solidFill>
              </a:rPr>
              <a:t>K</a:t>
            </a:r>
            <a:r>
              <a:rPr lang="en-US" altLang="zh-CN">
                <a:solidFill>
                  <a:schemeClr val="bg1"/>
                </a:solidFill>
              </a:rPr>
              <a:t>d1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22655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AES192</a:t>
            </a:r>
            <a:r>
              <a:rPr lang="zh-CN" altLang="en-US"/>
              <a:t>的</a:t>
            </a:r>
            <a:r>
              <a:rPr lang="en-US" altLang="zh-CN"/>
              <a:t>K11</a:t>
            </a:r>
            <a:r>
              <a:rPr lang="zh-CN" altLang="en-US"/>
              <a:t>与</a:t>
            </a:r>
            <a:r>
              <a:rPr lang="en-US" altLang="zh-CN"/>
              <a:t>AES256</a:t>
            </a:r>
            <a:r>
              <a:rPr lang="zh-CN" altLang="en-US"/>
              <a:t>的</a:t>
            </a:r>
            <a:r>
              <a:rPr lang="en-US" altLang="zh-CN"/>
              <a:t>K13</a:t>
            </a:r>
            <a:r>
              <a:rPr lang="zh-CN" altLang="en-US"/>
              <a:t>恢复方法相同，以</a:t>
            </a:r>
            <a:r>
              <a:rPr lang="en-US" altLang="zh-CN">
                <a:solidFill>
                  <a:srgbClr val="FF0000"/>
                </a:solidFill>
              </a:rPr>
              <a:t>AES256</a:t>
            </a:r>
            <a:r>
              <a:rPr lang="zh-CN" altLang="en-US"/>
              <a:t>为例：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540"/>
            <a:ext cx="6910070" cy="55854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5560" y="1305560"/>
            <a:ext cx="5048885" cy="2387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87325" y="2515235"/>
            <a:ext cx="2321560" cy="2476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330450" y="5603875"/>
            <a:ext cx="2153920" cy="3708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804670" y="4385310"/>
            <a:ext cx="10363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5" y="937895"/>
            <a:ext cx="1218755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分析</a:t>
            </a:r>
            <a:r>
              <a:rPr lang="en-US" altLang="zh-CN"/>
              <a:t>AES</a:t>
            </a:r>
            <a:r>
              <a:rPr lang="zh-CN" altLang="en-US"/>
              <a:t>解密</a:t>
            </a:r>
            <a:r>
              <a:rPr lang="zh-CN" altLang="en-US"/>
              <a:t>过程：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AddRoundKey(Kd0)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D1 = D0 ⊕ Kd0</a:t>
            </a:r>
            <a:r>
              <a:rPr lang="zh-CN" altLang="en-US"/>
              <a:t>，其中</a:t>
            </a:r>
            <a:r>
              <a:rPr lang="en-US" altLang="zh-CN"/>
              <a:t> Kd0 = K14 (</a:t>
            </a:r>
            <a:r>
              <a:rPr lang="zh-CN" altLang="en-US"/>
              <a:t>已通过排除法恢复</a:t>
            </a:r>
            <a:r>
              <a:rPr lang="en-US" altLang="zh-CN"/>
              <a:t>)</a:t>
            </a:r>
            <a:r>
              <a:rPr lang="zh-CN" altLang="en-US"/>
              <a:t>，所以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D1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/>
              <a:t> InvShiftRows + InvSubBytes + InvMixColumns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计算中间值</a:t>
            </a:r>
            <a:r>
              <a:rPr lang="en-US" altLang="zh-CN">
                <a:sym typeface="+mn-ea"/>
              </a:rPr>
              <a:t> IV1 </a:t>
            </a:r>
            <a:r>
              <a:rPr lang="zh-CN" altLang="en-US">
                <a:sym typeface="+mn-ea"/>
              </a:rPr>
              <a:t>数组，</a:t>
            </a:r>
            <a:r>
              <a:rPr lang="zh-CN" altLang="en-US"/>
              <a:t>使用</a:t>
            </a:r>
            <a:r>
              <a:rPr lang="en-US" altLang="zh-CN"/>
              <a:t>Td</a:t>
            </a:r>
            <a:r>
              <a:rPr lang="zh-CN" altLang="en-US"/>
              <a:t>表实现：</a:t>
            </a:r>
            <a:endParaRPr lang="en-US" altLang="zh-CN"/>
          </a:p>
          <a:p>
            <a:r>
              <a:rPr lang="en-US" altLang="zh-CN"/>
              <a:t>IV1[0] = Td0[D1[0]] ⊕ Td1[D1[13]] ⊕ Td2[D1[10]] ⊕ Td3[D1[7]]</a:t>
            </a:r>
            <a:endParaRPr lang="en-US" altLang="zh-CN"/>
          </a:p>
          <a:p>
            <a:r>
              <a:rPr lang="en-US" altLang="zh-CN"/>
              <a:t>IV1[1] = Td0[D1[4]] ⊕ Td1[D1[1]] ⊕ Td2[D1[14]] ⊕ Td3[D1[11]]</a:t>
            </a:r>
            <a:endParaRPr lang="en-US" altLang="zh-CN"/>
          </a:p>
          <a:p>
            <a:r>
              <a:rPr lang="en-US" altLang="zh-CN"/>
              <a:t>IV1[2] = Td0[D1[8]] ⊕ Td1[D1[5]] ⊕ Td2[D1[2]] ⊕ Td3[D1[15]]</a:t>
            </a:r>
            <a:endParaRPr lang="en-US" altLang="zh-CN"/>
          </a:p>
          <a:p>
            <a:r>
              <a:rPr lang="en-US" altLang="zh-CN"/>
              <a:t>IV1[3] = Td0[D1[12]] ⊕ Td1[D1[9]] ⊕ Td2[D1[6]] ⊕ Td3[D1[3]]</a:t>
            </a:r>
            <a:endParaRPr lang="en-US" altLang="zh-CN"/>
          </a:p>
          <a:p>
            <a:r>
              <a:rPr lang="zh-CN" altLang="en-US"/>
              <a:t>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IV1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en-US" altLang="zh-CN"/>
              <a:t> AddRoundKey(Kd1)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D2 = IV1 ⊕ Kd1</a:t>
            </a:r>
            <a:r>
              <a:rPr lang="zh-CN" altLang="en-US"/>
              <a:t>，其中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Kd1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en-US" altLang="zh-CN"/>
              <a:t> (</a:t>
            </a:r>
            <a:r>
              <a:rPr lang="zh-CN" altLang="en-US"/>
              <a:t>需要恢复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>
                <a:solidFill>
                  <a:srgbClr val="2177F9"/>
                </a:solidFill>
              </a:rPr>
              <a:t>D2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观察到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Kd1</a:t>
            </a:r>
            <a:r>
              <a:rPr lang="en-US" altLang="zh-CN">
                <a:solidFill>
                  <a:srgbClr val="FF0000"/>
                </a:solidFill>
              </a:rPr>
              <a:t> = IV1 ⊕ D2</a:t>
            </a:r>
            <a:r>
              <a:rPr lang="zh-CN" altLang="en-US">
                <a:solidFill>
                  <a:schemeClr val="tx1"/>
                </a:solidFill>
              </a:rPr>
              <a:t>，即：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D2[0] = IV1[0] ⊕ Kd1[0]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D2[1] = IV1[1] ⊕ Kd1[1]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...                                    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D2[15] = IV1[15] ⊕ Kd1[15]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15" y="937895"/>
            <a:ext cx="12573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2177F9"/>
                </a:solidFill>
              </a:rPr>
              <a:t>D2</a:t>
            </a:r>
            <a:r>
              <a:rPr lang="zh-CN" altLang="en-US">
                <a:solidFill>
                  <a:srgbClr val="2177F9"/>
                </a:solidFill>
              </a:rPr>
              <a:t>与</a:t>
            </a:r>
            <a:r>
              <a:rPr lang="en-US" altLang="zh-CN">
                <a:solidFill>
                  <a:srgbClr val="2177F9"/>
                </a:solidFill>
              </a:rPr>
              <a:t>S13</a:t>
            </a:r>
            <a:r>
              <a:rPr lang="zh-CN" altLang="en-US">
                <a:solidFill>
                  <a:srgbClr val="2177F9"/>
                </a:solidFill>
              </a:rPr>
              <a:t>的对应关系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S13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的每个字节由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D2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的某个字节经过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S-box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变换得到，</a:t>
            </a:r>
            <a:r>
              <a:rPr lang="zh-CN" altLang="en-US">
                <a:solidFill>
                  <a:srgbClr val="2177F9"/>
                </a:solidFill>
              </a:rPr>
              <a:t>该映射也是双射，因此可以双向推导。</a:t>
            </a:r>
            <a:endParaRPr lang="zh-CN" altLang="en-US">
              <a:solidFill>
                <a:srgbClr val="2177F9"/>
              </a:solidFill>
            </a:endParaRPr>
          </a:p>
          <a:p>
            <a:endParaRPr lang="en-US" altLang="zh-CN">
              <a:solidFill>
                <a:srgbClr val="2177F9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S13 </a:t>
            </a:r>
            <a:r>
              <a:rPr lang="zh-CN" altLang="en-US">
                <a:solidFill>
                  <a:schemeClr val="tx1"/>
                </a:solidFill>
              </a:rPr>
              <a:t>是加密第</a:t>
            </a:r>
            <a:r>
              <a:rPr lang="en-US" altLang="zh-CN">
                <a:solidFill>
                  <a:schemeClr val="tx1"/>
                </a:solidFill>
              </a:rPr>
              <a:t>13</a:t>
            </a:r>
            <a:r>
              <a:rPr lang="zh-CN" altLang="en-US">
                <a:solidFill>
                  <a:schemeClr val="tx1"/>
                </a:solidFill>
              </a:rPr>
              <a:t>轮的输入状态，</a:t>
            </a:r>
            <a:r>
              <a:rPr lang="en-US" altLang="zh-CN">
                <a:solidFill>
                  <a:srgbClr val="2177F9"/>
                </a:solidFill>
              </a:rPr>
              <a:t>S13</a:t>
            </a:r>
            <a:r>
              <a:rPr lang="zh-CN" altLang="en-US">
                <a:solidFill>
                  <a:srgbClr val="2177F9"/>
                </a:solidFill>
              </a:rPr>
              <a:t>与</a:t>
            </a:r>
            <a:r>
              <a:rPr lang="en-US" altLang="zh-CN">
                <a:solidFill>
                  <a:srgbClr val="2177F9"/>
                </a:solidFill>
              </a:rPr>
              <a:t>Te</a:t>
            </a:r>
            <a:r>
              <a:rPr lang="zh-CN" altLang="en-US">
                <a:solidFill>
                  <a:srgbClr val="2177F9"/>
                </a:solidFill>
              </a:rPr>
              <a:t>表的对应关系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故，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可以通过监控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Te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表访问，使用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flush+reload+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排除法恢复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S13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" y="1315085"/>
            <a:ext cx="4170680" cy="20059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" y="3843020"/>
            <a:ext cx="6219825" cy="22777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5.3 </a:t>
            </a:r>
            <a:r>
              <a:rPr lang="zh-CN" altLang="en-US">
                <a:solidFill>
                  <a:schemeClr val="bg1"/>
                </a:solidFill>
              </a:rPr>
              <a:t>进一步分析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简化攻击</a:t>
            </a:r>
            <a:r>
              <a:rPr lang="zh-CN" altLang="en-US">
                <a:solidFill>
                  <a:schemeClr val="bg1"/>
                </a:solidFill>
              </a:rPr>
              <a:t>过程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020" y="981075"/>
            <a:ext cx="12077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两个攻击阶段中，通过监控</a:t>
            </a:r>
            <a:r>
              <a:rPr lang="en-US" altLang="zh-CN"/>
              <a:t>Te</a:t>
            </a:r>
            <a:r>
              <a:rPr lang="zh-CN" altLang="en-US"/>
              <a:t>表</a:t>
            </a:r>
            <a:r>
              <a:rPr lang="zh-CN" altLang="en-US">
                <a:sym typeface="+mn-ea"/>
              </a:rPr>
              <a:t>收集的缓存未命中信息</a:t>
            </a:r>
            <a:r>
              <a:rPr lang="en-US" altLang="zh-CN">
                <a:sym typeface="+mn-ea"/>
              </a:rPr>
              <a:t>X[i][t]</a:t>
            </a:r>
            <a:r>
              <a:rPr lang="zh-CN" altLang="en-US">
                <a:sym typeface="+mn-ea"/>
              </a:rPr>
              <a:t>数据是一样的，</a:t>
            </a:r>
            <a:r>
              <a:rPr lang="zh-CN" altLang="en-US"/>
              <a:t>因此：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一次样本收集即可同时用于两个阶段，通过不同的公式分别恢复</a:t>
            </a:r>
            <a:r>
              <a:rPr lang="en-US" altLang="zh-CN">
                <a:solidFill>
                  <a:srgbClr val="FF0000"/>
                </a:solidFill>
              </a:rPr>
              <a:t>K14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K13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0" y="1626235"/>
            <a:ext cx="7572375" cy="43338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6.1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结果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925195"/>
            <a:ext cx="4582795" cy="5932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395" y="914400"/>
            <a:ext cx="4459605" cy="5943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45" y="922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- 192: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0165" y="930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- 256: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10030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765415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6.2 </a:t>
            </a:r>
            <a:r>
              <a:rPr lang="zh-CN" altLang="en-US">
                <a:solidFill>
                  <a:schemeClr val="bg1"/>
                </a:solidFill>
              </a:rPr>
              <a:t>攻击成功率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统计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" y="958850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2177F9"/>
                </a:solidFill>
              </a:rPr>
              <a:t>AES196 15000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AES192 30000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54115" y="95885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AES256 50000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270" y="969010"/>
            <a:ext cx="3676650" cy="2570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270" y="3803650"/>
            <a:ext cx="3676650" cy="2679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765" y="969010"/>
            <a:ext cx="3573145" cy="25704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765" y="3803015"/>
            <a:ext cx="3604895" cy="26797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478405" y="3143250"/>
            <a:ext cx="1242060" cy="210820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78405" y="6071870"/>
            <a:ext cx="1344295" cy="229235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604250" y="3162300"/>
            <a:ext cx="1270000" cy="20510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604250" y="6071870"/>
            <a:ext cx="1270000" cy="22923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6.2 </a:t>
            </a:r>
            <a:r>
              <a:rPr lang="zh-CN" altLang="en-US">
                <a:solidFill>
                  <a:schemeClr val="bg1"/>
                </a:solidFill>
              </a:rPr>
              <a:t>对比实验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绑核</a:t>
            </a:r>
            <a:r>
              <a:rPr lang="zh-CN" altLang="en-US">
                <a:solidFill>
                  <a:schemeClr val="bg1"/>
                </a:solidFill>
              </a:rPr>
              <a:t>跨核攻击</a:t>
            </a:r>
            <a:r>
              <a:rPr lang="zh-CN" altLang="en-US">
                <a:solidFill>
                  <a:schemeClr val="bg1"/>
                </a:solidFill>
              </a:rPr>
              <a:t>成功率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958850"/>
            <a:ext cx="4064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绑定核心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  90.10%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10000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97.90%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20000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99.90%</a:t>
            </a:r>
            <a:endParaRPr lang="en-US" altLang="zh-CN">
              <a:solidFill>
                <a:srgbClr val="2177F9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AES192 15000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98.40%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AES192 30000</a:t>
            </a:r>
            <a:r>
              <a:rPr lang="zh-CN" altLang="en-US">
                <a:solidFill>
                  <a:srgbClr val="00B050"/>
                </a:solidFill>
              </a:rPr>
              <a:t>样本：</a:t>
            </a:r>
            <a:r>
              <a:rPr lang="en-US" altLang="zh-CN">
                <a:solidFill>
                  <a:srgbClr val="00B050"/>
                </a:solidFill>
              </a:rPr>
              <a:t>99.80%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98.80%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99.80%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6380" y="958850"/>
            <a:ext cx="6096000" cy="6462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不绑定核心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27.60%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10000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45.60%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20000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66.00%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50000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98.37%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15000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44.71%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30000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66.67%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00B050"/>
                </a:solidFill>
                <a:sym typeface="+mn-ea"/>
              </a:rPr>
              <a:t>AES192 80000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97.56%</a:t>
            </a:r>
            <a:endParaRPr lang="zh-CN" altLang="en-US">
              <a:solidFill>
                <a:srgbClr val="00B05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61.78%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80000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82.69%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AES256 100000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r>
              <a:rPr lang="en-US" altLang="zh-CN">
                <a:solidFill>
                  <a:srgbClr val="FF0000"/>
                </a:solidFill>
              </a:rPr>
              <a:t>91.86%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6.2 </a:t>
            </a:r>
            <a:r>
              <a:rPr lang="zh-CN" altLang="en-US">
                <a:solidFill>
                  <a:schemeClr val="bg1"/>
                </a:solidFill>
              </a:rPr>
              <a:t>对比实验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绑核跨核成功率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原因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" y="1051560"/>
            <a:ext cx="118052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 Flush+Reload </a:t>
            </a:r>
            <a:r>
              <a:rPr lang="zh-CN" altLang="en-US"/>
              <a:t>攻击中，</a:t>
            </a:r>
            <a:r>
              <a:rPr lang="zh-CN" altLang="en-US">
                <a:solidFill>
                  <a:srgbClr val="FF0000"/>
                </a:solidFill>
              </a:rPr>
              <a:t>绑定核心</a:t>
            </a:r>
            <a:r>
              <a:rPr lang="zh-CN" altLang="en-US"/>
              <a:t>之所以成功率更高，是因为攻击者和受害者绑定在同一物理核心时，</a:t>
            </a:r>
            <a:r>
              <a:rPr lang="zh-CN" altLang="en-US">
                <a:solidFill>
                  <a:srgbClr val="FF0000"/>
                </a:solidFill>
              </a:rPr>
              <a:t>共享 L1/L2 私有缓存</a:t>
            </a:r>
            <a:r>
              <a:rPr lang="zh-CN" altLang="en-US"/>
              <a:t>，而</a:t>
            </a:r>
            <a:r>
              <a:rPr lang="en-US" altLang="zh-CN"/>
              <a:t> L3 </a:t>
            </a:r>
            <a:r>
              <a:rPr lang="zh-CN" altLang="en-US"/>
              <a:t>虽然是共享的，但同一核心的缓存状态更稳定，避免了跨核心的缓存一致性延迟和调度干扰，使得时间测量的区分度更清晰，误判率更低。</a:t>
            </a:r>
            <a:r>
              <a:rPr lang="en-US" altLang="zh-CN"/>
              <a:t> 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而</a:t>
            </a:r>
            <a:r>
              <a:rPr lang="zh-CN" altLang="en-US">
                <a:solidFill>
                  <a:srgbClr val="00B050"/>
                </a:solidFill>
              </a:rPr>
              <a:t>不绑定</a:t>
            </a:r>
            <a:r>
              <a:rPr lang="zh-CN" altLang="en-US"/>
              <a:t>时，攻击者和受害者可能运行在不同核心，虽然仍</a:t>
            </a:r>
            <a:r>
              <a:rPr lang="zh-CN" altLang="en-US">
                <a:solidFill>
                  <a:srgbClr val="00B050"/>
                </a:solidFill>
              </a:rPr>
              <a:t>共享 L3 缓存</a:t>
            </a:r>
            <a:r>
              <a:rPr lang="zh-CN" altLang="en-US"/>
              <a:t>，但：</a:t>
            </a:r>
            <a:endParaRPr lang="zh-CN" altLang="en-US"/>
          </a:p>
          <a:p>
            <a:r>
              <a:rPr lang="zh-CN" altLang="en-US"/>
              <a:t>跨核心的缓存同步存在额外</a:t>
            </a:r>
            <a:r>
              <a:rPr lang="zh-CN" altLang="en-US">
                <a:solidFill>
                  <a:srgbClr val="00B050"/>
                </a:solidFill>
              </a:rPr>
              <a:t>延迟</a:t>
            </a:r>
            <a:r>
              <a:rPr lang="zh-CN" altLang="en-US"/>
              <a:t>，测量</a:t>
            </a:r>
            <a:r>
              <a:rPr lang="zh-CN" altLang="en-US">
                <a:solidFill>
                  <a:srgbClr val="00B050"/>
                </a:solidFill>
              </a:rPr>
              <a:t>噪声</a:t>
            </a:r>
            <a:r>
              <a:rPr lang="zh-CN" altLang="en-US"/>
              <a:t>增大；</a:t>
            </a:r>
            <a:endParaRPr lang="zh-CN" altLang="en-US"/>
          </a:p>
          <a:p>
            <a:r>
              <a:rPr lang="zh-CN" altLang="en-US"/>
              <a:t>操作系统可能将进程迁移到其他核心，导致缓存状态不可预测。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然而，</a:t>
            </a:r>
            <a:r>
              <a:rPr lang="zh-CN" altLang="en-US">
                <a:solidFill>
                  <a:srgbClr val="2177F9"/>
                </a:solidFill>
              </a:rPr>
              <a:t>随着样本数增加，大数定律发挥作用</a:t>
            </a:r>
            <a:r>
              <a:rPr lang="zh-CN" altLang="en-US"/>
              <a:t>：即使每个样本的信噪比较低，正确密钥被排除的次数仍远少于错误候选，</a:t>
            </a:r>
            <a:r>
              <a:rPr lang="zh-CN" altLang="en-US">
                <a:solidFill>
                  <a:srgbClr val="2177F9"/>
                </a:solidFill>
              </a:rPr>
              <a:t>统计上的差异会逐渐显现</a:t>
            </a:r>
            <a:r>
              <a:rPr lang="zh-CN" altLang="en-US"/>
              <a:t>，因此成功率会随样本增多而回升。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7.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缓解验证的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对照测试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>
                <a:sym typeface="+mn-ea"/>
              </a:rPr>
              <a:t>验证常见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缓解措施</a:t>
            </a:r>
            <a:r>
              <a:rPr lang="zh-CN" altLang="en-US">
                <a:sym typeface="+mn-ea"/>
              </a:rPr>
              <a:t>（隔离策略、缓存冲洗、编译器或内核参数、微码与固件更新）的效果，对比前后差异；开启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关闭若干常见缓解措施进行对比，例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如进程亲和绑定、缓</a:t>
            </a:r>
            <a:r>
              <a:rPr lang="zh-CN" altLang="en-US">
                <a:sym typeface="+mn-ea"/>
              </a:rPr>
              <a:t>存刷新指令的使用方式变化，或系统提供的相关隔离选项，观察统计结果变化并给出解释。</a:t>
            </a:r>
            <a:endParaRPr lang="zh-CN" altLang="en-US"/>
          </a:p>
          <a:p>
            <a:r>
              <a:rPr lang="en-US" altLang="zh-CN">
                <a:sym typeface="+mn-ea"/>
              </a:rPr>
              <a:t>2.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统计指标</a:t>
            </a:r>
            <a:r>
              <a:rPr lang="zh-CN" altLang="en-US">
                <a:sym typeface="+mn-ea"/>
              </a:rPr>
              <a:t>，包括时间测量的统计指标，例如平均值、标准差与分位数，并统计样本数量与重复次数。统计命中与未命中两类访问的时间分布差异或可区分度指标。明确</a:t>
            </a:r>
            <a:r>
              <a:rPr lang="en-US" altLang="zh-CN">
                <a:sym typeface="+mn-ea"/>
              </a:rPr>
              <a:t> CPU </a:t>
            </a:r>
            <a:r>
              <a:rPr lang="zh-CN" altLang="en-US">
                <a:sym typeface="+mn-ea"/>
              </a:rPr>
              <a:t>型号与核心数、操作系统版本、编译器版本与优化选项，计时方式可采用高精度时间戳计数器或系统高精度计时接口，并说明测量开销控制方法。</a:t>
            </a:r>
            <a:endParaRPr lang="zh-CN" altLang="en-US"/>
          </a:p>
          <a:p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设计脚本，量化泄露带宽、命中率、信噪比与跨核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跨进程可迁移性；完成原始数据与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绘图</a:t>
            </a:r>
            <a:r>
              <a:rPr lang="zh-CN" altLang="en-US">
                <a:sym typeface="+mn-ea"/>
              </a:rPr>
              <a:t>结果、</a:t>
            </a:r>
            <a:r>
              <a:rPr lang="zh-CN" altLang="en-US">
                <a:sym typeface="+mn-ea"/>
              </a:rPr>
              <a:t>输出图表与统计摘要，研究在所测平台上的风险描述与推荐配置。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编写测试流程文档与总结</a:t>
            </a:r>
            <a:r>
              <a:rPr lang="zh-CN" altLang="en-US">
                <a:sym typeface="+mn-ea"/>
              </a:rPr>
              <a:t>报告。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95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96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3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12406</Words>
  <Application>WPS 演示</Application>
  <PresentationFormat>宽屏</PresentationFormat>
  <Paragraphs>613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4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Oxford Regular</vt:lpstr>
      <vt:lpstr>Arial Unicode MS</vt:lpstr>
      <vt:lpstr>Calibri</vt:lpstr>
      <vt:lpstr>Office 主题</vt:lpstr>
      <vt:lpstr>Office 主题​​</vt:lpstr>
      <vt:lpstr>基于Flush+Reload的 AES算法Cache计时攻击</vt:lpstr>
      <vt:lpstr>1.1 AES128算法加密</vt:lpstr>
      <vt:lpstr>1.1 AES128算法加密</vt:lpstr>
      <vt:lpstr>1.2 带查表加速的AES128算法加密</vt:lpstr>
      <vt:lpstr>2.1 攻击思想 - 最终轮 </vt:lpstr>
      <vt:lpstr>2.1 攻击思想 - 最终轮 </vt:lpstr>
      <vt:lpstr>2.2 加密细节 - 最终轮 </vt:lpstr>
      <vt:lpstr>2.2 加密细节 - 最终轮 </vt:lpstr>
      <vt:lpstr>1.2 带查表加速的AES128算法加密</vt:lpstr>
      <vt:lpstr>1.2 带查表加速的AES128算法加密</vt:lpstr>
      <vt:lpstr>2.2 加密细节 - 最终轮 </vt:lpstr>
      <vt:lpstr>2.2 加密细节 - 最终轮 </vt:lpstr>
      <vt:lpstr>2.2 加密细节 - 最终轮 </vt:lpstr>
      <vt:lpstr>2.3 攻击切入点 - 最终轮 - T表 </vt:lpstr>
      <vt:lpstr>2.3 攻击切入点 - 最终轮 - T表</vt:lpstr>
      <vt:lpstr>2.3 攻击切入点 - 最终轮 - T表</vt:lpstr>
      <vt:lpstr>2.3 攻击切入点 - 最终轮 - T表</vt:lpstr>
      <vt:lpstr>2.4 攻击：flush and reload + 排除法</vt:lpstr>
      <vt:lpstr>2.4 攻击：flush and reload + 排除法</vt:lpstr>
      <vt:lpstr>2.4 攻击：flush and reload + 排除法</vt:lpstr>
      <vt:lpstr>2.5 攻击原理 - 概率论视角</vt:lpstr>
      <vt:lpstr>3.1 实验过程 - 实验环境</vt:lpstr>
      <vt:lpstr>3.2 实验过程 -  初始化</vt:lpstr>
      <vt:lpstr>3.2 实验过程 -  主控制逻辑</vt:lpstr>
      <vt:lpstr>3.2 实验过程 -  主控制逻辑</vt:lpstr>
      <vt:lpstr>3.2 实验过程 -  受害者进程</vt:lpstr>
      <vt:lpstr>3.2 实验过程 -  受害者进程</vt:lpstr>
      <vt:lpstr>3.2 实验过程 -  攻击者进程</vt:lpstr>
      <vt:lpstr>3.3 实验结果</vt:lpstr>
      <vt:lpstr>3.3 实验结果</vt:lpstr>
      <vt:lpstr>3.4 另一些测试</vt:lpstr>
      <vt:lpstr>3.4 另一些测试</vt:lpstr>
      <vt:lpstr>基于Flush+Reload的 AES算法Cache计时攻击</vt:lpstr>
      <vt:lpstr>4.1 AES192算法加密</vt:lpstr>
      <vt:lpstr>4.1 AES192算法加密</vt:lpstr>
      <vt:lpstr>4.1 AES192算法加密</vt:lpstr>
      <vt:lpstr>4.1 AES256算法加密</vt:lpstr>
      <vt:lpstr>4.1 AES256算法加密</vt:lpstr>
      <vt:lpstr>4.1 AES256算法加密</vt:lpstr>
      <vt:lpstr>5.1 攻击阶段一：恢复最后一轮密钥</vt:lpstr>
      <vt:lpstr>5.1 攻击阶段一：恢复最后一轮密钥</vt:lpstr>
      <vt:lpstr>5.2 攻击阶段二：恢复Kd1</vt:lpstr>
      <vt:lpstr>5.2 恢复Kd1：flush and reload+排除法</vt:lpstr>
      <vt:lpstr>5.2 恢复Kd1：flush and reload+排除法</vt:lpstr>
      <vt:lpstr>5.3 进一步分析</vt:lpstr>
      <vt:lpstr>6.1 实验结果</vt:lpstr>
      <vt:lpstr>6.2 其他测试 - 成功率 - 绑定核心</vt:lpstr>
      <vt:lpstr>6.2 绑核对比测试 - 攻击成功率</vt:lpstr>
      <vt:lpstr>6.2 对比实验 - 绑核跨核攻击成功率</vt:lpstr>
      <vt:lpstr>7. 下周目标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105</cp:revision>
  <dcterms:created xsi:type="dcterms:W3CDTF">2026-01-21T07:12:00Z</dcterms:created>
  <dcterms:modified xsi:type="dcterms:W3CDTF">2026-03-26T10:42:13Z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