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345" r:id="rId7"/>
    <p:sldId id="346" r:id="rId8"/>
    <p:sldId id="344" r:id="rId9"/>
    <p:sldId id="347" r:id="rId10"/>
    <p:sldId id="349" r:id="rId11"/>
    <p:sldId id="294" r:id="rId12"/>
    <p:sldId id="350" r:id="rId13"/>
    <p:sldId id="351" r:id="rId14"/>
    <p:sldId id="353" r:id="rId15"/>
    <p:sldId id="354" r:id="rId16"/>
    <p:sldId id="359" r:id="rId17"/>
    <p:sldId id="360" r:id="rId18"/>
    <p:sldId id="361" r:id="rId19"/>
    <p:sldId id="362" r:id="rId20"/>
    <p:sldId id="309" r:id="rId21"/>
    <p:sldId id="363" r:id="rId22"/>
    <p:sldId id="277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7.xml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3.xml"/><Relationship Id="rId2" Type="http://schemas.openxmlformats.org/officeDocument/2006/relationships/image" Target="../media/image4.png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5.xml"/><Relationship Id="rId2" Type="http://schemas.openxmlformats.org/officeDocument/2006/relationships/image" Target="../media/image4.png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9.xml"/><Relationship Id="rId2" Type="http://schemas.openxmlformats.org/officeDocument/2006/relationships/image" Target="../media/image4.png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5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5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59.xml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tags" Target="../tags/tag3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026.03.25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>
                <a:solidFill>
                  <a:srgbClr val="00B050"/>
                </a:solidFill>
              </a:rPr>
              <a:t> 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</a:t>
            </a:r>
            <a:r>
              <a:rPr lang="zh-CN" altLang="en-US">
                <a:solidFill>
                  <a:srgbClr val="00B050"/>
                </a:solidFill>
              </a:rPr>
              <a:t> 查T表  </a:t>
            </a:r>
            <a:r>
              <a:rPr lang="en-US" altLang="zh-CN"/>
              <a:t>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</a:t>
            </a:r>
            <a:r>
              <a:rPr lang="zh-CN" altLang="en-US">
                <a:solidFill>
                  <a:srgbClr val="00B050"/>
                </a:solidFill>
              </a:rPr>
              <a:t>  查T表    </a:t>
            </a:r>
            <a:r>
              <a:rPr lang="en-US" altLang="zh-CN"/>
              <a:t>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 - 256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390" y="3727450"/>
            <a:ext cx="11410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解决方案：</a:t>
            </a:r>
            <a:r>
              <a:rPr lang="en-US" altLang="zh-CN">
                <a:solidFill>
                  <a:schemeClr val="tx1"/>
                </a:solidFill>
              </a:rPr>
              <a:t>AES192</a:t>
            </a:r>
            <a:r>
              <a:rPr lang="zh-CN" altLang="en-US">
                <a:solidFill>
                  <a:schemeClr val="tx1"/>
                </a:solidFill>
              </a:rPr>
              <a:t>还需要恢复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chemeClr val="tx1"/>
                </a:solidFill>
              </a:rPr>
              <a:t>，才能与</a:t>
            </a:r>
            <a:r>
              <a:rPr lang="en-US" altLang="zh-CN">
                <a:solidFill>
                  <a:schemeClr val="tx1"/>
                </a:solidFill>
              </a:rPr>
              <a:t>K12</a:t>
            </a:r>
            <a:r>
              <a:rPr lang="zh-CN" altLang="en-US">
                <a:solidFill>
                  <a:schemeClr val="tx1"/>
                </a:solidFill>
              </a:rPr>
              <a:t>一起逆向推导原始密钥。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                AES256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还需要恢复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，才能与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K14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一起逆向推导原始密钥。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攻击阶段二：恢复</a:t>
            </a:r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d1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22655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AES192</a:t>
            </a:r>
            <a:r>
              <a:rPr lang="zh-CN" altLang="en-US"/>
              <a:t>的</a:t>
            </a:r>
            <a:r>
              <a:rPr lang="en-US" altLang="zh-CN"/>
              <a:t>K11</a:t>
            </a:r>
            <a:r>
              <a:rPr lang="zh-CN" altLang="en-US"/>
              <a:t>与</a:t>
            </a:r>
            <a:r>
              <a:rPr lang="en-US" altLang="zh-CN"/>
              <a:t>AES256</a:t>
            </a:r>
            <a:r>
              <a:rPr lang="zh-CN" altLang="en-US"/>
              <a:t>的</a:t>
            </a:r>
            <a:r>
              <a:rPr lang="en-US" altLang="zh-CN"/>
              <a:t>K13</a:t>
            </a:r>
            <a:r>
              <a:rPr lang="zh-CN" altLang="en-US"/>
              <a:t>恢复方法相同，以</a:t>
            </a:r>
            <a:r>
              <a:rPr lang="en-US" altLang="zh-CN">
                <a:solidFill>
                  <a:srgbClr val="FF0000"/>
                </a:solidFill>
              </a:rPr>
              <a:t>AES256</a:t>
            </a:r>
            <a:r>
              <a:rPr lang="zh-CN" altLang="en-US"/>
              <a:t>为例：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540"/>
            <a:ext cx="6910070" cy="55854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560" y="1305560"/>
            <a:ext cx="5048885" cy="2387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7325" y="2515235"/>
            <a:ext cx="2321560" cy="2476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30450" y="5603875"/>
            <a:ext cx="2153920" cy="3708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AES</a:t>
            </a:r>
            <a:r>
              <a:rPr lang="zh-CN" altLang="en-US"/>
              <a:t>解密</a:t>
            </a:r>
            <a:r>
              <a:rPr lang="zh-CN" altLang="en-US"/>
              <a:t>过程：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AddRoundKey(Kd0)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D1 = D0 ⊕ Kd0</a:t>
            </a:r>
            <a:r>
              <a:rPr lang="zh-CN" altLang="en-US"/>
              <a:t>，其中</a:t>
            </a:r>
            <a:r>
              <a:rPr lang="en-US" altLang="zh-CN"/>
              <a:t> Kd0 = K12 (</a:t>
            </a:r>
            <a:r>
              <a:rPr lang="zh-CN" altLang="en-US"/>
              <a:t>已通过排除法恢复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 InvShiftRows + InvSubBytes + InvMixColumns</a:t>
            </a:r>
            <a:r>
              <a:rPr lang="zh-CN" altLang="en-US"/>
              <a:t>，使用</a:t>
            </a:r>
            <a:r>
              <a:rPr lang="en-US" altLang="zh-CN"/>
              <a:t>Td</a:t>
            </a:r>
            <a:r>
              <a:rPr lang="zh-CN" altLang="en-US"/>
              <a:t>表实现，计算中间值</a:t>
            </a:r>
            <a:r>
              <a:rPr lang="en-US" altLang="zh-CN"/>
              <a:t> IV1 </a:t>
            </a:r>
            <a:r>
              <a:rPr lang="zh-CN" altLang="en-US"/>
              <a:t>数组：</a:t>
            </a:r>
            <a:endParaRPr lang="en-US" altLang="zh-CN"/>
          </a:p>
          <a:p>
            <a:r>
              <a:rPr lang="en-US" altLang="zh-CN"/>
              <a:t>IV1[0] = Td0[D1[0]] ⊕ Td1[D1[13]] ⊕ Td2[D1[10]] ⊕ Td3[D1[7]]</a:t>
            </a:r>
            <a:endParaRPr lang="en-US" altLang="zh-CN"/>
          </a:p>
          <a:p>
            <a:r>
              <a:rPr lang="en-US" altLang="zh-CN"/>
              <a:t>IV1[1] = Td0[D1[4]] ⊕ Td1[D1[1]] ⊕ Td2[D1[14]] ⊕ Td3[D1[11]]</a:t>
            </a:r>
            <a:endParaRPr lang="en-US" altLang="zh-CN"/>
          </a:p>
          <a:p>
            <a:r>
              <a:rPr lang="en-US" altLang="zh-CN"/>
              <a:t>IV1[2] = Td0[D1[8]] ⊕ Td1[D1[5]] ⊕ Td2[D1[2]] ⊕ Td3[D1[15]]</a:t>
            </a:r>
            <a:endParaRPr lang="en-US" altLang="zh-CN"/>
          </a:p>
          <a:p>
            <a:r>
              <a:rPr lang="en-US" altLang="zh-CN"/>
              <a:t>IV1[3] = Td0[D1[12]] ⊕ Td1[D1[9]] ⊕ Td2[D1[6]] ⊕ Td3[D1[3]]</a:t>
            </a:r>
            <a:endParaRPr lang="en-US" altLang="zh-CN"/>
          </a:p>
          <a:p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IV1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AddRoundKey(Kd1)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D2 = IV1 ⊕ Kd1</a:t>
            </a:r>
            <a:r>
              <a:rPr lang="zh-CN" altLang="en-US"/>
              <a:t>，其中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Kd1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en-US" altLang="zh-CN"/>
              <a:t> (</a:t>
            </a:r>
            <a:r>
              <a:rPr lang="zh-CN" altLang="en-US"/>
              <a:t>需要恢复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D2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观察到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Kd1</a:t>
            </a:r>
            <a:r>
              <a:rPr lang="en-US" altLang="zh-CN">
                <a:solidFill>
                  <a:srgbClr val="FF0000"/>
                </a:solidFill>
              </a:rPr>
              <a:t> = IV1 ⊕ D2</a:t>
            </a:r>
            <a:r>
              <a:rPr lang="zh-CN" altLang="en-US">
                <a:solidFill>
                  <a:schemeClr val="tx1"/>
                </a:solidFill>
              </a:rPr>
              <a:t>，即：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D2[0] = IV1[0] ⊕ Kd1[0]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D2[1] = IV1[1] ⊕ Kd1[1]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...                                   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D2[15] = IV1[15] ⊕ Kd1[15]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2177F9"/>
                </a:solidFill>
              </a:rPr>
              <a:t>D2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的每个字节由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D2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的某个字节经过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S-box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变换得到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S11[0]  = S-box[D2[0]]   S11[4]  = S-box[D2[4]]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S11[1]  = S-box[D2[5]]   S11[5]  = S-box[D2[9]]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S11[2]  = S-box[D2[10]]  S11[6]  = S-box[D2[14]]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S11[3]  = S-box[D2[15]]  S11[7]  = S-box[D2[3]]</a:t>
            </a:r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 </a:t>
            </a:r>
            <a:r>
              <a:rPr lang="zh-CN" altLang="en-US" sz="2000">
                <a:solidFill>
                  <a:schemeClr val="tx1"/>
                </a:solidFill>
              </a:rPr>
              <a:t>是加密第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轮的输入状态，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Te</a:t>
            </a:r>
            <a:r>
              <a:rPr lang="zh-CN" altLang="en-US" sz="2000">
                <a:solidFill>
                  <a:srgbClr val="2177F9"/>
                </a:solidFill>
              </a:rPr>
              <a:t>表的对应关系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故，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可以通过监控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Te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表访问，使用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flush+reload+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排除法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恢复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3183255"/>
            <a:ext cx="5507990" cy="2095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进一步</a:t>
            </a:r>
            <a:r>
              <a:rPr lang="zh-CN" altLang="en-US">
                <a:solidFill>
                  <a:schemeClr val="bg1"/>
                </a:solidFill>
              </a:rPr>
              <a:t>分析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020" y="981075"/>
            <a:ext cx="1207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两个攻击阶段中，通过监控</a:t>
            </a:r>
            <a:r>
              <a:rPr lang="en-US" altLang="zh-CN"/>
              <a:t>Te</a:t>
            </a:r>
            <a:r>
              <a:rPr lang="zh-CN" altLang="en-US"/>
              <a:t>表</a:t>
            </a:r>
            <a:r>
              <a:rPr lang="zh-CN" altLang="en-US">
                <a:sym typeface="+mn-ea"/>
              </a:rPr>
              <a:t>收集的缓存未命中信息</a:t>
            </a:r>
            <a:r>
              <a:rPr lang="en-US" altLang="zh-CN">
                <a:sym typeface="+mn-ea"/>
              </a:rPr>
              <a:t>X[i][t]</a:t>
            </a:r>
            <a:r>
              <a:rPr lang="zh-CN" altLang="en-US">
                <a:sym typeface="+mn-ea"/>
              </a:rPr>
              <a:t>数据是一样的，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一次样本收集即可同时用于两个阶段，通过不同的公式分别恢复</a:t>
            </a:r>
            <a:r>
              <a:rPr lang="en-US" altLang="zh-CN">
                <a:solidFill>
                  <a:srgbClr val="FF0000"/>
                </a:solidFill>
              </a:rPr>
              <a:t>K12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" y="1626235"/>
            <a:ext cx="9451340" cy="1612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结果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925195"/>
            <a:ext cx="4582795" cy="593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95" y="914400"/>
            <a:ext cx="4459605" cy="594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5" y="922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- 192: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0165" y="930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- 256: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10030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65415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其他测试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绑定</a:t>
            </a:r>
            <a:r>
              <a:rPr lang="zh-CN" altLang="en-US">
                <a:solidFill>
                  <a:schemeClr val="bg1"/>
                </a:solidFill>
              </a:rPr>
              <a:t>核心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95885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AES196 15000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AES192 30000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54115" y="9588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AES256 50000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70" y="969010"/>
            <a:ext cx="3676650" cy="257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270" y="3803650"/>
            <a:ext cx="3676650" cy="267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765" y="969010"/>
            <a:ext cx="3573145" cy="2570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765" y="3803015"/>
            <a:ext cx="3604895" cy="26797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78405" y="3143250"/>
            <a:ext cx="1242060" cy="210820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78405" y="6071870"/>
            <a:ext cx="1344295" cy="229235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04250" y="3162300"/>
            <a:ext cx="1270000" cy="20510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04250" y="6071870"/>
            <a:ext cx="1270000" cy="22923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绑</a:t>
            </a:r>
            <a:r>
              <a:rPr lang="zh-CN" altLang="en-US">
                <a:solidFill>
                  <a:schemeClr val="bg1"/>
                </a:solidFill>
              </a:rPr>
              <a:t>核对比测试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攻击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95885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绑定核心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  90.10%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10000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97.90%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20000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99.90%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AES192 15000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98.40%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AES192 30000</a:t>
            </a:r>
            <a:r>
              <a:rPr lang="zh-CN" altLang="en-US">
                <a:solidFill>
                  <a:srgbClr val="00B050"/>
                </a:solidFill>
              </a:rPr>
              <a:t>样本：</a:t>
            </a:r>
            <a:r>
              <a:rPr lang="en-US" altLang="zh-CN">
                <a:solidFill>
                  <a:srgbClr val="00B050"/>
                </a:solidFill>
              </a:rPr>
              <a:t>99.80%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98.80%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99.80%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6380" y="958850"/>
            <a:ext cx="609600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不绑定核心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27.60%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10000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45.60%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20000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66.00%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50000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98.37%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15000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44.71%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30000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66.67%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00B050"/>
                </a:solidFill>
                <a:sym typeface="+mn-ea"/>
              </a:rPr>
              <a:t>AES192 80000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97.56%</a:t>
            </a:r>
            <a:endParaRPr lang="zh-CN" altLang="en-US">
              <a:solidFill>
                <a:srgbClr val="00B05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61.78%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80000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82.69%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AES256 100000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r>
              <a:rPr lang="en-US" altLang="zh-CN">
                <a:solidFill>
                  <a:srgbClr val="FF0000"/>
                </a:solidFill>
              </a:rPr>
              <a:t>91.86%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完成数据的绘图、输出图表与统计摘要，使用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库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缓解验证的对照测试，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验证常见缓解措施（隔离策略、缓存冲洗、编译器或内核参数、微码与固件更新）的效果，对比前后差异；开启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关闭若干常见缓解措施进行对比，例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如进程亲和绑定、缓</a:t>
            </a:r>
            <a:r>
              <a:rPr lang="zh-CN" altLang="en-US">
                <a:sym typeface="+mn-ea"/>
              </a:rPr>
              <a:t>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zh-CN" altLang="en-US">
                <a:sym typeface="+mn-ea"/>
              </a:rPr>
              <a:t>2. 整理主要指标与技术参数，包括时间测量的统计指标，例如平均值、标准差与分位数，并统计样本数量与重复次数。统计命中与未命中两类访问的时间分布差异或可区分度指标。明确</a:t>
            </a:r>
            <a:r>
              <a:rPr lang="en-US" altLang="zh-CN">
                <a:sym typeface="+mn-ea"/>
              </a:rPr>
              <a:t> CPU </a:t>
            </a:r>
            <a:r>
              <a:rPr lang="zh-CN" altLang="en-US">
                <a:sym typeface="+mn-ea"/>
              </a:rPr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>
                <a:sym typeface="+mn-ea"/>
              </a:rPr>
              <a:t>完成原始数据与绘图结果、</a:t>
            </a:r>
            <a:r>
              <a:rPr lang="zh-CN" altLang="en-US">
                <a:sym typeface="+mn-ea"/>
              </a:rPr>
              <a:t>输出图表与统计摘要，研究在所测平台上的风险描述与推荐配置。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编写测试流程文档与总结</a:t>
            </a:r>
            <a:r>
              <a:rPr lang="zh-CN" altLang="en-US">
                <a:sym typeface="+mn-ea"/>
              </a:rPr>
              <a:t>报告。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2026.03.25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6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6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6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5616</Words>
  <Application>WPS 演示</Application>
  <PresentationFormat>宽屏</PresentationFormat>
  <Paragraphs>258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AES算法Cache计时攻击</vt:lpstr>
      <vt:lpstr>1.1 AES192算法加密</vt:lpstr>
      <vt:lpstr>1.1 AES192算法加密</vt:lpstr>
      <vt:lpstr>1.1 AES192算法加密</vt:lpstr>
      <vt:lpstr>1.1 AES256算法加密</vt:lpstr>
      <vt:lpstr>1.1 AES256算法加密</vt:lpstr>
      <vt:lpstr>1.1 AES256算法加密</vt:lpstr>
      <vt:lpstr>2.1 攻击阶段一：恢复最后一轮密钥</vt:lpstr>
      <vt:lpstr>2.1 攻击阶段一：恢复最后一轮密钥</vt:lpstr>
      <vt:lpstr>2.2 攻击阶段二：恢复Kd1</vt:lpstr>
      <vt:lpstr>2.2 恢复Kd1：flush and reload+排除法</vt:lpstr>
      <vt:lpstr>2.2 恢复Kd1：flush and reload+排除法</vt:lpstr>
      <vt:lpstr>2.3 进一步分析</vt:lpstr>
      <vt:lpstr>3.1 实验结果</vt:lpstr>
      <vt:lpstr>3.2 一些其他测试</vt:lpstr>
      <vt:lpstr>3.2 一些其他测试</vt:lpstr>
      <vt:lpstr>4. 下周目标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130</cp:revision>
  <dcterms:created xsi:type="dcterms:W3CDTF">2026-01-21T07:12:00Z</dcterms:created>
  <dcterms:modified xsi:type="dcterms:W3CDTF">2026-03-25T14:43:09Z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