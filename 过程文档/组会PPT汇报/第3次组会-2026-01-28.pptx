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294" r:id="rId7"/>
    <p:sldId id="297" r:id="rId8"/>
    <p:sldId id="298" r:id="rId9"/>
    <p:sldId id="299" r:id="rId10"/>
    <p:sldId id="300" r:id="rId11"/>
    <p:sldId id="301" r:id="rId12"/>
    <p:sldId id="302" r:id="rId13"/>
    <p:sldId id="304" r:id="rId14"/>
    <p:sldId id="303" r:id="rId15"/>
    <p:sldId id="305" r:id="rId16"/>
    <p:sldId id="309" r:id="rId17"/>
    <p:sldId id="277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31.xml"/><Relationship Id="rId2" Type="http://schemas.openxmlformats.org/officeDocument/2006/relationships/image" Target="../media/image4.png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3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4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4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DES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026.03.11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 DES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64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en-US" altLang="zh-CN">
                <a:solidFill>
                  <a:srgbClr val="2177F9"/>
                </a:solidFill>
              </a:rPr>
              <a:t>PC-1</a:t>
            </a:r>
            <a:r>
              <a:rPr lang="zh-CN" altLang="en-US">
                <a:solidFill>
                  <a:srgbClr val="2177F9"/>
                </a:solidFill>
              </a:rPr>
              <a:t>置换</a:t>
            </a:r>
            <a:r>
              <a:rPr lang="zh-CN" altLang="en-US"/>
              <a:t>产生</a:t>
            </a:r>
            <a:r>
              <a:rPr lang="en-US" altLang="zh-CN"/>
              <a:t>56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zh-CN" altLang="en-US"/>
              <a:t>分别</a:t>
            </a:r>
            <a:r>
              <a:rPr lang="en-US" altLang="zh-CN"/>
              <a:t>16</a:t>
            </a:r>
            <a:r>
              <a:rPr lang="zh-CN" altLang="en-US"/>
              <a:t>轮</a:t>
            </a:r>
            <a:r>
              <a:rPr lang="en-US" altLang="zh-CN">
                <a:solidFill>
                  <a:srgbClr val="2177F9"/>
                </a:solidFill>
              </a:rPr>
              <a:t>循环左移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组密钥</a:t>
            </a:r>
            <a:r>
              <a:rPr lang="en-US" altLang="zh-CN"/>
              <a:t> -&gt; </a:t>
            </a:r>
            <a:r>
              <a:rPr lang="zh-CN" altLang="en-US"/>
              <a:t>经过</a:t>
            </a:r>
            <a:r>
              <a:rPr lang="en-US" altLang="zh-CN">
                <a:solidFill>
                  <a:srgbClr val="2177F9"/>
                </a:solidFill>
              </a:rPr>
              <a:t>PC-2置换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组轮密钥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将明文</a:t>
            </a:r>
            <a:r>
              <a:rPr lang="en-US" altLang="zh-CN">
                <a:solidFill>
                  <a:srgbClr val="2177F9"/>
                </a:solidFill>
              </a:rPr>
              <a:t>分成64bit一组</a:t>
            </a:r>
            <a:r>
              <a:rPr lang="zh-CN" altLang="en-US"/>
              <a:t>分别加密（块加密）</a:t>
            </a:r>
            <a:r>
              <a:rPr lang="en-US" altLang="zh-CN"/>
              <a:t> -&gt; </a:t>
            </a:r>
            <a:r>
              <a:rPr lang="zh-CN" altLang="en-US"/>
              <a:t>将</a:t>
            </a:r>
            <a:r>
              <a:rPr lang="en-US" altLang="zh-CN"/>
              <a:t>64bit</a:t>
            </a:r>
            <a:r>
              <a:rPr lang="zh-CN" altLang="en-US"/>
              <a:t>明文进行</a:t>
            </a:r>
            <a:r>
              <a:rPr lang="en-US" altLang="zh-CN">
                <a:solidFill>
                  <a:srgbClr val="2177F9"/>
                </a:solidFill>
              </a:rPr>
              <a:t>IP置换</a:t>
            </a:r>
            <a:r>
              <a:rPr lang="zh-CN" altLang="en-US"/>
              <a:t>并分为左</a:t>
            </a:r>
            <a:r>
              <a:rPr lang="en-US" altLang="zh-CN"/>
              <a:t>32bit -L0- </a:t>
            </a:r>
            <a:r>
              <a:rPr lang="zh-CN" altLang="en-US"/>
              <a:t>和右</a:t>
            </a:r>
            <a:r>
              <a:rPr lang="en-US" altLang="zh-CN"/>
              <a:t>32bit</a:t>
            </a:r>
            <a:endParaRPr lang="en-US" altLang="zh-CN"/>
          </a:p>
          <a:p>
            <a:r>
              <a:rPr lang="en-US" altLang="zh-CN"/>
              <a:t>                    -R0- -&gt;  L0</a:t>
            </a:r>
            <a:r>
              <a:rPr lang="zh-CN" altLang="en-US"/>
              <a:t>、</a:t>
            </a:r>
            <a:r>
              <a:rPr lang="en-US" altLang="zh-CN"/>
              <a:t>R0</a:t>
            </a:r>
            <a:r>
              <a:rPr lang="zh-CN" altLang="en-US"/>
              <a:t>会经过</a:t>
            </a:r>
            <a:r>
              <a:rPr lang="en-US" altLang="zh-CN"/>
              <a:t>16</a:t>
            </a:r>
            <a:r>
              <a:rPr lang="zh-CN" altLang="en-US"/>
              <a:t>轮的相同操作，每一轮都会有一个上面对应的轮密钥参与（</a:t>
            </a:r>
            <a:r>
              <a:rPr lang="en-US" altLang="zh-CN">
                <a:solidFill>
                  <a:srgbClr val="2177F9"/>
                </a:solidFill>
              </a:rPr>
              <a:t>轮操作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>
                <a:solidFill>
                  <a:srgbClr val="FF0000"/>
                </a:solidFill>
              </a:rPr>
              <a:t>轮操作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将</a:t>
            </a:r>
            <a:r>
              <a:rPr lang="en-US" altLang="zh-CN"/>
              <a:t>32bitR0</a:t>
            </a:r>
            <a:r>
              <a:rPr lang="zh-CN" altLang="en-US"/>
              <a:t>进行</a:t>
            </a:r>
            <a:r>
              <a:rPr lang="en-US" altLang="zh-CN">
                <a:solidFill>
                  <a:srgbClr val="2177F9"/>
                </a:solidFill>
              </a:rPr>
              <a:t>E</a:t>
            </a:r>
            <a:r>
              <a:rPr lang="zh-CN" altLang="en-US">
                <a:solidFill>
                  <a:srgbClr val="2177F9"/>
                </a:solidFill>
              </a:rPr>
              <a:t>盒</a:t>
            </a:r>
            <a:r>
              <a:rPr lang="en-US" altLang="zh-CN">
                <a:solidFill>
                  <a:srgbClr val="2177F9"/>
                </a:solidFill>
              </a:rPr>
              <a:t>扩展</a:t>
            </a:r>
            <a:r>
              <a:rPr lang="zh-CN" altLang="en-US"/>
              <a:t>为</a:t>
            </a:r>
            <a:r>
              <a:rPr lang="en-US" altLang="zh-CN"/>
              <a:t>48bit E(R0) -&gt; </a:t>
            </a:r>
            <a:r>
              <a:rPr lang="zh-CN" altLang="en-US"/>
              <a:t>将</a:t>
            </a:r>
            <a:r>
              <a:rPr lang="en-US" altLang="zh-CN"/>
              <a:t>48bit E(R0)</a:t>
            </a:r>
            <a:r>
              <a:rPr lang="zh-CN" altLang="en-US"/>
              <a:t>与对应的轮密钥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zh-CN" altLang="en-US"/>
              <a:t>生成</a:t>
            </a:r>
            <a:r>
              <a:rPr lang="en-US" altLang="zh-CN"/>
              <a:t>48bit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将这</a:t>
            </a:r>
            <a:r>
              <a:rPr lang="en-US" altLang="zh-CN"/>
              <a:t>48bit</a:t>
            </a:r>
            <a:r>
              <a:rPr lang="zh-CN" altLang="en-US"/>
              <a:t>分成</a:t>
            </a:r>
            <a:r>
              <a:rPr lang="en-US" altLang="zh-CN"/>
              <a:t>8</a:t>
            </a:r>
            <a:r>
              <a:rPr lang="zh-CN" altLang="en-US"/>
              <a:t>组，分别对应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</a:t>
            </a:r>
            <a:r>
              <a:rPr lang="zh-CN" altLang="en-US"/>
              <a:t>盒，每一组经</a:t>
            </a:r>
            <a:r>
              <a:rPr lang="en-US" altLang="zh-CN">
                <a:solidFill>
                  <a:srgbClr val="2177F9"/>
                </a:solidFill>
              </a:rPr>
              <a:t>S盒压缩</a:t>
            </a:r>
            <a:r>
              <a:rPr lang="zh-CN" altLang="en-US"/>
              <a:t>后生成</a:t>
            </a:r>
            <a:r>
              <a:rPr lang="en-US" altLang="zh-CN"/>
              <a:t>4bit</a:t>
            </a:r>
            <a:r>
              <a:rPr lang="zh-CN" altLang="en-US"/>
              <a:t>，总共</a:t>
            </a:r>
            <a:r>
              <a:rPr lang="en-US" altLang="zh-CN"/>
              <a:t>32bit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</a:t>
            </a:r>
            <a:r>
              <a:rPr lang="en-US" altLang="zh-CN"/>
              <a:t>32bit</a:t>
            </a:r>
            <a:r>
              <a:rPr lang="zh-CN" altLang="en-US"/>
              <a:t>进行</a:t>
            </a:r>
            <a:r>
              <a:rPr lang="en-US" altLang="zh-CN"/>
              <a:t>P</a:t>
            </a:r>
            <a:r>
              <a:rPr lang="zh-CN" altLang="en-US"/>
              <a:t>盒置换</a:t>
            </a:r>
            <a:r>
              <a:rPr lang="en-US" altLang="zh-CN"/>
              <a:t> -&gt; P</a:t>
            </a:r>
            <a:r>
              <a:rPr lang="zh-CN" altLang="en-US"/>
              <a:t>盒置换的结果与最初的</a:t>
            </a:r>
            <a:r>
              <a:rPr lang="en-US" altLang="zh-CN"/>
              <a:t>64</a:t>
            </a:r>
            <a:r>
              <a:rPr lang="zh-CN" altLang="en-US"/>
              <a:t>位分组左半部分</a:t>
            </a:r>
            <a:r>
              <a:rPr lang="en-US" altLang="zh-CN"/>
              <a:t>L0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en-US" altLang="zh-CN"/>
              <a:t> -&gt; </a:t>
            </a:r>
            <a:endParaRPr lang="en-US" altLang="zh-CN"/>
          </a:p>
          <a:p>
            <a:r>
              <a:rPr lang="en-US" altLang="zh-CN"/>
              <a:t>                                  </a:t>
            </a:r>
            <a:r>
              <a:rPr lang="en-US" altLang="zh-CN">
                <a:solidFill>
                  <a:srgbClr val="2177F9"/>
                </a:solidFill>
              </a:rPr>
              <a:t> 左、右半部分交换</a:t>
            </a:r>
            <a:r>
              <a:rPr lang="zh-CN" altLang="en-US"/>
              <a:t>，接着开始另一轮，总共要进行</a:t>
            </a:r>
            <a:r>
              <a:rPr lang="en-US" altLang="zh-CN"/>
              <a:t>16</a:t>
            </a:r>
            <a:r>
              <a:rPr lang="zh-CN" altLang="en-US"/>
              <a:t>轮。</a:t>
            </a:r>
            <a:endParaRPr lang="zh-CN" altLang="en-US"/>
          </a:p>
          <a:p>
            <a:r>
              <a:rPr lang="en-US" altLang="zh-CN"/>
              <a:t>                    16</a:t>
            </a:r>
            <a:r>
              <a:rPr lang="zh-CN" altLang="en-US"/>
              <a:t>轮替代之后会得到最后的结果</a:t>
            </a:r>
            <a:r>
              <a:rPr lang="en-US" altLang="zh-CN"/>
              <a:t>L16</a:t>
            </a:r>
            <a:r>
              <a:rPr lang="zh-CN" altLang="en-US"/>
              <a:t>、</a:t>
            </a:r>
            <a:r>
              <a:rPr lang="en-US" altLang="zh-CN"/>
              <a:t>R16</a:t>
            </a:r>
            <a:r>
              <a:rPr lang="zh-CN" altLang="en-US"/>
              <a:t>，最后将两组数据进行</a:t>
            </a:r>
            <a:r>
              <a:rPr lang="en-US" altLang="zh-CN">
                <a:solidFill>
                  <a:srgbClr val="2177F9"/>
                </a:solidFill>
              </a:rPr>
              <a:t>左右两组交换</a:t>
            </a:r>
            <a:r>
              <a:rPr lang="en-US" altLang="zh-CN"/>
              <a:t> -&gt;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将得到的</a:t>
            </a:r>
            <a:r>
              <a:rPr lang="en-US" altLang="zh-CN"/>
              <a:t>64bit</a:t>
            </a:r>
            <a:r>
              <a:rPr lang="zh-CN" altLang="en-US"/>
              <a:t>结果进行一次</a:t>
            </a:r>
            <a:r>
              <a:rPr lang="en-US" altLang="zh-CN">
                <a:solidFill>
                  <a:srgbClr val="2177F9"/>
                </a:solidFill>
              </a:rPr>
              <a:t>IP逆置换</a:t>
            </a:r>
            <a:r>
              <a:rPr lang="en-US" altLang="zh-CN"/>
              <a:t> -&gt; </a:t>
            </a:r>
            <a:r>
              <a:rPr lang="zh-CN" altLang="en-US"/>
              <a:t>得到</a:t>
            </a:r>
            <a:r>
              <a:rPr lang="en-US" altLang="zh-CN"/>
              <a:t>64bit</a:t>
            </a:r>
            <a:r>
              <a:rPr lang="zh-CN" altLang="en-US"/>
              <a:t>密文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5" y="3844290"/>
            <a:ext cx="8963025" cy="30492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96520" y="948690"/>
            <a:ext cx="11897995" cy="28676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0025" y="1059815"/>
            <a:ext cx="7056120" cy="5729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针对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第一轮</a:t>
            </a:r>
            <a:r>
              <a:rPr lang="en-US" altLang="zh-CN">
                <a:solidFill>
                  <a:srgbClr val="FF0000"/>
                </a:solidFill>
              </a:rPr>
              <a:t>S</a:t>
            </a:r>
            <a:r>
              <a:rPr lang="zh-CN" altLang="en-US">
                <a:solidFill>
                  <a:srgbClr val="FF0000"/>
                </a:solidFill>
              </a:rPr>
              <a:t>盒压缩</a:t>
            </a:r>
            <a:r>
              <a:rPr lang="zh-CN" altLang="en-US"/>
              <a:t>：明文经过</a:t>
            </a:r>
            <a:r>
              <a:rPr lang="en-US" altLang="zh-CN"/>
              <a:t>IP</a:t>
            </a:r>
            <a:r>
              <a:rPr lang="zh-CN" altLang="en-US"/>
              <a:t>置换后分为</a:t>
            </a:r>
            <a:r>
              <a:rPr lang="en-US" altLang="zh-CN"/>
              <a:t>L0</a:t>
            </a:r>
            <a:r>
              <a:rPr lang="zh-CN" altLang="en-US"/>
              <a:t>和</a:t>
            </a:r>
            <a:r>
              <a:rPr lang="en-US" altLang="zh-CN"/>
              <a:t>R0</a:t>
            </a:r>
            <a:r>
              <a:rPr lang="zh-CN" altLang="en-US"/>
              <a:t>，</a:t>
            </a:r>
            <a:r>
              <a:rPr lang="en-US" altLang="zh-CN"/>
              <a:t>R0</a:t>
            </a:r>
            <a:r>
              <a:rPr lang="zh-CN" altLang="en-US"/>
              <a:t>经过</a:t>
            </a:r>
            <a:r>
              <a:rPr lang="en-US" altLang="zh-CN"/>
              <a:t>E</a:t>
            </a:r>
            <a:r>
              <a:rPr lang="zh-CN" altLang="en-US"/>
              <a:t>扩展成为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E(R0)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与</a:t>
            </a:r>
            <a:r>
              <a:rPr lang="en-US" altLang="zh-CN"/>
              <a:t>K1</a:t>
            </a:r>
            <a:r>
              <a:rPr lang="zh-CN" altLang="en-US"/>
              <a:t>异或后得到</a:t>
            </a:r>
            <a:r>
              <a:rPr lang="en-US" altLang="zh-CN"/>
              <a:t>S(R0)</a:t>
            </a:r>
            <a:r>
              <a:rPr lang="zh-CN" altLang="en-US"/>
              <a:t>，分为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6</a:t>
            </a:r>
            <a:r>
              <a:rPr lang="zh-CN" altLang="en-US"/>
              <a:t>位块，分别输入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S-box</a:t>
            </a:r>
            <a:r>
              <a:rPr lang="zh-CN" altLang="en-US"/>
              <a:t>。其中</a:t>
            </a:r>
            <a:r>
              <a:rPr lang="en-US" altLang="zh-CN"/>
              <a:t>K1</a:t>
            </a:r>
            <a:r>
              <a:rPr lang="zh-CN" altLang="en-US"/>
              <a:t>是密钥预处理后得到</a:t>
            </a:r>
            <a:r>
              <a:rPr lang="zh-CN" altLang="en-US"/>
              <a:t>的轮密钥的</a:t>
            </a:r>
            <a:r>
              <a:rPr lang="zh-CN" altLang="en-US"/>
              <a:t>第一组。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分析切入点</a:t>
            </a:r>
            <a:r>
              <a:rPr lang="zh-CN" altLang="en-US"/>
              <a:t>：</a:t>
            </a:r>
            <a:r>
              <a:rPr lang="en-US" altLang="zh-CN"/>
              <a:t>E(R0) ^ K1 = S(R0)</a:t>
            </a:r>
            <a:r>
              <a:rPr lang="zh-CN" altLang="en-US"/>
              <a:t>，根据位运算结论：</a:t>
            </a:r>
            <a:r>
              <a:rPr lang="en-US" altLang="zh-CN"/>
              <a:t>K1 = E(R0) ^ S(R0)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可以通过攻击者输入的明文与公开的</a:t>
            </a:r>
            <a:r>
              <a:rPr lang="en-US" altLang="zh-CN"/>
              <a:t>DES</a:t>
            </a:r>
            <a:r>
              <a:rPr lang="zh-CN" altLang="en-US"/>
              <a:t>加密流程计算得到，如果可以得到</a:t>
            </a:r>
            <a:r>
              <a:rPr lang="en-US" altLang="zh-CN"/>
              <a:t>S(R0)</a:t>
            </a:r>
            <a:r>
              <a:rPr lang="zh-CN" altLang="en-US"/>
              <a:t>，就可以算出</a:t>
            </a:r>
            <a:r>
              <a:rPr lang="en-US" altLang="zh-CN"/>
              <a:t>K1</a:t>
            </a:r>
            <a:r>
              <a:rPr lang="zh-CN" altLang="en-US"/>
              <a:t>。那么如何得到</a:t>
            </a:r>
            <a:r>
              <a:rPr lang="en-US" altLang="zh-CN"/>
              <a:t>S(R0)</a:t>
            </a:r>
            <a:r>
              <a:rPr lang="zh-CN" altLang="en-US"/>
              <a:t>？</a:t>
            </a:r>
            <a:endParaRPr lang="zh-CN" altLang="en-US"/>
          </a:p>
          <a:p>
            <a:r>
              <a:rPr lang="en-US" altLang="zh-CN">
                <a:solidFill>
                  <a:srgbClr val="00B050"/>
                </a:solidFill>
              </a:rPr>
              <a:t>S-box</a:t>
            </a:r>
            <a:r>
              <a:rPr lang="zh-CN" altLang="en-US">
                <a:solidFill>
                  <a:srgbClr val="00B050"/>
                </a:solidFill>
              </a:rPr>
              <a:t>索引计算</a:t>
            </a:r>
            <a:r>
              <a:rPr lang="zh-CN" altLang="en-US"/>
              <a:t>：</a:t>
            </a:r>
            <a:r>
              <a:rPr lang="en-US" altLang="zh-CN"/>
              <a:t>6</a:t>
            </a:r>
            <a:r>
              <a:rPr lang="zh-CN" altLang="en-US"/>
              <a:t>位输入：</a:t>
            </a:r>
            <a:r>
              <a:rPr lang="en-US" altLang="zh-CN"/>
              <a:t>x5 x4 x3 x2 x1 x0</a:t>
            </a:r>
            <a:r>
              <a:rPr lang="zh-CN" altLang="en-US"/>
              <a:t>，</a:t>
            </a:r>
            <a:r>
              <a:rPr lang="en-US" altLang="zh-CN"/>
              <a:t>row = x5 x0</a:t>
            </a:r>
            <a:r>
              <a:rPr lang="zh-CN" altLang="en-US"/>
              <a:t>（首尾两位），</a:t>
            </a:r>
            <a:r>
              <a:rPr lang="en-US" altLang="zh-CN"/>
              <a:t>col = x4 x3 x2 x1</a:t>
            </a:r>
            <a:r>
              <a:rPr lang="zh-CN" altLang="en-US"/>
              <a:t>（中间四位），</a:t>
            </a:r>
            <a:r>
              <a:rPr lang="en-US" altLang="zh-CN"/>
              <a:t>S-box</a:t>
            </a:r>
            <a:r>
              <a:rPr lang="zh-CN" altLang="en-US"/>
              <a:t>条目索引</a:t>
            </a:r>
            <a:r>
              <a:rPr lang="en-US" altLang="zh-CN"/>
              <a:t> = row * 16 + col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通过缓存侧信道推导</a:t>
            </a:r>
            <a:r>
              <a:rPr lang="en-US" altLang="zh-CN">
                <a:solidFill>
                  <a:srgbClr val="FF0000"/>
                </a:solidFill>
              </a:rPr>
              <a:t>K1</a:t>
            </a:r>
            <a:r>
              <a:rPr lang="zh-CN" altLang="en-US">
                <a:solidFill>
                  <a:srgbClr val="FF0000"/>
                </a:solidFill>
              </a:rPr>
              <a:t>片段</a:t>
            </a:r>
            <a:r>
              <a:rPr lang="zh-CN" altLang="en-US"/>
              <a:t>：第一轮</a:t>
            </a:r>
            <a:r>
              <a:rPr lang="en-US" altLang="zh-CN"/>
              <a:t>S</a:t>
            </a:r>
            <a:r>
              <a:rPr lang="zh-CN" altLang="en-US"/>
              <a:t>盒置换中，</a:t>
            </a:r>
            <a:r>
              <a:rPr lang="en-US" altLang="zh-CN"/>
              <a:t>8</a:t>
            </a:r>
            <a:r>
              <a:rPr lang="zh-CN" altLang="en-US"/>
              <a:t>组</a:t>
            </a:r>
            <a:r>
              <a:rPr lang="en-US" altLang="zh-CN"/>
              <a:t>S</a:t>
            </a:r>
            <a:r>
              <a:rPr lang="zh-CN" altLang="en-US"/>
              <a:t>盒会被分别访问到其中的一个元素，通过共享</a:t>
            </a:r>
            <a:r>
              <a:rPr lang="en-US" altLang="zh-CN"/>
              <a:t>libdes.so</a:t>
            </a:r>
            <a:r>
              <a:rPr lang="zh-CN" altLang="en-US"/>
              <a:t>的物理页并监测</a:t>
            </a:r>
            <a:r>
              <a:rPr lang="en-US" altLang="zh-CN"/>
              <a:t>S</a:t>
            </a:r>
            <a:r>
              <a:rPr lang="zh-CN" altLang="en-US"/>
              <a:t>盒中元素加载到缓存的情况，可以推断出访问的</a:t>
            </a:r>
            <a:r>
              <a:rPr lang="en-US" altLang="zh-CN"/>
              <a:t>S-box</a:t>
            </a:r>
            <a:r>
              <a:rPr lang="zh-CN" altLang="en-US"/>
              <a:t>条目索引，进而计算出</a:t>
            </a:r>
            <a:r>
              <a:rPr lang="en-US" altLang="zh-CN">
                <a:sym typeface="+mn-ea"/>
              </a:rPr>
              <a:t>S(R0)</a:t>
            </a:r>
            <a:r>
              <a:rPr lang="zh-CN" altLang="en-US"/>
              <a:t>，由</a:t>
            </a:r>
            <a:r>
              <a:rPr lang="en-US" altLang="zh-CN">
                <a:sym typeface="+mn-ea"/>
              </a:rPr>
              <a:t>K1 = E(R0) ^ S(R0)</a:t>
            </a:r>
            <a:r>
              <a:rPr lang="zh-CN" altLang="en-US">
                <a:sym typeface="+mn-ea"/>
              </a:rPr>
              <a:t>，计算得到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值。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密钥重建</a:t>
            </a:r>
            <a:r>
              <a:rPr lang="zh-CN" altLang="en-US">
                <a:sym typeface="+mn-ea"/>
              </a:rPr>
              <a:t>：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暴力搜索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位未知位（</a:t>
            </a:r>
            <a:r>
              <a:rPr lang="en-US" altLang="zh-CN">
                <a:sym typeface="+mn-ea"/>
              </a:rPr>
              <a:t>PC-2</a:t>
            </a:r>
            <a:r>
              <a:rPr lang="zh-CN" altLang="en-US">
                <a:sym typeface="+mn-ea"/>
              </a:rPr>
              <a:t>未选中的位），由</a:t>
            </a:r>
            <a:r>
              <a:rPr lang="en-US" altLang="zh-CN">
                <a:sym typeface="+mn-ea"/>
              </a:rPr>
              <a:t>48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位未知位重建</a:t>
            </a:r>
            <a:r>
              <a:rPr lang="en-US" altLang="zh-CN">
                <a:sym typeface="+mn-ea"/>
              </a:rPr>
              <a:t>56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C1D1</a:t>
            </a:r>
            <a:r>
              <a:rPr lang="zh-CN" altLang="en-US">
                <a:sym typeface="+mn-ea"/>
              </a:rPr>
              <a:t>，循环右移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位得到</a:t>
            </a:r>
            <a:r>
              <a:rPr lang="en-US" altLang="zh-CN">
                <a:sym typeface="+mn-ea"/>
              </a:rPr>
              <a:t>C0D0</a:t>
            </a:r>
            <a:r>
              <a:rPr lang="zh-CN" altLang="en-US">
                <a:sym typeface="+mn-ea"/>
              </a:rPr>
              <a:t>，逆</a:t>
            </a:r>
            <a:r>
              <a:rPr lang="en-US" altLang="zh-CN">
                <a:sym typeface="+mn-ea"/>
              </a:rPr>
              <a:t>PC-1</a:t>
            </a:r>
            <a:r>
              <a:rPr lang="zh-CN" altLang="en-US">
                <a:sym typeface="+mn-ea"/>
              </a:rPr>
              <a:t>置换得到</a:t>
            </a:r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位推测密钥（含奇偶校验位），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分别使用推测密钥与原始密钥对明文进行加密，比较加密得到的密文是否相同；如果相同，则此推测密钥的值就是原始密钥，原始密钥的值被泄露获取。</a:t>
            </a:r>
            <a:endParaRPr lang="zh-CN" altLang="en-US">
              <a:solidFill>
                <a:srgbClr val="2177F9"/>
              </a:solidFill>
              <a:sym typeface="+mn-ea"/>
            </a:endParaRPr>
          </a:p>
        </p:txBody>
      </p:sp>
      <p:pic>
        <p:nvPicPr>
          <p:cNvPr id="6" name="图片 5" descr="v2-8118ba321582ef09cf4c2449e37f1ec2_1440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45" y="1059815"/>
            <a:ext cx="4897755" cy="2219960"/>
          </a:xfrm>
          <a:prstGeom prst="rect">
            <a:avLst/>
          </a:prstGeom>
        </p:spPr>
      </p:pic>
      <p:pic>
        <p:nvPicPr>
          <p:cNvPr id="7" name="图片 6" descr="v2-94400c7c66f6cc975c889a0e2b298be2_1440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65" y="3419475"/>
            <a:ext cx="4902835" cy="27285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/>
              <a:t>CC = gcc</a:t>
            </a:r>
            <a:endParaRPr lang="en-US" altLang="zh-CN"/>
          </a:p>
          <a:p>
            <a:r>
              <a:rPr lang="en-US" altLang="zh-CN"/>
              <a:t>CFLAGS = -O0 -g -march=native -Wall -fPIC -Wno-unused-result -fno-stack-protector</a:t>
            </a:r>
            <a:endParaRPr lang="en-US" altLang="zh-CN"/>
          </a:p>
          <a:p>
            <a:r>
              <a:rPr lang="en-US" altLang="zh-CN"/>
              <a:t>LDFLAGS = -ldl -pthread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-fPIC</a:t>
            </a:r>
            <a:r>
              <a:rPr lang="en-US" altLang="zh-CN"/>
              <a:t>: </a:t>
            </a:r>
            <a:r>
              <a:rPr lang="zh-CN" altLang="en-US"/>
              <a:t>生成位置无关代码（共享库必需）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-no-pie</a:t>
            </a:r>
            <a:r>
              <a:rPr lang="en-US" altLang="zh-CN"/>
              <a:t>: </a:t>
            </a:r>
            <a:r>
              <a:rPr lang="zh-CN" altLang="en-US"/>
              <a:t>生成非位置无关可执行文件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des.c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7780" y="1005840"/>
            <a:ext cx="12209145" cy="585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3.2 </a:t>
            </a:r>
            <a:r>
              <a:rPr lang="zh-CN" altLang="en-US">
                <a:solidFill>
                  <a:srgbClr val="FF0000"/>
                </a:solidFill>
              </a:rPr>
              <a:t>构建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加密共享库</a:t>
            </a:r>
            <a:r>
              <a:rPr lang="zh-CN" altLang="en-US"/>
              <a:t>：根据</a:t>
            </a:r>
            <a:r>
              <a:rPr lang="en-US" altLang="zh-CN"/>
              <a:t>FIPS</a:t>
            </a:r>
            <a:r>
              <a:rPr lang="zh-CN" altLang="en-US"/>
              <a:t>标准构建了</a:t>
            </a:r>
            <a:r>
              <a:rPr lang="en-US" altLang="zh-CN"/>
              <a:t>DES</a:t>
            </a:r>
            <a:r>
              <a:rPr lang="zh-CN" altLang="en-US"/>
              <a:t>加密算法源文件</a:t>
            </a:r>
            <a:r>
              <a:rPr lang="en-US" altLang="zh-CN">
                <a:solidFill>
                  <a:srgbClr val="FF0000"/>
                </a:solidFill>
              </a:rPr>
              <a:t>des.c</a:t>
            </a:r>
            <a:r>
              <a:rPr lang="zh-CN" altLang="en-US"/>
              <a:t>，编译生成</a:t>
            </a:r>
            <a:r>
              <a:rPr lang="en-US" altLang="zh-CN"/>
              <a:t> DES </a:t>
            </a:r>
            <a:r>
              <a:rPr lang="zh-CN" altLang="en-US"/>
              <a:t>加密共享库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libdes.so</a:t>
            </a:r>
            <a:endParaRPr lang="en-US" altLang="zh-CN">
              <a:solidFill>
                <a:srgbClr val="2177F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00" y="1956435"/>
            <a:ext cx="4164965" cy="840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1680210"/>
            <a:ext cx="3709670" cy="4503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680210"/>
            <a:ext cx="3683635" cy="4503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1415" y="1376045"/>
            <a:ext cx="4553585" cy="535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为了满足实验需求，需要对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SBox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结构定义进行修改：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设计目的</a:t>
            </a:r>
            <a:r>
              <a:rPr lang="zh-CN" altLang="en-US">
                <a:sym typeface="+mn-ea"/>
              </a:rPr>
              <a:t>：使每个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条目占用独立的缓存行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内存布局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  <a:sym typeface="+mn-ea"/>
              </a:rPr>
              <a:t>data[64][16]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64 </a:t>
            </a:r>
            <a:r>
              <a:rPr lang="zh-CN" altLang="en-US">
                <a:sym typeface="+mn-ea"/>
              </a:rPr>
              <a:t>个条目，每个条目包含</a:t>
            </a:r>
            <a:r>
              <a:rPr lang="en-US" altLang="zh-CN">
                <a:sym typeface="+mn-ea"/>
              </a:rPr>
              <a:t> 16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uint32_t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每个条目实际大小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16 * 4 = 64 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 = 1 </a:t>
            </a:r>
            <a:r>
              <a:rPr lang="zh-CN" altLang="en-US">
                <a:sym typeface="+mn-ea"/>
              </a:rPr>
              <a:t>个缓存行</a:t>
            </a:r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实际只使用</a:t>
            </a:r>
            <a:r>
              <a:rPr lang="en-US" altLang="zh-CN">
                <a:sym typeface="+mn-ea"/>
              </a:rPr>
              <a:t> data[i][0]</a:t>
            </a:r>
            <a:r>
              <a:rPr lang="zh-CN" altLang="en-US">
                <a:sym typeface="+mn-ea"/>
              </a:rPr>
              <a:t>，其余</a:t>
            </a:r>
            <a:r>
              <a:rPr lang="en-US" altLang="zh-CN">
                <a:sym typeface="+mn-ea"/>
              </a:rPr>
              <a:t> 15 </a:t>
            </a:r>
            <a:r>
              <a:rPr lang="zh-CN" altLang="en-US">
                <a:sym typeface="+mn-ea"/>
              </a:rPr>
              <a:t>个元素用于填充对齐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__attribute__((aligned(4096)))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编译器属性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zh-CN" altLang="en-US">
                <a:sym typeface="+mn-ea"/>
              </a:rPr>
              <a:t>将整个</a:t>
            </a:r>
            <a:r>
              <a:rPr lang="en-US" altLang="zh-CN">
                <a:sym typeface="+mn-ea"/>
              </a:rPr>
              <a:t> SBox </a:t>
            </a:r>
            <a:r>
              <a:rPr lang="zh-CN" altLang="en-US">
                <a:sym typeface="+mn-ea"/>
              </a:rPr>
              <a:t>结构按</a:t>
            </a:r>
            <a:r>
              <a:rPr lang="en-US" altLang="zh-CN">
                <a:sym typeface="+mn-ea"/>
              </a:rPr>
              <a:t> 4KB </a:t>
            </a:r>
            <a:r>
              <a:rPr lang="zh-CN" altLang="en-US">
                <a:sym typeface="+mn-ea"/>
              </a:rPr>
              <a:t>页边界对齐</a:t>
            </a:r>
            <a:endParaRPr lang="zh-CN" altLang="en-US"/>
          </a:p>
          <a:p>
            <a:r>
              <a:rPr lang="zh-CN" altLang="en-US">
                <a:sym typeface="+mn-ea"/>
              </a:rPr>
              <a:t>确保不同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之间不会共享同一页，避免页表干扰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动态链接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共享库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40" y="986790"/>
            <a:ext cx="12075795" cy="587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 </a:t>
            </a:r>
            <a:r>
              <a:rPr lang="zh-CN" altLang="en-US"/>
              <a:t>构建</a:t>
            </a:r>
            <a:r>
              <a:rPr lang="en-US" altLang="zh-CN">
                <a:solidFill>
                  <a:srgbClr val="FF0000"/>
                </a:solidFill>
              </a:rPr>
              <a:t>spy.c</a:t>
            </a:r>
            <a:r>
              <a:rPr lang="zh-CN" altLang="en-US"/>
              <a:t>代码</a:t>
            </a:r>
            <a:r>
              <a:rPr lang="zh-CN" altLang="en-US"/>
              <a:t>文件，执行攻击流程。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3.3.1 </a:t>
            </a:r>
            <a:r>
              <a:rPr lang="zh-CN" altLang="en-US"/>
              <a:t>首先使用</a:t>
            </a:r>
            <a:r>
              <a:rPr lang="en-US" altLang="zh-CN"/>
              <a:t> load_des_library() </a:t>
            </a:r>
            <a:r>
              <a:rPr lang="zh-CN" altLang="en-US"/>
              <a:t>通过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动态链接技术</a:t>
            </a:r>
            <a:r>
              <a:rPr lang="en-US" altLang="zh-CN"/>
              <a:t> </a:t>
            </a:r>
            <a:r>
              <a:rPr lang="zh-CN" altLang="en-US"/>
              <a:t>实现了</a:t>
            </a:r>
            <a:r>
              <a:rPr lang="en-US" altLang="zh-CN"/>
              <a:t> DES </a:t>
            </a:r>
            <a:r>
              <a:rPr lang="zh-CN" altLang="en-US"/>
              <a:t>共享库的加载和函数解析。</a:t>
            </a:r>
            <a:endParaRPr lang="zh-CN" altLang="en-US"/>
          </a:p>
          <a:p>
            <a:r>
              <a:rPr lang="zh-CN" altLang="en-US"/>
              <a:t>流程：</a:t>
            </a:r>
            <a:endParaRPr lang="en-US" altLang="zh-CN"/>
          </a:p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zh-CN" altLang="en-US"/>
              <a:t>定义了三个</a:t>
            </a:r>
            <a:r>
              <a:rPr lang="zh-CN" altLang="en-US">
                <a:solidFill>
                  <a:srgbClr val="2177F9"/>
                </a:solidFill>
              </a:rPr>
              <a:t>函数指针</a:t>
            </a:r>
            <a:r>
              <a:rPr lang="zh-CN" altLang="en-US"/>
              <a:t>类型，</a:t>
            </a:r>
            <a:r>
              <a:rPr lang="zh-CN" altLang="en-US"/>
              <a:t>确定了从共享</a:t>
            </a:r>
            <a:endParaRPr lang="zh-CN" altLang="en-US"/>
          </a:p>
          <a:p>
            <a:r>
              <a:rPr lang="zh-CN" altLang="en-US"/>
              <a:t>库中加载的函数的签名</a:t>
            </a:r>
            <a:r>
              <a:rPr lang="en-US" altLang="zh-CN"/>
              <a:t> </a:t>
            </a:r>
            <a:r>
              <a:rPr lang="zh-CN" altLang="en-US"/>
              <a:t>，确保类型安全。</a:t>
            </a:r>
            <a:endParaRPr lang="zh-CN" altLang="en-US"/>
          </a:p>
          <a:p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dlopen</a:t>
            </a:r>
            <a:r>
              <a:rPr lang="zh-CN" altLang="en-US"/>
              <a:t>系统调用打开</a:t>
            </a:r>
            <a:r>
              <a:rPr lang="zh-CN" altLang="en-US"/>
              <a:t>共享库</a:t>
            </a:r>
            <a:endParaRPr lang="zh-CN" altLang="en-US"/>
          </a:p>
          <a:p>
            <a:r>
              <a:rPr lang="zh-CN" altLang="en-US"/>
              <a:t>③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dlsym</a:t>
            </a:r>
            <a:r>
              <a:rPr lang="zh-CN" altLang="en-US"/>
              <a:t>系统调用从已加载的共享库</a:t>
            </a:r>
            <a:r>
              <a:rPr lang="zh-CN" altLang="en-US"/>
              <a:t>中</a:t>
            </a:r>
            <a:endParaRPr lang="zh-CN" altLang="en-US"/>
          </a:p>
          <a:p>
            <a:r>
              <a:rPr lang="zh-CN" altLang="en-US"/>
              <a:t>获取符号地址并返回其</a:t>
            </a:r>
            <a:r>
              <a:rPr lang="zh-CN" altLang="en-US"/>
              <a:t>函数指针。</a:t>
            </a:r>
            <a:endParaRPr lang="zh-CN" altLang="en-US"/>
          </a:p>
          <a:p>
            <a:r>
              <a:rPr lang="zh-CN" altLang="en-US"/>
              <a:t>其中；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des_encrypt_first_round</a:t>
            </a:r>
            <a:r>
              <a:rPr lang="en-US" altLang="zh-CN"/>
              <a:t> : DES </a:t>
            </a:r>
            <a:r>
              <a:rPr lang="zh-CN" altLang="en-US"/>
              <a:t>第一轮加密（攻击目标）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des_encrypt_full</a:t>
            </a:r>
            <a:r>
              <a:rPr lang="en-US" altLang="zh-CN"/>
              <a:t> : </a:t>
            </a:r>
            <a:r>
              <a:rPr lang="zh-CN" altLang="en-US"/>
              <a:t>完整</a:t>
            </a:r>
            <a:r>
              <a:rPr lang="en-US" altLang="zh-CN"/>
              <a:t> DES </a:t>
            </a:r>
            <a:r>
              <a:rPr lang="zh-CN" altLang="en-US"/>
              <a:t>加密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get_sboxes</a:t>
            </a:r>
            <a:r>
              <a:rPr lang="en-US" altLang="zh-CN"/>
              <a:t> : </a:t>
            </a:r>
            <a:r>
              <a:rPr lang="zh-CN" altLang="en-US"/>
              <a:t>获取</a:t>
            </a:r>
            <a:r>
              <a:rPr lang="en-US" altLang="zh-CN"/>
              <a:t> S-box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zh-CN" altLang="en-US"/>
              <a:t>例如：可以通过</a:t>
            </a:r>
            <a:r>
              <a:rPr lang="en-US" altLang="zh-CN"/>
              <a:t>get_sboxes()</a:t>
            </a:r>
            <a:r>
              <a:rPr lang="zh-CN" altLang="en-US"/>
              <a:t>获取</a:t>
            </a:r>
            <a:r>
              <a:rPr lang="en-US" altLang="zh-CN"/>
              <a:t>DES</a:t>
            </a:r>
            <a:r>
              <a:rPr lang="zh-CN" altLang="en-US"/>
              <a:t>加密使用的</a:t>
            </a:r>
            <a:r>
              <a:rPr lang="en-US" altLang="zh-CN"/>
              <a:t>S</a:t>
            </a:r>
            <a:r>
              <a:rPr lang="zh-CN" altLang="en-US"/>
              <a:t>盒。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25" y="2005330"/>
            <a:ext cx="7362825" cy="66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722245"/>
            <a:ext cx="4486275" cy="219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0" y="2973070"/>
            <a:ext cx="7376795" cy="619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4612640"/>
            <a:ext cx="1457325" cy="2476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动态校准缓存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阈值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48690"/>
            <a:ext cx="5522595" cy="2279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3.3.2 </a:t>
            </a:r>
            <a:r>
              <a:rPr lang="en-US" altLang="zh-CN">
                <a:sym typeface="+mn-ea"/>
              </a:rPr>
              <a:t>calibrate_threshold()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动态校准缓存阈值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功能</a:t>
            </a:r>
            <a:r>
              <a:rPr lang="zh-CN" altLang="en-US"/>
              <a:t>：测量缓存命中和未命中的时间，确定区分阈值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原理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1. </a:t>
            </a:r>
            <a:r>
              <a:rPr lang="zh-CN" altLang="en-US"/>
              <a:t>分配对齐的内存</a:t>
            </a:r>
            <a:endParaRPr lang="zh-CN" altLang="en-US"/>
          </a:p>
          <a:p>
            <a:r>
              <a:rPr lang="en-US" altLang="zh-CN"/>
              <a:t> 2. </a:t>
            </a:r>
            <a:r>
              <a:rPr lang="zh-CN" altLang="en-US"/>
              <a:t>多次访问使其在缓存中（命中）</a:t>
            </a:r>
            <a:endParaRPr lang="zh-CN" altLang="en-US"/>
          </a:p>
          <a:p>
            <a:r>
              <a:rPr lang="en-US" altLang="zh-CN"/>
              <a:t> 3. </a:t>
            </a:r>
            <a:r>
              <a:rPr lang="zh-CN" altLang="en-US"/>
              <a:t>使用</a:t>
            </a:r>
            <a:r>
              <a:rPr lang="en-US" altLang="zh-CN"/>
              <a:t> CLFLUSH </a:t>
            </a:r>
            <a:r>
              <a:rPr lang="zh-CN" altLang="en-US"/>
              <a:t>驱逐后访问（未命中）</a:t>
            </a:r>
            <a:endParaRPr lang="zh-CN" altLang="en-US"/>
          </a:p>
          <a:p>
            <a:r>
              <a:rPr lang="en-US" altLang="zh-CN"/>
              <a:t> 4. </a:t>
            </a:r>
            <a:r>
              <a:rPr lang="zh-CN" altLang="en-US"/>
              <a:t>计算中位数，取</a:t>
            </a:r>
            <a:r>
              <a:rPr lang="en-US" altLang="zh-CN">
                <a:sym typeface="+mn-ea"/>
              </a:rPr>
              <a:t>20%</a:t>
            </a:r>
            <a:r>
              <a:rPr lang="zh-CN" altLang="en-US"/>
              <a:t>偏向命中侧作为</a:t>
            </a:r>
            <a:r>
              <a:rPr lang="zh-CN" altLang="en-US"/>
              <a:t>阈值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即：</a:t>
            </a:r>
            <a:r>
              <a:rPr lang="zh-CN" altLang="en-US">
                <a:solidFill>
                  <a:srgbClr val="FF0000"/>
                </a:solidFill>
              </a:rPr>
              <a:t>阈值</a:t>
            </a:r>
            <a:r>
              <a:rPr lang="en-US" altLang="zh-CN">
                <a:solidFill>
                  <a:srgbClr val="FF0000"/>
                </a:solidFill>
              </a:rPr>
              <a:t> = </a:t>
            </a:r>
            <a:r>
              <a:rPr lang="zh-CN" altLang="en-US">
                <a:solidFill>
                  <a:srgbClr val="FF0000"/>
                </a:solidFill>
              </a:rPr>
              <a:t>命中时间</a:t>
            </a:r>
            <a:r>
              <a:rPr lang="en-US" altLang="zh-CN">
                <a:solidFill>
                  <a:srgbClr val="FF0000"/>
                </a:solidFill>
              </a:rPr>
              <a:t> + (</a:t>
            </a:r>
            <a:r>
              <a:rPr lang="zh-CN" altLang="en-US">
                <a:solidFill>
                  <a:srgbClr val="FF0000"/>
                </a:solidFill>
              </a:rPr>
              <a:t>未命中</a:t>
            </a:r>
            <a:r>
              <a:rPr lang="en-US" altLang="zh-CN">
                <a:solidFill>
                  <a:srgbClr val="FF0000"/>
                </a:solidFill>
              </a:rPr>
              <a:t> - </a:t>
            </a:r>
            <a:r>
              <a:rPr lang="zh-CN" altLang="en-US">
                <a:solidFill>
                  <a:srgbClr val="FF0000"/>
                </a:solidFill>
              </a:rPr>
              <a:t>命中</a:t>
            </a:r>
            <a:r>
              <a:rPr lang="en-US" altLang="zh-CN">
                <a:solidFill>
                  <a:srgbClr val="FF0000"/>
                </a:solidFill>
              </a:rPr>
              <a:t>) / 5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30" y="3228340"/>
            <a:ext cx="4815205" cy="3639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05" y="1035050"/>
            <a:ext cx="4471035" cy="808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05" y="1913255"/>
            <a:ext cx="4474210" cy="124523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V="1">
            <a:off x="3511550" y="1499870"/>
            <a:ext cx="2894330" cy="73787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189730" y="2461895"/>
            <a:ext cx="2272665" cy="6159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" y="3227705"/>
            <a:ext cx="6321425" cy="36309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</a:rPr>
              <a:t>计算</a:t>
            </a:r>
            <a:r>
              <a:rPr lang="en-US" altLang="zh-CN">
                <a:solidFill>
                  <a:schemeClr val="bg1"/>
                </a:solidFill>
              </a:rPr>
              <a:t> R0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 E(R0)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555" y="1280160"/>
            <a:ext cx="5438775" cy="2933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235" y="4559300"/>
            <a:ext cx="7258050" cy="140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940" y="976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S-box访问的条目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25" y="986155"/>
            <a:ext cx="1218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执行多次第一轮攻击，并通过</a:t>
            </a:r>
            <a:r>
              <a:rPr lang="en-US" altLang="zh-CN">
                <a:solidFill>
                  <a:srgbClr val="FF0000"/>
                </a:solidFill>
              </a:rPr>
              <a:t> flush and reload </a:t>
            </a:r>
            <a:r>
              <a:rPr lang="zh-CN" altLang="en-US"/>
              <a:t>分别检测每个</a:t>
            </a:r>
            <a:r>
              <a:rPr lang="en-US" altLang="zh-CN"/>
              <a:t> S-box </a:t>
            </a:r>
            <a:r>
              <a:rPr lang="zh-CN" altLang="en-US"/>
              <a:t>访问的条目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414780"/>
            <a:ext cx="5562600" cy="5153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090" y="1414780"/>
            <a:ext cx="4391025" cy="2228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选择最可靠的 K1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986155"/>
            <a:ext cx="6877050" cy="914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25" y="986155"/>
            <a:ext cx="5431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采用多轮投票机制，重复攻击</a:t>
            </a:r>
            <a:r>
              <a:rPr lang="en-US" altLang="zh-CN"/>
              <a:t> 7 </a:t>
            </a:r>
            <a:r>
              <a:rPr lang="zh-CN" altLang="en-US"/>
              <a:t>轮，从多轮结果中选择最可靠的</a:t>
            </a:r>
            <a:r>
              <a:rPr lang="en-US" altLang="zh-CN"/>
              <a:t> K1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981835"/>
            <a:ext cx="6870700" cy="4715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" y="1631315"/>
            <a:ext cx="5158105" cy="50660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恢复完整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密钥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12200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3.3.5 </a:t>
            </a:r>
            <a:r>
              <a:rPr lang="zh-CN" altLang="en-US">
                <a:solidFill>
                  <a:srgbClr val="FF0000"/>
                </a:solidFill>
              </a:rPr>
              <a:t>暴力搜索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zh-CN" altLang="en-US"/>
              <a:t>从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K1</a:t>
            </a:r>
            <a:r>
              <a:rPr lang="zh-CN" altLang="en-US"/>
              <a:t>恢复</a:t>
            </a:r>
            <a:r>
              <a:rPr lang="en-US" altLang="zh-CN"/>
              <a:t> 64 </a:t>
            </a:r>
            <a:r>
              <a:rPr lang="zh-CN" altLang="en-US"/>
              <a:t>位密钥：需要枚举</a:t>
            </a:r>
            <a:r>
              <a:rPr lang="en-US" altLang="zh-CN"/>
              <a:t> 8 </a:t>
            </a:r>
            <a:r>
              <a:rPr lang="zh-CN" altLang="en-US"/>
              <a:t>个未知位（</a:t>
            </a:r>
            <a:r>
              <a:rPr lang="en-US" altLang="zh-CN"/>
              <a:t>PC-2 </a:t>
            </a:r>
            <a:r>
              <a:rPr lang="zh-CN" altLang="en-US"/>
              <a:t>未选中的位），共</a:t>
            </a:r>
            <a:r>
              <a:rPr lang="en-US" altLang="zh-CN"/>
              <a:t> 2^8 = 256 </a:t>
            </a:r>
            <a:r>
              <a:rPr lang="zh-CN" altLang="en-US"/>
              <a:t>种可能</a:t>
            </a:r>
            <a:r>
              <a:rPr lang="en-US" altLang="zh-CN"/>
              <a:t>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" y="1492885"/>
            <a:ext cx="6600825" cy="421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95" y="1392555"/>
            <a:ext cx="5205730" cy="5369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结果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3.3.6 </a:t>
            </a:r>
            <a:r>
              <a:rPr lang="zh-CN" altLang="en-US"/>
              <a:t>输出最终结果并卸载共享库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230" y="1492885"/>
            <a:ext cx="4333875" cy="137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" y="1492885"/>
            <a:ext cx="6943725" cy="2238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缓解验证的</a:t>
            </a:r>
            <a:r>
              <a:rPr lang="zh-CN" altLang="en-US">
                <a:solidFill>
                  <a:srgbClr val="FF0000"/>
                </a:solidFill>
              </a:rPr>
              <a:t>对照测试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</a:t>
            </a:r>
            <a:r>
              <a:rPr lang="zh-CN" altLang="en-US"/>
              <a:t>开启</a:t>
            </a:r>
            <a:r>
              <a:rPr lang="en-US" altLang="zh-CN"/>
              <a:t>/</a:t>
            </a:r>
            <a:r>
              <a:rPr lang="zh-CN" altLang="en-US"/>
              <a:t>关闭若干常见缓解措施进行对比，例如进程亲和绑定、缓存刷新指令的使用方式变化，或系统提供的相关隔离选项，观察统计结果变化并给出解释。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整理</a:t>
            </a:r>
            <a:r>
              <a:rPr lang="zh-CN" altLang="en-US">
                <a:solidFill>
                  <a:srgbClr val="FF0000"/>
                </a:solidFill>
              </a:rPr>
              <a:t>主要指标</a:t>
            </a:r>
            <a:r>
              <a:rPr lang="zh-CN" altLang="en-US"/>
              <a:t>与</a:t>
            </a:r>
            <a:r>
              <a:rPr lang="zh-CN" altLang="en-US">
                <a:solidFill>
                  <a:srgbClr val="FF0000"/>
                </a:solidFill>
              </a:rPr>
              <a:t>技术参数</a:t>
            </a:r>
            <a:r>
              <a:rPr lang="zh-CN" altLang="en-US"/>
              <a:t>，</a:t>
            </a:r>
            <a:r>
              <a:rPr lang="zh-CN" altLang="en-US"/>
              <a:t>包括时间测量的统计指标，例如平均值、标准差与分位数，并统计样本数量与重复次数。</a:t>
            </a:r>
            <a:r>
              <a:rPr lang="zh-CN" altLang="en-US"/>
              <a:t>统计命中与未命中两类访问的时间分布差异或可区分度指标。明确</a:t>
            </a:r>
            <a:r>
              <a:rPr lang="en-US" altLang="zh-CN"/>
              <a:t> CPU </a:t>
            </a:r>
            <a:r>
              <a:rPr lang="zh-CN" altLang="en-US"/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/>
              <a:t>完成原始数据与绘图结果、</a:t>
            </a:r>
            <a:r>
              <a:rPr lang="zh-CN" altLang="en-US">
                <a:sym typeface="+mn-ea"/>
              </a:rPr>
              <a:t>输出图表与统计摘要，</a:t>
            </a:r>
            <a:r>
              <a:rPr lang="zh-CN" altLang="en-US">
                <a:sym typeface="+mn-ea"/>
              </a:rPr>
              <a:t>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</a:t>
            </a:r>
            <a:r>
              <a:rPr lang="zh-CN" altLang="en-US"/>
              <a:t>测试流程</a:t>
            </a:r>
            <a:r>
              <a:rPr lang="zh-CN" altLang="en-US">
                <a:solidFill>
                  <a:srgbClr val="FF0000"/>
                </a:solidFill>
              </a:rPr>
              <a:t>文档</a:t>
            </a:r>
            <a:r>
              <a:rPr lang="zh-CN" altLang="en-US"/>
              <a:t>与总结</a:t>
            </a:r>
            <a:r>
              <a:rPr lang="zh-CN" altLang="en-US">
                <a:solidFill>
                  <a:srgbClr val="FF0000"/>
                </a:solidFill>
              </a:rPr>
              <a:t>报告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2026.03.11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5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5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3331</Words>
  <Application>WPS 演示</Application>
  <PresentationFormat>宽屏</PresentationFormat>
  <Paragraphs>127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DES算法Cache计时攻击</vt:lpstr>
      <vt:lpstr>1. DES算法加密过程</vt:lpstr>
      <vt:lpstr>2. 攻击切入点  </vt:lpstr>
      <vt:lpstr>3. 实验过程 - 实验环境</vt:lpstr>
      <vt:lpstr>3. 实验过程 - des.c</vt:lpstr>
      <vt:lpstr>3. 实验过程 - spy.c - 动态链接共享库</vt:lpstr>
      <vt:lpstr>3. 实验过程 - spy.c - 动态校准缓存阈值</vt:lpstr>
      <vt:lpstr>3. 实验过程 - spy.c - 计算 R0 和 E(R0)</vt:lpstr>
      <vt:lpstr>3. 实验过程 - spy.c - S-box访问的条目</vt:lpstr>
      <vt:lpstr>3. 实验过程 - spy.c - 选择最可靠的 K1</vt:lpstr>
      <vt:lpstr>3. 实验过程 - spy.c - 恢复完整密钥</vt:lpstr>
      <vt:lpstr>3. 实验过程 - spy.c - 最终结果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42</cp:revision>
  <dcterms:created xsi:type="dcterms:W3CDTF">2026-01-21T07:12:00Z</dcterms:created>
  <dcterms:modified xsi:type="dcterms:W3CDTF">2026-03-11T11:07:51Z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