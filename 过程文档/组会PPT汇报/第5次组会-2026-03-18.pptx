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sldIdLst>
    <p:sldId id="260" r:id="rId4"/>
    <p:sldId id="279" r:id="rId6"/>
    <p:sldId id="311" r:id="rId7"/>
    <p:sldId id="310" r:id="rId8"/>
    <p:sldId id="294" r:id="rId9"/>
    <p:sldId id="342" r:id="rId10"/>
    <p:sldId id="312" r:id="rId11"/>
    <p:sldId id="314" r:id="rId12"/>
    <p:sldId id="313" r:id="rId13"/>
    <p:sldId id="315" r:id="rId14"/>
    <p:sldId id="319" r:id="rId15"/>
    <p:sldId id="316" r:id="rId16"/>
    <p:sldId id="320" r:id="rId17"/>
    <p:sldId id="321" r:id="rId18"/>
    <p:sldId id="322" r:id="rId19"/>
    <p:sldId id="324" r:id="rId20"/>
    <p:sldId id="323" r:id="rId21"/>
    <p:sldId id="325" r:id="rId22"/>
    <p:sldId id="326" r:id="rId23"/>
    <p:sldId id="327" r:id="rId24"/>
    <p:sldId id="297" r:id="rId25"/>
    <p:sldId id="329" r:id="rId26"/>
    <p:sldId id="331" r:id="rId27"/>
    <p:sldId id="334" r:id="rId28"/>
    <p:sldId id="335" r:id="rId29"/>
    <p:sldId id="343" r:id="rId30"/>
    <p:sldId id="336" r:id="rId31"/>
    <p:sldId id="337" r:id="rId32"/>
    <p:sldId id="340" r:id="rId33"/>
    <p:sldId id="339" r:id="rId34"/>
    <p:sldId id="341" r:id="rId35"/>
    <p:sldId id="309" r:id="rId36"/>
    <p:sldId id="277" r:id="rId3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slide" Target="slides/slide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cs typeface="Lato Regular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9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3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6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3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5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4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67.xml"/><Relationship Id="rId2" Type="http://schemas.openxmlformats.org/officeDocument/2006/relationships/image" Target="../media/image4.png"/><Relationship Id="rId1" Type="http://schemas.openxmlformats.org/officeDocument/2006/relationships/tags" Target="../tags/tag36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7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37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73.xml"/><Relationship Id="rId2" Type="http://schemas.openxmlformats.org/officeDocument/2006/relationships/image" Target="../media/image24.png"/><Relationship Id="rId1" Type="http://schemas.openxmlformats.org/officeDocument/2006/relationships/tags" Target="../tags/tag37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75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4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7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9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8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380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3.xml"/><Relationship Id="rId2" Type="http://schemas.openxmlformats.org/officeDocument/2006/relationships/image" Target="../media/image29.png"/><Relationship Id="rId1" Type="http://schemas.openxmlformats.org/officeDocument/2006/relationships/tags" Target="../tags/tag38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5.xml"/><Relationship Id="rId2" Type="http://schemas.openxmlformats.org/officeDocument/2006/relationships/image" Target="../media/image29.png"/><Relationship Id="rId1" Type="http://schemas.openxmlformats.org/officeDocument/2006/relationships/tags" Target="../tags/tag384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7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tags" Target="../tags/tag386.xml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9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tags" Target="../tags/tag38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91.xml"/><Relationship Id="rId1" Type="http://schemas.openxmlformats.org/officeDocument/2006/relationships/tags" Target="../tags/tag390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026.03.18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03675"/>
            <a:ext cx="117557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9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4780" y="390080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如何求出</a:t>
            </a:r>
            <a:r>
              <a:rPr lang="en-US" altLang="zh-CN"/>
              <a:t>x</a:t>
            </a:r>
            <a:r>
              <a:rPr lang="zh-CN" altLang="en-US"/>
              <a:t>？</a:t>
            </a:r>
            <a:endParaRPr lang="zh-CN" altLang="en-US"/>
          </a:p>
          <a:p>
            <a:r>
              <a:rPr lang="zh-CN" altLang="en-US"/>
              <a:t>因为后面需要进行</a:t>
            </a:r>
            <a:r>
              <a:rPr lang="zh-CN" altLang="en-US">
                <a:solidFill>
                  <a:srgbClr val="2177F9"/>
                </a:solidFill>
              </a:rPr>
              <a:t>针对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的查表</a:t>
            </a:r>
            <a:r>
              <a:rPr lang="zh-CN" altLang="en-US"/>
              <a:t>操作，</a:t>
            </a:r>
            <a:endParaRPr lang="zh-CN" altLang="en-US"/>
          </a:p>
          <a:p>
            <a:r>
              <a:rPr lang="zh-CN" altLang="en-US"/>
              <a:t>所以</a:t>
            </a:r>
            <a:r>
              <a:rPr lang="zh-CN" altLang="en-US">
                <a:solidFill>
                  <a:srgbClr val="FF0000"/>
                </a:solidFill>
              </a:rPr>
              <a:t>对表进行</a:t>
            </a:r>
            <a:r>
              <a:rPr lang="en-US" altLang="zh-CN">
                <a:solidFill>
                  <a:srgbClr val="FF0000"/>
                </a:solidFill>
              </a:rPr>
              <a:t>flush and reload</a:t>
            </a:r>
            <a:r>
              <a:rPr lang="zh-CN" altLang="en-US">
                <a:solidFill>
                  <a:srgbClr val="FF0000"/>
                </a:solidFill>
              </a:rPr>
              <a:t>监测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进而</a:t>
            </a:r>
            <a:r>
              <a:rPr lang="zh-CN" altLang="en-US">
                <a:solidFill>
                  <a:srgbClr val="2177F9"/>
                </a:solidFill>
              </a:rPr>
              <a:t>泄露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的值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密钥预处理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128</a:t>
            </a:r>
            <a:r>
              <a:rPr lang="zh-CN" altLang="en-US">
                <a:ln>
                  <a:noFill/>
                </a:ln>
              </a:rPr>
              <a:t>位种子密钥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按列填充到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的矩阵中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密钥扩展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扩展出</a:t>
            </a:r>
            <a:r>
              <a:rPr lang="en-US" altLang="zh-CN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11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个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 128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位的子密钥</a:t>
            </a:r>
            <a:r>
              <a:rPr lang="zh-CN" altLang="en-US">
                <a:ln>
                  <a:noFill/>
                </a:ln>
              </a:rPr>
              <a:t>，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</a:rPr>
              <a:t>                   </a:t>
            </a:r>
            <a:r>
              <a:rPr lang="zh-CN" altLang="en-US">
                <a:ln>
                  <a:noFill/>
                </a:ln>
              </a:rPr>
              <a:t>每个子密钥也是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的字节矩阵。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明文处理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   </a:t>
            </a:r>
            <a:r>
              <a:rPr lang="zh-CN" altLang="en-US">
                <a:ln>
                  <a:noFill/>
                </a:ln>
              </a:rPr>
              <a:t>取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>
                <a:ln>
                  <a:noFill/>
                </a:ln>
              </a:rPr>
              <a:t>明文（分组加密）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经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11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</a:t>
            </a:r>
            <a:r>
              <a:rPr lang="zh-CN" altLang="en-US">
                <a:ln>
                  <a:noFill/>
                </a:ln>
              </a:rPr>
              <a:t>加密：</a:t>
            </a:r>
            <a:endParaRPr lang="en-US" altLang="zh-CN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初始轮</a:t>
            </a:r>
            <a:r>
              <a:rPr lang="zh-CN" altLang="en-US">
                <a:ln>
                  <a:noFill/>
                </a:ln>
              </a:rPr>
              <a:t>：仅进行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（与第</a:t>
            </a:r>
            <a:r>
              <a:rPr lang="en-US" altLang="zh-CN">
                <a:ln>
                  <a:noFill/>
                </a:ln>
              </a:rPr>
              <a:t> 0 </a:t>
            </a:r>
            <a:r>
              <a:rPr lang="zh-CN" altLang="en-US">
                <a:ln>
                  <a:noFill/>
                </a:ln>
              </a:rPr>
              <a:t>轮密钥异或）。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轮标准轮</a:t>
            </a:r>
            <a:r>
              <a:rPr lang="zh-CN" altLang="en-US">
                <a:ln>
                  <a:noFill/>
                </a:ln>
              </a:rPr>
              <a:t>：每轮依次执行</a:t>
            </a:r>
            <a:r>
              <a:rPr lang="en-US" altLang="zh-CN">
                <a:ln>
                  <a:noFill/>
                </a:ln>
              </a:rPr>
              <a:t>            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最终轮</a:t>
            </a:r>
            <a:r>
              <a:rPr lang="zh-CN" altLang="en-US">
                <a:ln>
                  <a:noFill/>
                </a:ln>
              </a:rPr>
              <a:t>：依次执行</a:t>
            </a:r>
            <a:r>
              <a:rPr lang="en-US" altLang="zh-CN">
                <a:ln>
                  <a:noFill/>
                </a:ln>
              </a:rPr>
              <a:t>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（没有</a:t>
            </a:r>
            <a:r>
              <a:rPr lang="en-US" altLang="zh-CN">
                <a:ln>
                  <a:noFill/>
                </a:ln>
              </a:rPr>
              <a:t> MixColumns</a:t>
            </a:r>
            <a:r>
              <a:rPr lang="zh-CN" altLang="en-US">
                <a:ln>
                  <a:noFill/>
                </a:ln>
              </a:rPr>
              <a:t>）。</a:t>
            </a:r>
            <a:endParaRPr lang="zh-CN" altLang="en-US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可以预先计算</a:t>
            </a:r>
            <a:r>
              <a:rPr lang="en-US" altLang="zh-CN">
                <a:ln>
                  <a:noFill/>
                </a:ln>
                <a:sym typeface="+mn-ea"/>
              </a:rPr>
              <a:t>SubBytes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ShiftRows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MixColumns</a:t>
            </a:r>
            <a:r>
              <a:rPr lang="zh-CN" altLang="en-US">
                <a:ln>
                  <a:noFill/>
                </a:ln>
                <a:sym typeface="+mn-ea"/>
              </a:rPr>
              <a:t>，得到</a:t>
            </a:r>
            <a:r>
              <a:rPr lang="en-US" altLang="zh-CN">
                <a:ln>
                  <a:noFill/>
                </a:ln>
                <a:sym typeface="+mn-ea"/>
              </a:rPr>
              <a:t>4</a:t>
            </a:r>
            <a:r>
              <a:rPr lang="zh-CN" altLang="en-US">
                <a:ln>
                  <a:noFill/>
                </a:ln>
                <a:sym typeface="+mn-ea"/>
              </a:rPr>
              <a:t>张</a:t>
            </a:r>
            <a:r>
              <a:rPr lang="en-US" altLang="zh-CN">
                <a:ln>
                  <a:noFill/>
                </a:ln>
                <a:sym typeface="+mn-ea"/>
              </a:rPr>
              <a:t>256</a:t>
            </a:r>
            <a:r>
              <a:rPr lang="zh-CN" altLang="en-US">
                <a:ln>
                  <a:noFill/>
                </a:ln>
                <a:sym typeface="+mn-ea"/>
              </a:rPr>
              <a:t>×</a:t>
            </a:r>
            <a:r>
              <a:rPr lang="en-US" altLang="zh-CN">
                <a:ln>
                  <a:noFill/>
                </a:ln>
                <a:sym typeface="+mn-ea"/>
              </a:rPr>
              <a:t>32bit</a:t>
            </a:r>
            <a:r>
              <a:rPr lang="zh-CN" altLang="en-US">
                <a:ln>
                  <a:noFill/>
                </a:ln>
                <a:sym typeface="+mn-ea"/>
              </a:rPr>
              <a:t>的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表（</a:t>
            </a:r>
            <a:r>
              <a:rPr lang="en-US" altLang="zh-CN">
                <a:ln>
                  <a:noFill/>
                </a:ln>
                <a:sym typeface="+mn-ea"/>
              </a:rPr>
              <a:t>Te0~Te3</a:t>
            </a:r>
            <a:r>
              <a:rPr lang="zh-CN" altLang="en-US">
                <a:ln>
                  <a:noFill/>
                </a:ln>
                <a:sym typeface="+mn-ea"/>
              </a:rPr>
              <a:t>）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en-US" altLang="zh-CN">
                <a:ln>
                  <a:noFill/>
                </a:ln>
                <a:sym typeface="+mn-ea"/>
              </a:rPr>
              <a:t>9</a:t>
            </a:r>
            <a:r>
              <a:rPr lang="zh-CN" altLang="en-US">
                <a:ln>
                  <a:noFill/>
                </a:ln>
                <a:sym typeface="+mn-ea"/>
              </a:rPr>
              <a:t>轮标准轮：每轮输入状态直接通过查询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表得到结果，然后与轮密钥异或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最终轮：仍然使用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表，但只提取其包含的</a:t>
            </a:r>
            <a:r>
              <a:rPr lang="en-US" altLang="zh-CN">
                <a:ln>
                  <a:noFill/>
                </a:ln>
                <a:sym typeface="+mn-ea"/>
              </a:rPr>
              <a:t>S</a:t>
            </a:r>
            <a:r>
              <a:rPr lang="zh-CN" altLang="en-US">
                <a:ln>
                  <a:noFill/>
                </a:ln>
                <a:sym typeface="+mn-ea"/>
              </a:rPr>
              <a:t>盒结果的那些字节（因为不进行列混淆），然后与轮密钥异或</a:t>
            </a:r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117975" y="2373630"/>
            <a:ext cx="1482725" cy="33528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046470" y="2382520"/>
            <a:ext cx="4465955" cy="3257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62880" y="2889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轮密钥加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5939790" y="171831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- T</a:t>
            </a:r>
            <a:r>
              <a:rPr lang="zh-CN" altLang="en-US">
                <a:solidFill>
                  <a:schemeClr val="bg1"/>
                </a:solidFill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450" y="5899150"/>
            <a:ext cx="7664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攻击方法：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flush and reload + 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排除法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54190" y="4418330"/>
            <a:ext cx="5034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这样，通过多次加密不同样本，正确密钥值被排除的次数极少，而错误候选被大量排除，最终选择</a:t>
            </a:r>
            <a:r>
              <a:rPr lang="zh-CN" altLang="en-US">
                <a:solidFill>
                  <a:srgbClr val="FF0000"/>
                </a:solidFill>
              </a:rPr>
              <a:t>被排除次数最少的候选作为恢复的密钥字节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835775" y="4403725"/>
            <a:ext cx="5074920" cy="98869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2.5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攻击原理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概率论视角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00965" y="1137920"/>
            <a:ext cx="118846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每个</a:t>
            </a:r>
            <a:r>
              <a:rPr lang="en-US" altLang="zh-CN">
                <a:solidFill>
                  <a:srgbClr val="2177F9"/>
                </a:solidFill>
              </a:rPr>
              <a:t> T </a:t>
            </a:r>
            <a:r>
              <a:rPr lang="zh-CN" altLang="en-US">
                <a:solidFill>
                  <a:srgbClr val="2177F9"/>
                </a:solidFill>
              </a:rPr>
              <a:t>表在一次加密中被访问</a:t>
            </a:r>
            <a:r>
              <a:rPr lang="en-US" altLang="zh-CN">
                <a:solidFill>
                  <a:srgbClr val="2177F9"/>
                </a:solidFill>
              </a:rPr>
              <a:t> 40 </a:t>
            </a:r>
            <a:r>
              <a:rPr lang="zh-CN" altLang="en-US">
                <a:solidFill>
                  <a:srgbClr val="2177F9"/>
                </a:solidFill>
              </a:rPr>
              <a:t>次</a:t>
            </a:r>
            <a:r>
              <a:rPr lang="zh-CN" altLang="en-US"/>
              <a:t>（</a:t>
            </a:r>
            <a:r>
              <a:rPr lang="en-US" altLang="zh-CN"/>
              <a:t>10 </a:t>
            </a:r>
            <a:r>
              <a:rPr lang="zh-CN" altLang="en-US"/>
              <a:t>轮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每轮</a:t>
            </a:r>
            <a:r>
              <a:rPr lang="en-US" altLang="zh-CN"/>
              <a:t> 4 </a:t>
            </a:r>
            <a:r>
              <a:rPr lang="zh-CN" altLang="en-US"/>
              <a:t>次）。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每次访问的输入字节均匀随机，落在监控范围 0~15 的概率为 16/256 = 1/16，不落在的概率为 15/16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Flush+Reload </a:t>
            </a:r>
            <a:r>
              <a:rPr lang="zh-CN" altLang="en-US"/>
              <a:t>攻击中，</a:t>
            </a:r>
            <a:r>
              <a:rPr lang="zh-CN" altLang="en-US">
                <a:solidFill>
                  <a:srgbClr val="2177F9"/>
                </a:solidFill>
              </a:rPr>
              <a:t>每个 T 表在单次加密中未被访问的概率为 p = (15/16)^40 ≈ 0.0756</a:t>
            </a:r>
            <a:r>
              <a:rPr lang="zh-CN" altLang="en-US"/>
              <a:t>。由于有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T </a:t>
            </a:r>
            <a:r>
              <a:rPr lang="zh-CN" altLang="en-US"/>
              <a:t>表，且每个表未命中时会影响该表负责的</a:t>
            </a:r>
            <a:r>
              <a:rPr lang="en-US" altLang="zh-CN"/>
              <a:t> 4 </a:t>
            </a:r>
            <a:r>
              <a:rPr lang="zh-CN" altLang="en-US"/>
              <a:t>个密钥字节（每个字节排除</a:t>
            </a:r>
            <a:r>
              <a:rPr lang="en-US" altLang="zh-CN"/>
              <a:t> 16 </a:t>
            </a:r>
            <a:r>
              <a:rPr lang="zh-CN" altLang="en-US"/>
              <a:t>个候选值），因此</a:t>
            </a:r>
            <a:r>
              <a:rPr lang="zh-CN" altLang="en-US">
                <a:solidFill>
                  <a:srgbClr val="2177F9"/>
                </a:solidFill>
              </a:rPr>
              <a:t>一次加密中期望排除的候选总次数为：4 × p × 4 × 16 = 256p ≈ 256 × 0.0756 ≈ 19.35 次</a:t>
            </a:r>
            <a:endParaRPr lang="zh-CN" altLang="en-US">
              <a:solidFill>
                <a:srgbClr val="2177F9"/>
              </a:solidFill>
            </a:endParaRPr>
          </a:p>
          <a:p>
            <a:endParaRPr lang="en-US" altLang="zh-CN"/>
          </a:p>
          <a:p>
            <a:r>
              <a:rPr lang="zh-CN" altLang="en-US"/>
              <a:t>这表示平均每次加密会在所有</a:t>
            </a:r>
            <a:r>
              <a:rPr lang="en-US" altLang="zh-CN"/>
              <a:t> 16 </a:t>
            </a:r>
            <a:r>
              <a:rPr lang="zh-CN" altLang="en-US"/>
              <a:t>个密钥字节上累计增加约</a:t>
            </a:r>
            <a:r>
              <a:rPr lang="en-US" altLang="zh-CN"/>
              <a:t> 19.35 </a:t>
            </a:r>
            <a:r>
              <a:rPr lang="zh-CN" altLang="en-US"/>
              <a:t>次排除计数。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对于某个具体的密钥字节，它只受一个 T 表影响，因此该字节上的某个固定错误候选值被排除的概率为</a:t>
            </a:r>
            <a:r>
              <a:rPr lang="en-US" altLang="zh-CN">
                <a:solidFill>
                  <a:srgbClr val="2177F9"/>
                </a:solidFill>
              </a:rPr>
              <a:t> p </a:t>
            </a:r>
            <a:r>
              <a:rPr lang="en-US" altLang="en-US">
                <a:solidFill>
                  <a:srgbClr val="2177F9"/>
                </a:solidFill>
              </a:rPr>
              <a:t>×</a:t>
            </a:r>
            <a:r>
              <a:rPr lang="en-US" altLang="zh-CN">
                <a:solidFill>
                  <a:srgbClr val="2177F9"/>
                </a:solidFill>
              </a:rPr>
              <a:t> 16/256 = p/16 ≈ 0.004725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经过 N 次加密，该错误候选被排除的期望次数为 N · p/16</a:t>
            </a:r>
            <a:r>
              <a:rPr lang="zh-CN" altLang="en-US"/>
              <a:t>，而正确候选的排除次数理论上为</a:t>
            </a:r>
            <a:r>
              <a:rPr lang="en-US" altLang="zh-CN"/>
              <a:t> 0</a:t>
            </a:r>
            <a:r>
              <a:rPr lang="zh-CN" altLang="en-US"/>
              <a:t>。</a:t>
            </a:r>
            <a:r>
              <a:rPr lang="zh-CN" altLang="en-US">
                <a:solidFill>
                  <a:srgbClr val="2177F9"/>
                </a:solidFill>
              </a:rPr>
              <a:t>当 N =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时，期望排除次数约为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× 0.004725 ≈ </a:t>
            </a:r>
            <a:r>
              <a:rPr lang="en-US" altLang="zh-CN">
                <a:solidFill>
                  <a:srgbClr val="2177F9"/>
                </a:solidFill>
              </a:rPr>
              <a:t>23.625</a:t>
            </a:r>
            <a:r>
              <a:rPr lang="zh-CN" altLang="en-US">
                <a:solidFill>
                  <a:srgbClr val="2177F9"/>
                </a:solidFill>
              </a:rPr>
              <a:t> 次</a:t>
            </a:r>
            <a:r>
              <a:rPr lang="zh-CN" altLang="en-US"/>
              <a:t>，此时正确候选的计数期望</a:t>
            </a:r>
            <a:r>
              <a:rPr lang="en-US" altLang="zh-CN"/>
              <a:t> 0 </a:t>
            </a:r>
            <a:r>
              <a:rPr lang="zh-CN" altLang="en-US"/>
              <a:t>远小于所有错误候选的计数，因此分界非常明显。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环境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CFLAGS = -O0 -g -march=native -Wall -fno-stack-protector -Iinclude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-fno-stack-protector</a:t>
            </a:r>
            <a:r>
              <a:rPr lang="en-US" altLang="zh-CN"/>
              <a:t>: </a:t>
            </a:r>
            <a:r>
              <a:rPr lang="zh-CN" altLang="en-US"/>
              <a:t>避免栈保护代码干扰缓存行为</a:t>
            </a:r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初始化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" y="1322705"/>
            <a:ext cx="4953000" cy="1638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8275" y="95440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3.2.1 </a:t>
            </a:r>
            <a:r>
              <a:rPr lang="zh-CN" altLang="en-US"/>
              <a:t>参数</a:t>
            </a:r>
            <a:r>
              <a:rPr lang="zh-CN" altLang="en-US"/>
              <a:t>校验：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3.2.2 </a:t>
            </a:r>
            <a:r>
              <a:rPr lang="zh-CN" altLang="en-US"/>
              <a:t>创建共享</a:t>
            </a:r>
            <a:r>
              <a:rPr lang="zh-CN" altLang="en-US"/>
              <a:t>内存：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" y="3510915"/>
            <a:ext cx="4733925" cy="1800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53455" y="94551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3.2.3 </a:t>
            </a:r>
            <a:r>
              <a:rPr lang="zh-CN" altLang="en-US"/>
              <a:t>创建通信管道：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3.2.4 </a:t>
            </a:r>
            <a:r>
              <a:rPr lang="zh-CN" altLang="en-US"/>
              <a:t>准备测试</a:t>
            </a:r>
            <a:r>
              <a:rPr lang="zh-CN" altLang="en-US"/>
              <a:t>密钥：</a:t>
            </a:r>
            <a:endParaRPr lang="zh-CN" altLang="en-US"/>
          </a:p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560" y="1322705"/>
            <a:ext cx="5362575" cy="1571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560" y="3510915"/>
            <a:ext cx="5438775" cy="26765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694420" y="4562475"/>
            <a:ext cx="2109470" cy="149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768330" y="446532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rgbClr val="FF0000"/>
                </a:solidFill>
              </a:rPr>
              <a:t>通过管道与攻击者进程</a:t>
            </a:r>
            <a:endParaRPr lang="zh-CN" altLang="en-US" sz="800">
              <a:solidFill>
                <a:srgbClr val="FF0000"/>
              </a:solidFill>
            </a:endParaRPr>
          </a:p>
          <a:p>
            <a:r>
              <a:rPr lang="zh-CN" altLang="en-US" sz="800">
                <a:solidFill>
                  <a:srgbClr val="FF0000"/>
                </a:solidFill>
              </a:rPr>
              <a:t>通信，实现进程同步。</a:t>
            </a:r>
            <a:endParaRPr lang="zh-CN" altLang="en-US" sz="8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攻击者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515"/>
            <a:ext cx="6356350" cy="23234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15" y="1309370"/>
            <a:ext cx="4924425" cy="4619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</a:t>
            </a:r>
            <a:r>
              <a:rPr lang="zh-CN" altLang="en-US" sz="1600">
                <a:solidFill>
                  <a:srgbClr val="FF0000"/>
                </a:solidFill>
              </a:rPr>
              <a:t>阈值设为</a:t>
            </a:r>
            <a:r>
              <a:rPr lang="en-US" altLang="zh-CN" sz="1600">
                <a:solidFill>
                  <a:srgbClr val="FF0000"/>
                </a:solidFill>
              </a:rPr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FF0000"/>
                </a:solidFill>
              </a:rPr>
              <a:t>整体无访问率</a:t>
            </a:r>
            <a:r>
              <a:rPr lang="en-US" altLang="zh-CN" sz="1600">
                <a:solidFill>
                  <a:srgbClr val="FF0000"/>
                </a:solidFill>
              </a:rPr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>
                <a:solidFill>
                  <a:srgbClr val="FF0000"/>
                </a:solidFill>
              </a:rPr>
              <a:t>有用样本（至少一个表未命中）共</a:t>
            </a:r>
            <a:r>
              <a:rPr lang="en-US" altLang="zh-CN" sz="1600">
                <a:solidFill>
                  <a:srgbClr val="FF0000"/>
                </a:solidFill>
              </a:rPr>
              <a:t> 1191 </a:t>
            </a:r>
            <a:r>
              <a:rPr lang="zh-CN" altLang="en-US" sz="1600">
                <a:solidFill>
                  <a:srgbClr val="FF0000"/>
                </a:solidFill>
              </a:rPr>
              <a:t>个，占总样本的</a:t>
            </a:r>
            <a:r>
              <a:rPr lang="en-US" altLang="zh-CN" sz="1600">
                <a:solidFill>
                  <a:srgbClr val="FF0000"/>
                </a:solidFill>
              </a:rPr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个周期，阈值设为</a:t>
            </a:r>
            <a:r>
              <a:rPr lang="en-US" altLang="zh-CN" sz="1600"/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，整体无访问率</a:t>
            </a:r>
            <a:r>
              <a:rPr lang="en-US" altLang="zh-CN" sz="1600"/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有用样本（至少一个表未命中）共</a:t>
            </a:r>
            <a:r>
              <a:rPr lang="en-US" altLang="zh-CN" sz="1600"/>
              <a:t> 1191 </a:t>
            </a:r>
            <a:r>
              <a:rPr lang="zh-CN" altLang="en-US" sz="1600"/>
              <a:t>个，占总样本的</a:t>
            </a:r>
            <a:r>
              <a:rPr lang="en-US" altLang="zh-CN" sz="1600"/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  <p:sp>
        <p:nvSpPr>
          <p:cNvPr id="3" name="矩形 2"/>
          <p:cNvSpPr/>
          <p:nvPr/>
        </p:nvSpPr>
        <p:spPr>
          <a:xfrm>
            <a:off x="476885" y="3097530"/>
            <a:ext cx="2400935" cy="21532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525" y="6169025"/>
            <a:ext cx="3098165" cy="2825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39920" y="4897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SUCCESS! </a:t>
            </a:r>
            <a:r>
              <a:rPr lang="zh-CN" altLang="en-US">
                <a:solidFill>
                  <a:srgbClr val="FF0000"/>
                </a:solidFill>
              </a:rPr>
              <a:t>成功恢复出原始</a:t>
            </a:r>
            <a:r>
              <a:rPr lang="zh-CN" altLang="en-US">
                <a:solidFill>
                  <a:srgbClr val="FF0000"/>
                </a:solidFill>
              </a:rPr>
              <a:t>密钥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</a:rPr>
              <a:t>另一些</a:t>
            </a:r>
            <a:r>
              <a:rPr lang="zh-CN" altLang="en-US">
                <a:solidFill>
                  <a:schemeClr val="bg1"/>
                </a:solidFill>
              </a:rPr>
              <a:t>测试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" y="1355725"/>
            <a:ext cx="4147185" cy="2654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70" y="987425"/>
            <a:ext cx="4616450" cy="58089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0" y="934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3.4.1 </a:t>
            </a:r>
            <a:r>
              <a:rPr lang="zh-CN" altLang="en-US"/>
              <a:t>将样本量增加到</a:t>
            </a:r>
            <a:r>
              <a:rPr lang="en-US" altLang="zh-CN"/>
              <a:t>50</a:t>
            </a:r>
            <a:r>
              <a:rPr lang="zh-CN" altLang="en-US"/>
              <a:t>万：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0" y="1676400"/>
            <a:ext cx="4540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可以看到总体的无访问率收敛</a:t>
            </a:r>
            <a:r>
              <a:rPr lang="zh-CN" altLang="en-US"/>
              <a:t>在了</a:t>
            </a:r>
            <a:r>
              <a:rPr lang="en-US" altLang="zh-CN"/>
              <a:t>7.5%</a:t>
            </a:r>
            <a:r>
              <a:rPr lang="zh-CN" altLang="en-US"/>
              <a:t>，和理论计算的结果</a:t>
            </a:r>
            <a:r>
              <a:rPr lang="zh-CN" altLang="en-US"/>
              <a:t>一致。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393430" y="1499870"/>
            <a:ext cx="1217930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</a:rPr>
              <a:t>另一些</a:t>
            </a:r>
            <a:r>
              <a:rPr lang="zh-CN" altLang="en-US">
                <a:solidFill>
                  <a:schemeClr val="bg1"/>
                </a:solidFill>
              </a:rPr>
              <a:t>测试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0" y="934085"/>
            <a:ext cx="12192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3.4.2 </a:t>
            </a:r>
            <a:r>
              <a:rPr lang="zh-CN" altLang="en-US"/>
              <a:t>对攻击</a:t>
            </a:r>
            <a:r>
              <a:rPr lang="en-US" altLang="zh-CN">
                <a:sym typeface="+mn-ea"/>
              </a:rPr>
              <a:t>AES-128</a:t>
            </a:r>
            <a:r>
              <a:rPr lang="zh-CN" altLang="en-US"/>
              <a:t>成功率的</a:t>
            </a:r>
            <a:r>
              <a:rPr lang="zh-CN" altLang="en-US"/>
              <a:t>测试：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5000</a:t>
            </a:r>
            <a:r>
              <a:rPr lang="zh-CN" altLang="en-US"/>
              <a:t>样本，</a:t>
            </a:r>
            <a:r>
              <a:rPr lang="en-US" altLang="zh-CN"/>
              <a:t>100</a:t>
            </a:r>
            <a:r>
              <a:rPr lang="zh-CN" altLang="en-US"/>
              <a:t>轮：</a:t>
            </a:r>
            <a:r>
              <a:rPr lang="en-US" altLang="zh-CN"/>
              <a:t>                             </a:t>
            </a:r>
            <a:r>
              <a:rPr lang="en-US" altLang="zh-CN">
                <a:sym typeface="+mn-ea"/>
              </a:rPr>
              <a:t>10000</a:t>
            </a:r>
            <a:r>
              <a:rPr lang="zh-CN" altLang="en-US">
                <a:sym typeface="+mn-ea"/>
              </a:rPr>
              <a:t>样本，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sym typeface="+mn-ea"/>
              </a:rPr>
              <a:t>轮：</a:t>
            </a:r>
            <a:r>
              <a:rPr lang="en-US" altLang="zh-CN">
                <a:sym typeface="+mn-ea"/>
              </a:rPr>
              <a:t>                                  15000</a:t>
            </a:r>
            <a:r>
              <a:rPr lang="zh-CN" altLang="en-US">
                <a:sym typeface="+mn-ea"/>
              </a:rPr>
              <a:t>样本，</a:t>
            </a:r>
            <a:r>
              <a:rPr lang="en-US" altLang="zh-CN">
                <a:sym typeface="+mn-ea"/>
              </a:rPr>
              <a:t>100</a:t>
            </a:r>
            <a:r>
              <a:rPr lang="zh-CN" altLang="en-US">
                <a:sym typeface="+mn-ea"/>
              </a:rPr>
              <a:t>轮：</a:t>
            </a:r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530" y="1946910"/>
            <a:ext cx="3459480" cy="43903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385" y="1946910"/>
            <a:ext cx="3490595" cy="43910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" y="1946910"/>
            <a:ext cx="3324225" cy="439102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115570" y="5956935"/>
            <a:ext cx="1217930" cy="2209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8608060" y="5932170"/>
            <a:ext cx="1217930" cy="2209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4248150" y="5956935"/>
            <a:ext cx="1217930" cy="2209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针对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AES192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和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AES256</a:t>
            </a:r>
            <a:r>
              <a:rPr lang="zh-CN" altLang="en-US">
                <a:sym typeface="+mn-ea"/>
              </a:rPr>
              <a:t>做侧信道攻击的分析。由于最终轮密钥位数小于种子密钥位数，只有一个轮密钥无法恢复完整的</a:t>
            </a:r>
            <a:r>
              <a:rPr lang="en-US" altLang="zh-CN">
                <a:sym typeface="+mn-ea"/>
              </a:rPr>
              <a:t>AES192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AES256</a:t>
            </a:r>
            <a:r>
              <a:rPr lang="zh-CN" altLang="en-US">
                <a:sym typeface="+mn-ea"/>
              </a:rPr>
              <a:t>原始密钥，所以需要另作</a:t>
            </a:r>
            <a:r>
              <a:rPr lang="zh-CN" altLang="en-US">
                <a:sym typeface="+mn-ea"/>
              </a:rPr>
              <a:t>分析。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612241"/>
            <a:ext cx="9144000" cy="1260058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   谢谢！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  <a:p>
            <a:r>
              <a:rPr lang="en-US" altLang="zh-CN" dirty="0">
                <a:solidFill>
                  <a:schemeClr val="accent1"/>
                </a:solidFill>
                <a:latin typeface="+mj-lt"/>
              </a:rPr>
              <a:t>2026.03.18</a:t>
            </a:r>
            <a:endParaRPr lang="zh-CN" altLang="en-US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1"/>
  <p:tag name="KSO_WM_UNIT_LAYERLEVEL" val="1"/>
</p:tagLst>
</file>

<file path=ppt/tags/tag3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5*a*1"/>
  <p:tag name="KSO_WM_UNIT_LAYERLEVEL" val="1"/>
  <p:tag name="KSO_WM_TEMPLATE_INDEX" val="4"/>
  <p:tag name="KSO_WM_TEMPLATE_CATEGORY" val="custom"/>
</p:tagLst>
</file>

<file path=ppt/tags/tag3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5*f*1"/>
  <p:tag name="KSO_WM_UNIT_LAYERLEVEL" val="1"/>
  <p:tag name="KSO_WM_TEMPLATE_INDEX" val="4"/>
  <p:tag name="KSO_WM_TEMPLATE_CATEGORY" val="custom"/>
</p:tagLst>
</file>

<file path=ppt/tags/tag395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5*i*2"/>
  <p:tag name="KSO_WM_UNIT_LAYERLEVEL" val="1"/>
</p:tagLst>
</file>

<file path=ppt/tags/tag396.xml><?xml version="1.0" encoding="utf-8"?>
<p:tagLst xmlns:p="http://schemas.openxmlformats.org/presentationml/2006/main">
  <p:tag name="KSO_WM_SLIDE_TYPE" val="endPage"/>
  <p:tag name="KSO_WM_TEMPLATE_SUBCATEGORY" val="29"/>
  <p:tag name="KSO_WM_TEMPLATE_COLOR_TYPE" val="0"/>
  <p:tag name="KSO_WM_TAG_VERSION" val="3.0"/>
  <p:tag name="KSO_WM_TEMPLATE_PLACEHOLDER_POS" val="222,146.25,736,459.375"/>
  <p:tag name="KSO_WM_SLIDE_SUBTYPE" val="pureTxt"/>
  <p:tag name="KSO_WM_SLIDE_ITEM_CNT" val="0"/>
  <p:tag name="KSO_WM_TEMPLATE_INDEX" val="4"/>
  <p:tag name="KSO_WM_SLIDE_THEME_ID" val="20232246"/>
  <p:tag name="KSO_WM_SLIDE_INDEX" val="5"/>
  <p:tag name="KSO_WM_BEAUTIFY_FLAG" val="#wm#"/>
  <p:tag name="KSO_WM_TEMPLATE_CATEGORY" val="custom"/>
  <p:tag name="KSO_WM_SLIDE_ID" val="custom4_5"/>
  <p:tag name="KSO_WM_SLIDE_LAYOUT" val="a_f_i"/>
  <p:tag name="KSO_WM_SLIDE_LAYOUT_CNT" val="1_1_2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6451</Words>
  <Application>WPS 演示</Application>
  <PresentationFormat>宽屏</PresentationFormat>
  <Paragraphs>343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Arial Unicode MS</vt:lpstr>
      <vt:lpstr>Calibri</vt:lpstr>
      <vt:lpstr>Office 主题</vt:lpstr>
      <vt:lpstr>Office 主题​​</vt:lpstr>
      <vt:lpstr>基于Flush+Reload的 AES算法Cache计时攻击</vt:lpstr>
      <vt:lpstr>1.1 AES128算法加密</vt:lpstr>
      <vt:lpstr>1.1 AES128算法加密</vt:lpstr>
      <vt:lpstr>1.2 带查表加速的AES128算法加密</vt:lpstr>
      <vt:lpstr>2.1 攻击思想 - 最终轮 </vt:lpstr>
      <vt:lpstr>2.1 攻击思想 - 最终轮 </vt:lpstr>
      <vt:lpstr>2.2 加密细节 - 最终轮 </vt:lpstr>
      <vt:lpstr>2.2 加密细节 - 最终轮 </vt:lpstr>
      <vt:lpstr>1.2 带查表加速的AES128算法加密</vt:lpstr>
      <vt:lpstr>1.2 带查表加速的AES128算法加密</vt:lpstr>
      <vt:lpstr>2.2 加密细节 - 最终轮 </vt:lpstr>
      <vt:lpstr>2.2 加密细节 - 最终轮 </vt:lpstr>
      <vt:lpstr>2.2 加密细节 - 最终轮 </vt:lpstr>
      <vt:lpstr>2.3 攻击切入点 - 最终轮 - T表 </vt:lpstr>
      <vt:lpstr>2.3 攻击切入点 - 最终轮 - T表</vt:lpstr>
      <vt:lpstr>2.3 攻击切入点 - 最终轮 - T表</vt:lpstr>
      <vt:lpstr>2.4 攻击：flush and reload + 排除法</vt:lpstr>
      <vt:lpstr>2.4 攻击：flush and reload + 排除法</vt:lpstr>
      <vt:lpstr>2.4 攻击：flush and reload + 排除法</vt:lpstr>
      <vt:lpstr>2.5 攻击原理 - 概率论视角</vt:lpstr>
      <vt:lpstr>3.1 实验过程 - 实验环境</vt:lpstr>
      <vt:lpstr>3.2 实验过程 -  初始化</vt:lpstr>
      <vt:lpstr>3.2 实验过程 -  主控制逻辑</vt:lpstr>
      <vt:lpstr>3.2 实验过程 -  主控制逻辑</vt:lpstr>
      <vt:lpstr>3.2 实验过程 -  受害者进程</vt:lpstr>
      <vt:lpstr>3.2 实验过程 -  受害者进程</vt:lpstr>
      <vt:lpstr>3.2 实验过程 -  攻击者进程</vt:lpstr>
      <vt:lpstr>3.3 实验结果</vt:lpstr>
      <vt:lpstr>3.3 实验结果</vt:lpstr>
      <vt:lpstr>3.4 另一些测试</vt:lpstr>
      <vt:lpstr>3.4 另一些测试</vt:lpstr>
      <vt:lpstr>4. 下周目标</vt:lpstr>
      <vt:lpstr>   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76</cp:revision>
  <dcterms:created xsi:type="dcterms:W3CDTF">2026-01-21T07:12:00Z</dcterms:created>
  <dcterms:modified xsi:type="dcterms:W3CDTF">2026-03-18T08:26:46Z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