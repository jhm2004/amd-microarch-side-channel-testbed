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69" r:id="rId5"/>
    <p:sldId id="270" r:id="rId6"/>
    <p:sldId id="271" r:id="rId7"/>
    <p:sldId id="268" r:id="rId8"/>
    <p:sldId id="276" r:id="rId9"/>
    <p:sldId id="273" r:id="rId10"/>
    <p:sldId id="280" r:id="rId11"/>
    <p:sldId id="274" r:id="rId12"/>
    <p:sldId id="281" r:id="rId13"/>
    <p:sldId id="277" r:id="rId14"/>
    <p:sldId id="282" r:id="rId15"/>
    <p:sldId id="278" r:id="rId16"/>
    <p:sldId id="283" r:id="rId17"/>
    <p:sldId id="265" r:id="rId18"/>
    <p:sldId id="279" r:id="rId19"/>
    <p:sldId id="284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1030D"/>
    <a:srgbClr val="B40522"/>
    <a:srgbClr val="EDC8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436" y="1960"/>
      </p:cViewPr>
      <p:guideLst>
        <p:guide orient="horz" pos="2160"/>
        <p:guide pos="3840"/>
        <p:guide orient="horz" pos="527"/>
        <p:guide pos="21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chemeClr val="bg1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933D22-F880-4922-919C-8453258F4C0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689A53-189D-43A6-9828-F9DEFE0C70D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8" Type="http://schemas.openxmlformats.org/officeDocument/2006/relationships/slideLayout" Target="../slideLayouts/slideLayout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2" Type="http://schemas.openxmlformats.org/officeDocument/2006/relationships/slideLayout" Target="../slideLayouts/slideLayout6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image" Target="../media/image13.png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tags" Target="../tags/tag33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4720" y="1037508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抗疫斗争</a:t>
            </a:r>
            <a:endParaRPr lang="zh-CN" altLang="en-US" sz="60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5120" y="432988"/>
            <a:ext cx="1210588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80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18400" y="1433748"/>
            <a:ext cx="1210588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80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9440" y="195979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中国力量</a:t>
            </a:r>
            <a:endParaRPr lang="zh-CN" altLang="en-US" sz="60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438" y="4889500"/>
            <a:ext cx="1339192" cy="800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1872" y="4889500"/>
            <a:ext cx="1339192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461" y="4730750"/>
            <a:ext cx="781438" cy="164941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0" y="3980376"/>
            <a:ext cx="858838" cy="5465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6" y="3460472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221" y="3843389"/>
            <a:ext cx="323029" cy="20556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04" y="3915033"/>
            <a:ext cx="662795" cy="31256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474720" y="3127920"/>
            <a:ext cx="522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</a:rPr>
              <a:t>疫情防控专题党课  把握制度优势坚定制度自信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5288" y="432988"/>
            <a:ext cx="338554" cy="23711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000" dirty="0" smtClean="0">
                <a:solidFill>
                  <a:schemeClr val="bg1"/>
                </a:solidFill>
              </a:rPr>
              <a:t>不忘初心 牢记使命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316868" y="2693588"/>
            <a:ext cx="338554" cy="23711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000" dirty="0" smtClean="0">
                <a:solidFill>
                  <a:schemeClr val="bg1"/>
                </a:solidFill>
              </a:rPr>
              <a:t>众志成城 战胜疫情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14" grpId="0"/>
      <p:bldP spid="15" grpId="0"/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281642" y="1170484"/>
            <a:ext cx="577142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新冠肺炎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疫情在全球暴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发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221008" y="2194894"/>
            <a:ext cx="5827236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对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全世界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是一次严峻考验</a:t>
            </a:r>
            <a:endParaRPr lang="zh-CN" altLang="en-US" sz="4000" dirty="0">
              <a:solidFill>
                <a:schemeClr val="bg1"/>
              </a:solidFill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345267" y="3222844"/>
            <a:ext cx="75014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2240917" y="3671981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累计确诊</a:t>
            </a:r>
            <a:endParaRPr lang="zh-CN" altLang="en-US" sz="25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2240917" y="4090265"/>
            <a:ext cx="16385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 smtClean="0">
                <a:solidFill>
                  <a:schemeClr val="bg1"/>
                </a:solidFill>
              </a:rPr>
              <a:t>8327805</a:t>
            </a:r>
            <a:r>
              <a:rPr lang="zh-CN" altLang="en-US" sz="2500" dirty="0" smtClean="0">
                <a:solidFill>
                  <a:schemeClr val="bg1"/>
                </a:solidFill>
              </a:rPr>
              <a:t>人</a:t>
            </a:r>
            <a:endParaRPr lang="zh-CN" altLang="en-US" sz="2500" dirty="0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365325" y="3671981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累计死亡</a:t>
            </a:r>
            <a:endParaRPr lang="zh-CN" altLang="en-US" sz="25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355707" y="4090265"/>
            <a:ext cx="14766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 smtClean="0">
                <a:solidFill>
                  <a:schemeClr val="bg1"/>
                </a:solidFill>
              </a:rPr>
              <a:t>449182</a:t>
            </a:r>
            <a:r>
              <a:rPr lang="zh-CN" altLang="en-US" sz="2500" dirty="0" smtClean="0">
                <a:solidFill>
                  <a:schemeClr val="bg1"/>
                </a:solidFill>
              </a:rPr>
              <a:t>人</a:t>
            </a:r>
            <a:endParaRPr lang="zh-CN" altLang="en-US" sz="2500" dirty="0">
              <a:solidFill>
                <a:schemeClr val="bg1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489732" y="3671981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感染国家</a:t>
            </a:r>
            <a:endParaRPr lang="zh-CN" altLang="en-US" sz="25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489732" y="4090265"/>
            <a:ext cx="99097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 smtClean="0">
                <a:solidFill>
                  <a:schemeClr val="bg1"/>
                </a:solidFill>
              </a:rPr>
              <a:t>210</a:t>
            </a:r>
            <a:r>
              <a:rPr lang="zh-CN" altLang="en-US" sz="2500" dirty="0" smtClean="0">
                <a:solidFill>
                  <a:schemeClr val="bg1"/>
                </a:solidFill>
              </a:rPr>
              <a:t>个</a:t>
            </a:r>
            <a:endParaRPr lang="zh-CN" altLang="en-US" sz="2500" dirty="0">
              <a:solidFill>
                <a:schemeClr val="bg1"/>
              </a:solidFill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498846" y="5976215"/>
            <a:ext cx="216597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200" dirty="0" smtClean="0">
                <a:solidFill>
                  <a:schemeClr val="bg1"/>
                </a:solidFill>
              </a:rPr>
              <a:t>数据来源：世界卫生组织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480709" y="5976215"/>
            <a:ext cx="22541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sz="1200" dirty="0">
                <a:solidFill>
                  <a:schemeClr val="bg1"/>
                </a:solidFill>
              </a:rPr>
              <a:t>统</a:t>
            </a:r>
            <a:r>
              <a:rPr lang="zh-CN" altLang="en-US" sz="1200" dirty="0" smtClean="0">
                <a:solidFill>
                  <a:schemeClr val="bg1"/>
                </a:solidFill>
              </a:rPr>
              <a:t>计时间：</a:t>
            </a:r>
            <a:r>
              <a:rPr lang="en-US" altLang="zh-CN" sz="1200" dirty="0" smtClean="0">
                <a:solidFill>
                  <a:schemeClr val="bg1"/>
                </a:solidFill>
              </a:rPr>
              <a:t>2020</a:t>
            </a:r>
            <a:r>
              <a:rPr lang="zh-CN" altLang="en-US" sz="1200" dirty="0" smtClean="0">
                <a:solidFill>
                  <a:schemeClr val="bg1"/>
                </a:solidFill>
              </a:rPr>
              <a:t>年</a:t>
            </a:r>
            <a:r>
              <a:rPr lang="en-US" altLang="zh-CN" sz="1200" dirty="0" smtClean="0">
                <a:solidFill>
                  <a:schemeClr val="bg1"/>
                </a:solidFill>
              </a:rPr>
              <a:t>6</a:t>
            </a:r>
            <a:r>
              <a:rPr lang="zh-CN" altLang="en-US" sz="1200" dirty="0" smtClean="0">
                <a:solidFill>
                  <a:schemeClr val="bg1"/>
                </a:solidFill>
              </a:rPr>
              <a:t>月</a:t>
            </a:r>
            <a:r>
              <a:rPr lang="en-US" altLang="zh-CN" sz="1200" dirty="0" smtClean="0">
                <a:solidFill>
                  <a:schemeClr val="bg1"/>
                </a:solidFill>
              </a:rPr>
              <a:t>19</a:t>
            </a:r>
            <a:r>
              <a:rPr lang="zh-CN" altLang="en-US" sz="1200" dirty="0" smtClean="0">
                <a:solidFill>
                  <a:schemeClr val="bg1"/>
                </a:solidFill>
              </a:rPr>
              <a:t>日</a:t>
            </a:r>
            <a:endParaRPr lang="zh-CN" altLang="en-US" sz="1200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149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649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299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799"/>
                            </p:stCondLst>
                            <p:childTnLst>
                              <p:par>
                                <p:cTn id="3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449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949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449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1" grpId="0"/>
      <p:bldP spid="42" grpId="0"/>
      <p:bldP spid="43" grpId="0"/>
      <p:bldP spid="44" grpId="0"/>
      <p:bldP spid="71" grpId="0"/>
      <p:bldP spid="72" grpId="0"/>
      <p:bldP spid="73" grpId="0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071717" y="3709987"/>
            <a:ext cx="19800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遏制了疫情蔓延</a:t>
            </a:r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5071717" y="1452231"/>
            <a:ext cx="1723549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我</a:t>
            </a:r>
            <a:r>
              <a:rPr lang="zh-CN" altLang="en-US" sz="6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国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30621" y="1723174"/>
            <a:ext cx="3262432" cy="70788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algn="ctr"/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抗击疫情成果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203508" y="3065235"/>
            <a:ext cx="1400995" cy="461665"/>
            <a:chOff x="5203508" y="3065235"/>
            <a:chExt cx="1400995" cy="461665"/>
          </a:xfrm>
        </p:grpSpPr>
        <p:sp>
          <p:nvSpPr>
            <p:cNvPr id="10" name="流程图: 手动输入 9"/>
            <p:cNvSpPr/>
            <p:nvPr/>
          </p:nvSpPr>
          <p:spPr>
            <a:xfrm rot="5400000">
              <a:off x="5683330" y="2595571"/>
              <a:ext cx="441353" cy="1400993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203508" y="306523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一个月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12" name="矩形 11"/>
          <p:cNvSpPr/>
          <p:nvPr/>
        </p:nvSpPr>
        <p:spPr>
          <a:xfrm>
            <a:off x="7797983" y="3709987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取</a:t>
            </a:r>
            <a:r>
              <a:rPr lang="zh-CN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得武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汉保卫</a:t>
            </a:r>
            <a:r>
              <a:rPr lang="zh-CN" altLang="en-US" sz="2000" dirty="0" smtClean="0">
                <a:solidFill>
                  <a:schemeClr val="bg1"/>
                </a:solidFill>
                <a:latin typeface="Arial" panose="020B0604020202020204" pitchFamily="34" charset="0"/>
              </a:rPr>
              <a:t>战决</a:t>
            </a:r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</a:rPr>
              <a:t>定性成果</a:t>
            </a:r>
            <a:endParaRPr lang="zh-CN" altLang="en-US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929774" y="3065235"/>
            <a:ext cx="1400995" cy="461665"/>
            <a:chOff x="7929774" y="3065235"/>
            <a:chExt cx="1400995" cy="461665"/>
          </a:xfrm>
        </p:grpSpPr>
        <p:sp>
          <p:nvSpPr>
            <p:cNvPr id="13" name="流程图: 手动输入 12"/>
            <p:cNvSpPr/>
            <p:nvPr/>
          </p:nvSpPr>
          <p:spPr>
            <a:xfrm rot="5400000">
              <a:off x="8409596" y="2595571"/>
              <a:ext cx="441353" cy="1400993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7929774" y="306523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三个月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5071717" y="4540861"/>
            <a:ext cx="598869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000" dirty="0">
                <a:solidFill>
                  <a:schemeClr val="bg1"/>
                </a:solidFill>
                <a:latin typeface="+mj-ea"/>
                <a:ea typeface="+mj-ea"/>
              </a:rPr>
              <a:t>疫情防控阻击战取得重大战略成果</a:t>
            </a:r>
            <a:endParaRPr lang="zh-CN" altLang="en-US" sz="3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151467" y="1504003"/>
            <a:ext cx="2310385" cy="3174677"/>
          </a:xfrm>
          <a:prstGeom prst="rect">
            <a:avLst/>
          </a:prstGeom>
          <a:noFill/>
          <a:ln w="1270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37" r="45546"/>
          <a:stretch>
            <a:fillRect/>
          </a:stretch>
        </p:blipFill>
        <p:spPr>
          <a:xfrm flipH="1">
            <a:off x="1350851" y="1698887"/>
            <a:ext cx="2484120" cy="3592526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7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2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2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00"/>
                            </p:stCondLst>
                            <p:childTnLst>
                              <p:par>
                                <p:cTn id="4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9" grpId="0"/>
      <p:bldP spid="12" grpId="0"/>
      <p:bldP spid="15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5071717" y="1452231"/>
            <a:ext cx="1723549" cy="1015663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西方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630621" y="1723174"/>
            <a:ext cx="3262433" cy="707886"/>
          </a:xfrm>
          <a:prstGeom prst="rect">
            <a:avLst/>
          </a:prstGeom>
        </p:spPr>
        <p:txBody>
          <a:bodyPr vert="horz" wrap="none">
            <a:spAutoFit/>
          </a:bodyPr>
          <a:lstStyle/>
          <a:p>
            <a:pPr algn="ctr"/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疫情蔓延现状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56946" y="3964886"/>
            <a:ext cx="1785203" cy="461665"/>
            <a:chOff x="5256946" y="3964886"/>
            <a:chExt cx="1785203" cy="461665"/>
          </a:xfrm>
        </p:grpSpPr>
        <p:sp>
          <p:nvSpPr>
            <p:cNvPr id="10" name="流程图: 手动输入 9"/>
            <p:cNvSpPr/>
            <p:nvPr/>
          </p:nvSpPr>
          <p:spPr>
            <a:xfrm rot="5400000">
              <a:off x="5928871" y="3303118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256946" y="39648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美国现状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1151467" y="1504003"/>
            <a:ext cx="2310385" cy="3174677"/>
          </a:xfrm>
          <a:prstGeom prst="rect">
            <a:avLst/>
          </a:prstGeom>
          <a:noFill/>
          <a:ln w="127000">
            <a:solidFill>
              <a:schemeClr val="accent4">
                <a:lumMod val="60000"/>
                <a:lumOff val="40000"/>
              </a:schemeClr>
            </a:solidFill>
          </a:ln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322" r="29590"/>
          <a:stretch>
            <a:fillRect/>
          </a:stretch>
        </p:blipFill>
        <p:spPr>
          <a:xfrm>
            <a:off x="1350851" y="1705506"/>
            <a:ext cx="2479027" cy="3585907"/>
          </a:xfrm>
          <a:prstGeom prst="rect">
            <a:avLst/>
          </a:prstGeom>
          <a:effectLst>
            <a:outerShdw blurRad="127000" dist="381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5" name="矩形 4"/>
          <p:cNvSpPr/>
          <p:nvPr/>
        </p:nvSpPr>
        <p:spPr>
          <a:xfrm>
            <a:off x="5129424" y="275472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</a:rPr>
              <a:t>一些西方国</a:t>
            </a:r>
            <a:r>
              <a:rPr lang="zh-CN" altLang="en-US" dirty="0" smtClean="0">
                <a:solidFill>
                  <a:schemeClr val="bg1"/>
                </a:solidFill>
              </a:rPr>
              <a:t>家的</a:t>
            </a:r>
            <a:r>
              <a:rPr lang="zh-CN" altLang="en-US" dirty="0">
                <a:solidFill>
                  <a:schemeClr val="bg1"/>
                </a:solidFill>
              </a:rPr>
              <a:t>疫情还在不断扩散蔓延，确诊病例数和</a:t>
            </a:r>
            <a:r>
              <a:rPr lang="zh-CN" altLang="en-US" dirty="0" smtClean="0">
                <a:solidFill>
                  <a:schemeClr val="bg1"/>
                </a:solidFill>
              </a:rPr>
              <a:t>死亡</a:t>
            </a:r>
            <a:r>
              <a:rPr lang="zh-CN" altLang="en-US" dirty="0">
                <a:solidFill>
                  <a:schemeClr val="bg1"/>
                </a:solidFill>
              </a:rPr>
              <a:t>人数每天刷新、不断攀升。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5129424" y="4720534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累计确诊</a:t>
            </a:r>
            <a:endParaRPr lang="zh-CN" altLang="en-US" sz="25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129424" y="5138818"/>
            <a:ext cx="16385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 smtClean="0">
                <a:solidFill>
                  <a:schemeClr val="bg1"/>
                </a:solidFill>
              </a:rPr>
              <a:t>1235657</a:t>
            </a:r>
            <a:r>
              <a:rPr lang="zh-CN" altLang="en-US" sz="2500" dirty="0" smtClean="0">
                <a:solidFill>
                  <a:schemeClr val="bg1"/>
                </a:solidFill>
              </a:rPr>
              <a:t>人</a:t>
            </a:r>
            <a:endParaRPr lang="zh-CN" altLang="en-US" sz="2500" dirty="0">
              <a:solidFill>
                <a:schemeClr val="bg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187032" y="4720534"/>
            <a:ext cx="1467068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5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累计死亡</a:t>
            </a:r>
            <a:endParaRPr lang="zh-CN" altLang="en-US" sz="25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177414" y="5138818"/>
            <a:ext cx="1476686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500" dirty="0" smtClean="0">
                <a:solidFill>
                  <a:schemeClr val="bg1"/>
                </a:solidFill>
              </a:rPr>
              <a:t>121980</a:t>
            </a:r>
            <a:r>
              <a:rPr lang="zh-CN" altLang="en-US" sz="2500" dirty="0" smtClean="0">
                <a:solidFill>
                  <a:schemeClr val="bg1"/>
                </a:solidFill>
              </a:rPr>
              <a:t>人</a:t>
            </a:r>
            <a:endParaRPr lang="zh-CN" altLang="en-US" sz="2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7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7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8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3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949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6" grpId="0" animBg="1"/>
      <p:bldP spid="5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2281642" y="1170484"/>
            <a:ext cx="63607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中国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同一些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西方国</a:t>
            </a:r>
            <a:r>
              <a:rPr lang="zh-CN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家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的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抗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疫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2" name="直接连接符 11"/>
          <p:cNvCxnSpPr/>
          <p:nvPr/>
        </p:nvCxnSpPr>
        <p:spPr>
          <a:xfrm>
            <a:off x="2345267" y="3222844"/>
            <a:ext cx="750146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6181407" y="2163223"/>
            <a:ext cx="3775393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形成了鲜明对比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33347" y="3643989"/>
            <a:ext cx="78961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Arial" panose="020B0604020202020204" pitchFamily="34" charset="0"/>
              </a:rPr>
              <a:t>回顾和总结到现在为止的抗击疫情整个过程，对我们进一步深刻认识我国制度的显著优势、坚定“四个自信”，具有重要意义。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2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700"/>
                            </p:stCondLst>
                            <p:childTnLst>
                              <p:par>
                                <p:cTn id="1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2352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5336" y="56577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987" y="142689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92" y="1676401"/>
            <a:ext cx="877163" cy="27348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500" dirty="0" smtClean="0">
                <a:solidFill>
                  <a:schemeClr val="bg1"/>
                </a:solidFill>
                <a:latin typeface="+mj-ea"/>
                <a:ea typeface="+mj-ea"/>
              </a:rPr>
              <a:t>领导力量</a:t>
            </a:r>
            <a:endParaRPr lang="zh-CN" altLang="en-US" sz="4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791478"/>
            <a:ext cx="669926" cy="4263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4" y="5271573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59" y="5654490"/>
            <a:ext cx="323029" cy="205564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46966" y="1537786"/>
            <a:ext cx="53399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5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中国共产党坚强有力</a:t>
            </a:r>
            <a:r>
              <a:rPr lang="zh-CN" altLang="en-US" sz="25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的统</a:t>
            </a:r>
            <a:r>
              <a:rPr lang="zh-CN" altLang="en-US" sz="2500" dirty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一领</a:t>
            </a:r>
            <a:r>
              <a:rPr lang="zh-CN" altLang="en-US" sz="2500" dirty="0" smtClean="0"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导。</a:t>
            </a:r>
            <a:endParaRPr lang="zh-CN" altLang="en-US" sz="25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64646" y="826730"/>
            <a:ext cx="1785203" cy="461665"/>
            <a:chOff x="3364646" y="826730"/>
            <a:chExt cx="1785203" cy="461665"/>
          </a:xfrm>
        </p:grpSpPr>
        <p:sp>
          <p:nvSpPr>
            <p:cNvPr id="15" name="流程图: 手动输入 14"/>
            <p:cNvSpPr/>
            <p:nvPr/>
          </p:nvSpPr>
          <p:spPr>
            <a:xfrm rot="5400000">
              <a:off x="4036571" y="164962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3364646" y="8267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+mj-ea"/>
                  <a:ea typeface="+mj-ea"/>
                </a:rPr>
                <a:t>关</a:t>
              </a:r>
              <a:r>
                <a:rPr lang="zh-CN" altLang="en-US" sz="2400" dirty="0" smtClean="0">
                  <a:latin typeface="+mj-ea"/>
                  <a:ea typeface="+mj-ea"/>
                </a:rPr>
                <a:t>键作用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3259666" y="2507734"/>
            <a:ext cx="33666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+mj-ea"/>
                <a:ea typeface="+mj-ea"/>
              </a:rPr>
              <a:t>习近平总书记主持召</a:t>
            </a:r>
            <a:r>
              <a:rPr lang="zh-CN" altLang="en-US" sz="2400" dirty="0" smtClean="0">
                <a:solidFill>
                  <a:srgbClr val="333333"/>
                </a:solidFill>
                <a:latin typeface="+mj-ea"/>
                <a:ea typeface="+mj-ea"/>
              </a:rPr>
              <a:t>开</a:t>
            </a:r>
            <a:r>
              <a:rPr lang="en-US" altLang="zh-CN" sz="2400" dirty="0" smtClean="0">
                <a:solidFill>
                  <a:srgbClr val="333333"/>
                </a:solidFill>
                <a:latin typeface="+mj-ea"/>
                <a:ea typeface="+mj-ea"/>
              </a:rPr>
              <a:t>: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3221566" y="3202057"/>
            <a:ext cx="343555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000" b="1" dirty="0">
                <a:solidFill>
                  <a:srgbClr val="C1030D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14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次中央政治局常委会会议</a:t>
            </a:r>
            <a:endParaRPr lang="zh-CN" altLang="en-US" dirty="0"/>
          </a:p>
        </p:txBody>
      </p:sp>
      <p:sp>
        <p:nvSpPr>
          <p:cNvPr id="18" name="矩形 17"/>
          <p:cNvSpPr/>
          <p:nvPr/>
        </p:nvSpPr>
        <p:spPr>
          <a:xfrm>
            <a:off x="6698941" y="3202057"/>
            <a:ext cx="3772186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000" b="1" dirty="0">
                <a:solidFill>
                  <a:srgbClr val="C1030D"/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rPr>
              <a:t>4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次中央政治局会议以及其他会议</a:t>
            </a:r>
            <a:endParaRPr lang="zh-CN" altLang="en-US" dirty="0"/>
          </a:p>
        </p:txBody>
      </p:sp>
      <p:sp>
        <p:nvSpPr>
          <p:cNvPr id="19" name="矩形 18"/>
          <p:cNvSpPr/>
          <p:nvPr/>
        </p:nvSpPr>
        <p:spPr>
          <a:xfrm>
            <a:off x="3285066" y="5229403"/>
            <a:ext cx="37625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+mn-ea"/>
              </a:rPr>
              <a:t>成立中央应对疫情工作领导小组</a:t>
            </a:r>
            <a:endParaRPr lang="zh-CN" altLang="en-US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274600" y="5691139"/>
            <a:ext cx="21467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+mn-ea"/>
              </a:rPr>
              <a:t>派出中央指导组</a:t>
            </a:r>
            <a:endParaRPr lang="zh-CN" altLang="en-US" dirty="0">
              <a:solidFill>
                <a:srgbClr val="333333"/>
              </a:solidFill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85066" y="4502958"/>
            <a:ext cx="24432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+mj-ea"/>
                <a:ea typeface="+mj-ea"/>
              </a:rPr>
              <a:t>党中</a:t>
            </a:r>
            <a:r>
              <a:rPr lang="zh-CN" altLang="en-US" sz="2400" dirty="0" smtClean="0">
                <a:solidFill>
                  <a:srgbClr val="333333"/>
                </a:solidFill>
                <a:latin typeface="+mj-ea"/>
                <a:ea typeface="+mj-ea"/>
              </a:rPr>
              <a:t>央及时决定</a:t>
            </a:r>
            <a:r>
              <a:rPr lang="en-US" altLang="zh-CN" sz="2400" dirty="0" smtClean="0">
                <a:solidFill>
                  <a:srgbClr val="333333"/>
                </a:solidFill>
                <a:latin typeface="+mj-ea"/>
                <a:ea typeface="+mj-ea"/>
              </a:rPr>
              <a:t>:</a:t>
            </a:r>
            <a:endParaRPr lang="zh-CN" altLang="en-US" sz="24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2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2" grpId="0"/>
      <p:bldP spid="5" grpId="0"/>
      <p:bldP spid="17" grpId="0"/>
      <p:bldP spid="18" grpId="0"/>
      <p:bldP spid="19" grpId="0"/>
      <p:bldP spid="21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41450" y="1837234"/>
            <a:ext cx="10750550" cy="275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抗击疫情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的特殊实践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，</a:t>
            </a:r>
            <a:endParaRPr lang="en-US" altLang="zh-CN" sz="4000" dirty="0" smtClean="0">
              <a:solidFill>
                <a:schemeClr val="bg1"/>
              </a:solidFill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使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我们深刻认识到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中国共产党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驾驭复杂局面、应对风险挑战的强大能力。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0" grpId="1" animBg="1"/>
      <p:bldP spid="11" grpId="0" animBg="1"/>
      <p:bldP spid="11" grpId="1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2352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5336" y="56577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987" y="142689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92" y="1676401"/>
            <a:ext cx="877163" cy="27348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500" dirty="0">
                <a:solidFill>
                  <a:schemeClr val="bg1"/>
                </a:solidFill>
                <a:latin typeface="+mj-ea"/>
                <a:ea typeface="+mj-ea"/>
              </a:rPr>
              <a:t>思想力量</a:t>
            </a:r>
            <a:endParaRPr lang="zh-CN" altLang="en-US" sz="4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791478"/>
            <a:ext cx="669926" cy="4263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4" y="5271573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59" y="5654490"/>
            <a:ext cx="323029" cy="20556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40616" y="1537786"/>
            <a:ext cx="437812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党的创新理论的科学指</a:t>
            </a:r>
            <a:r>
              <a:rPr lang="zh-CN" altLang="en-US" sz="2500" dirty="0" smtClean="0">
                <a:solidFill>
                  <a:srgbClr val="333333"/>
                </a:solidFill>
                <a:latin typeface="Arial" panose="020B0604020202020204" pitchFamily="34" charset="0"/>
              </a:rPr>
              <a:t>引。</a:t>
            </a:r>
            <a:endParaRPr lang="zh-CN" altLang="en-US" sz="25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64646" y="826730"/>
            <a:ext cx="1785203" cy="461665"/>
            <a:chOff x="3364646" y="826730"/>
            <a:chExt cx="1785203" cy="461665"/>
          </a:xfrm>
        </p:grpSpPr>
        <p:sp>
          <p:nvSpPr>
            <p:cNvPr id="14" name="流程图: 手动输入 13"/>
            <p:cNvSpPr/>
            <p:nvPr/>
          </p:nvSpPr>
          <p:spPr>
            <a:xfrm rot="5400000">
              <a:off x="4036571" y="164962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4646" y="8267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引领作用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3266016" y="2344874"/>
            <a:ext cx="27510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333333"/>
                </a:solidFill>
                <a:latin typeface="+mj-ea"/>
                <a:ea typeface="+mj-ea"/>
              </a:rPr>
              <a:t>习近平总书</a:t>
            </a:r>
            <a:r>
              <a:rPr lang="zh-CN" altLang="en-US" sz="2400" dirty="0" smtClean="0">
                <a:solidFill>
                  <a:srgbClr val="333333"/>
                </a:solidFill>
                <a:latin typeface="+mj-ea"/>
                <a:ea typeface="+mj-ea"/>
              </a:rPr>
              <a:t>记强调</a:t>
            </a:r>
            <a:r>
              <a:rPr lang="en-US" altLang="zh-CN" sz="2400" dirty="0" smtClean="0">
                <a:solidFill>
                  <a:srgbClr val="333333"/>
                </a:solidFill>
                <a:latin typeface="+mj-ea"/>
                <a:ea typeface="+mj-ea"/>
              </a:rPr>
              <a:t>:</a:t>
            </a:r>
            <a:endParaRPr lang="zh-CN" altLang="en-US" sz="2400" dirty="0">
              <a:latin typeface="+mj-ea"/>
              <a:ea typeface="+mj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266016" y="2800663"/>
            <a:ext cx="76723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“把人民群众生命安全和身体健康放在第一位，把疫情防控工作作为当前最重要的工作来抓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”。</a:t>
            </a:r>
            <a:endParaRPr lang="zh-CN" altLang="en-US" dirty="0"/>
          </a:p>
        </p:txBody>
      </p:sp>
      <p:sp>
        <p:nvSpPr>
          <p:cNvPr id="25" name="矩形 24"/>
          <p:cNvSpPr/>
          <p:nvPr/>
        </p:nvSpPr>
        <p:spPr>
          <a:xfrm>
            <a:off x="3272366" y="4404881"/>
            <a:ext cx="1396536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坚定信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心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同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舟共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济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科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学防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治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精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准施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策</a:t>
            </a:r>
            <a:endParaRPr lang="zh-CN" altLang="en-US" dirty="0"/>
          </a:p>
        </p:txBody>
      </p:sp>
      <p:grpSp>
        <p:nvGrpSpPr>
          <p:cNvPr id="3" name="组合 2"/>
          <p:cNvGrpSpPr/>
          <p:nvPr/>
        </p:nvGrpSpPr>
        <p:grpSpPr>
          <a:xfrm>
            <a:off x="3364646" y="4011171"/>
            <a:ext cx="1119911" cy="400110"/>
            <a:chOff x="3364646" y="4011171"/>
            <a:chExt cx="1119911" cy="400110"/>
          </a:xfrm>
        </p:grpSpPr>
        <p:sp>
          <p:nvSpPr>
            <p:cNvPr id="29" name="流程图: 手动输入 28"/>
            <p:cNvSpPr/>
            <p:nvPr/>
          </p:nvSpPr>
          <p:spPr>
            <a:xfrm rot="5400000">
              <a:off x="3767405" y="3651271"/>
              <a:ext cx="314394" cy="1119910"/>
            </a:xfrm>
            <a:prstGeom prst="flowChartManualInput">
              <a:avLst/>
            </a:prstGeom>
            <a:solidFill>
              <a:srgbClr val="C103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3364646" y="4011171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+mj-ea"/>
                  <a:ea typeface="+mj-ea"/>
                </a:rPr>
                <a:t>总要求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31" name="矩形 30"/>
          <p:cNvSpPr/>
          <p:nvPr/>
        </p:nvSpPr>
        <p:spPr>
          <a:xfrm>
            <a:off x="5993872" y="4404881"/>
            <a:ext cx="3012363" cy="8803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坚决遏制疫情蔓延势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头</a:t>
            </a:r>
            <a:endParaRPr lang="en-US" altLang="zh-CN" dirty="0" smtClean="0"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C1030D"/>
              </a:buClr>
              <a:buFont typeface="Wingdings" panose="05000000000000000000" pitchFamily="2" charset="2"/>
              <a:buChar char="l"/>
            </a:pP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坚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决打赢疫情防控阻击战</a:t>
            </a:r>
            <a:endParaRPr lang="zh-CN" altLang="en-US" dirty="0"/>
          </a:p>
        </p:txBody>
      </p:sp>
      <p:grpSp>
        <p:nvGrpSpPr>
          <p:cNvPr id="4" name="组合 3"/>
          <p:cNvGrpSpPr/>
          <p:nvPr/>
        </p:nvGrpSpPr>
        <p:grpSpPr>
          <a:xfrm>
            <a:off x="6086152" y="4011171"/>
            <a:ext cx="1119911" cy="400110"/>
            <a:chOff x="6086152" y="4011171"/>
            <a:chExt cx="1119911" cy="400110"/>
          </a:xfrm>
        </p:grpSpPr>
        <p:sp>
          <p:nvSpPr>
            <p:cNvPr id="32" name="流程图: 手动输入 31"/>
            <p:cNvSpPr/>
            <p:nvPr/>
          </p:nvSpPr>
          <p:spPr>
            <a:xfrm rot="5400000">
              <a:off x="6488911" y="3651271"/>
              <a:ext cx="314394" cy="1119910"/>
            </a:xfrm>
            <a:prstGeom prst="flowChartManualInput">
              <a:avLst/>
            </a:prstGeom>
            <a:solidFill>
              <a:srgbClr val="C1030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6086152" y="4011171"/>
              <a:ext cx="95410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dirty="0" smtClean="0">
                  <a:solidFill>
                    <a:schemeClr val="bg1"/>
                  </a:solidFill>
                  <a:latin typeface="+mj-ea"/>
                  <a:ea typeface="+mj-ea"/>
                </a:rPr>
                <a:t>总目标</a:t>
              </a:r>
              <a:endParaRPr lang="zh-CN" altLang="en-US" sz="200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2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650"/>
                            </p:stCondLst>
                            <p:childTnLst>
                              <p:par>
                                <p:cTn id="5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7150"/>
                            </p:stCondLst>
                            <p:childTnLst>
                              <p:par>
                                <p:cTn id="6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8150"/>
                            </p:stCondLst>
                            <p:childTnLst>
                              <p:par>
                                <p:cTn id="6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650"/>
                            </p:stCondLst>
                            <p:childTnLst>
                              <p:par>
                                <p:cTn id="7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22" grpId="0"/>
      <p:bldP spid="5" grpId="0"/>
      <p:bldP spid="25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41450" y="1837234"/>
            <a:ext cx="943509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习近平总书记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关于应对新冠肺炎疫情的一系列重要论述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，给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了我们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方向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和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方法</a:t>
            </a:r>
            <a:r>
              <a:rPr lang="zh-CN" altLang="en-US" sz="4000" dirty="0" smtClean="0">
                <a:solidFill>
                  <a:schemeClr val="bg1"/>
                </a:solidFill>
                <a:latin typeface="+mj-ea"/>
                <a:ea typeface="+mj-ea"/>
              </a:rPr>
              <a:t>，也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给了我们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信心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和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力量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。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0" grpId="1" animBg="1"/>
      <p:bldP spid="11" grpId="0" animBg="1"/>
      <p:bldP spid="11" grpId="1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2352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5336" y="56577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987" y="142689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92" y="1676401"/>
            <a:ext cx="877163" cy="27348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500" dirty="0" smtClean="0">
                <a:solidFill>
                  <a:schemeClr val="bg1"/>
                </a:solidFill>
                <a:latin typeface="+mj-ea"/>
                <a:ea typeface="+mj-ea"/>
              </a:rPr>
              <a:t>国家力量</a:t>
            </a:r>
            <a:endParaRPr lang="zh-CN" altLang="en-US" sz="4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791478"/>
            <a:ext cx="669926" cy="4263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4" y="5271573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59" y="5654490"/>
            <a:ext cx="323029" cy="20556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46966" y="1537786"/>
            <a:ext cx="5019323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全国一盘棋，集中力量办大</a:t>
            </a:r>
            <a:r>
              <a:rPr lang="zh-CN" altLang="en-US" sz="2500" dirty="0" smtClean="0">
                <a:solidFill>
                  <a:srgbClr val="333333"/>
                </a:solidFill>
                <a:latin typeface="Arial" panose="020B0604020202020204" pitchFamily="34" charset="0"/>
              </a:rPr>
              <a:t>事。</a:t>
            </a:r>
            <a:endParaRPr lang="zh-CN" altLang="en-US" sz="25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364646" y="826730"/>
            <a:ext cx="1785203" cy="461665"/>
            <a:chOff x="3364646" y="826730"/>
            <a:chExt cx="1785203" cy="461665"/>
          </a:xfrm>
        </p:grpSpPr>
        <p:sp>
          <p:nvSpPr>
            <p:cNvPr id="14" name="流程图: 手动输入 13"/>
            <p:cNvSpPr/>
            <p:nvPr/>
          </p:nvSpPr>
          <p:spPr>
            <a:xfrm rot="5400000">
              <a:off x="4036571" y="164962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4646" y="8267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>
                  <a:latin typeface="+mj-ea"/>
                  <a:ea typeface="+mj-ea"/>
                </a:rPr>
                <a:t>基础</a:t>
              </a:r>
              <a:r>
                <a:rPr lang="zh-CN" altLang="en-US" sz="2400" dirty="0" smtClean="0">
                  <a:latin typeface="+mj-ea"/>
                  <a:ea typeface="+mj-ea"/>
                </a:rPr>
                <a:t>作用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17" name="hospital-buildings_33777"/>
          <p:cNvSpPr>
            <a:spLocks noChangeAspect="1"/>
          </p:cNvSpPr>
          <p:nvPr/>
        </p:nvSpPr>
        <p:spPr bwMode="auto">
          <a:xfrm>
            <a:off x="3378630" y="2446007"/>
            <a:ext cx="609685" cy="416478"/>
          </a:xfrm>
          <a:custGeom>
            <a:avLst/>
            <a:gdLst>
              <a:gd name="T0" fmla="*/ 1192 w 1260"/>
              <a:gd name="T1" fmla="*/ 756 h 862"/>
              <a:gd name="T2" fmla="*/ 1147 w 1260"/>
              <a:gd name="T3" fmla="*/ 193 h 862"/>
              <a:gd name="T4" fmla="*/ 900 w 1260"/>
              <a:gd name="T5" fmla="*/ 745 h 862"/>
              <a:gd name="T6" fmla="*/ 866 w 1260"/>
              <a:gd name="T7" fmla="*/ 770 h 862"/>
              <a:gd name="T8" fmla="*/ 869 w 1260"/>
              <a:gd name="T9" fmla="*/ 44 h 862"/>
              <a:gd name="T10" fmla="*/ 436 w 1260"/>
              <a:gd name="T11" fmla="*/ 0 h 862"/>
              <a:gd name="T12" fmla="*/ 391 w 1260"/>
              <a:gd name="T13" fmla="*/ 756 h 862"/>
              <a:gd name="T14" fmla="*/ 365 w 1260"/>
              <a:gd name="T15" fmla="*/ 770 h 862"/>
              <a:gd name="T16" fmla="*/ 360 w 1260"/>
              <a:gd name="T17" fmla="*/ 193 h 862"/>
              <a:gd name="T18" fmla="*/ 74 w 1260"/>
              <a:gd name="T19" fmla="*/ 238 h 862"/>
              <a:gd name="T20" fmla="*/ 76 w 1260"/>
              <a:gd name="T21" fmla="*/ 770 h 862"/>
              <a:gd name="T22" fmla="*/ 0 w 1260"/>
              <a:gd name="T23" fmla="*/ 862 h 862"/>
              <a:gd name="T24" fmla="*/ 1260 w 1260"/>
              <a:gd name="T25" fmla="*/ 770 h 862"/>
              <a:gd name="T26" fmla="*/ 1190 w 1260"/>
              <a:gd name="T27" fmla="*/ 770 h 862"/>
              <a:gd name="T28" fmla="*/ 144 w 1260"/>
              <a:gd name="T29" fmla="*/ 589 h 862"/>
              <a:gd name="T30" fmla="*/ 208 w 1260"/>
              <a:gd name="T31" fmla="*/ 525 h 862"/>
              <a:gd name="T32" fmla="*/ 208 w 1260"/>
              <a:gd name="T33" fmla="*/ 477 h 862"/>
              <a:gd name="T34" fmla="*/ 144 w 1260"/>
              <a:gd name="T35" fmla="*/ 413 h 862"/>
              <a:gd name="T36" fmla="*/ 208 w 1260"/>
              <a:gd name="T37" fmla="*/ 477 h 862"/>
              <a:gd name="T38" fmla="*/ 144 w 1260"/>
              <a:gd name="T39" fmla="*/ 368 h 862"/>
              <a:gd name="T40" fmla="*/ 208 w 1260"/>
              <a:gd name="T41" fmla="*/ 305 h 862"/>
              <a:gd name="T42" fmla="*/ 307 w 1260"/>
              <a:gd name="T43" fmla="*/ 589 h 862"/>
              <a:gd name="T44" fmla="*/ 243 w 1260"/>
              <a:gd name="T45" fmla="*/ 525 h 862"/>
              <a:gd name="T46" fmla="*/ 307 w 1260"/>
              <a:gd name="T47" fmla="*/ 589 h 862"/>
              <a:gd name="T48" fmla="*/ 243 w 1260"/>
              <a:gd name="T49" fmla="*/ 477 h 862"/>
              <a:gd name="T50" fmla="*/ 307 w 1260"/>
              <a:gd name="T51" fmla="*/ 413 h 862"/>
              <a:gd name="T52" fmla="*/ 307 w 1260"/>
              <a:gd name="T53" fmla="*/ 368 h 862"/>
              <a:gd name="T54" fmla="*/ 243 w 1260"/>
              <a:gd name="T55" fmla="*/ 305 h 862"/>
              <a:gd name="T56" fmla="*/ 307 w 1260"/>
              <a:gd name="T57" fmla="*/ 368 h 862"/>
              <a:gd name="T58" fmla="*/ 542 w 1260"/>
              <a:gd name="T59" fmla="*/ 767 h 862"/>
              <a:gd name="T60" fmla="*/ 729 w 1260"/>
              <a:gd name="T61" fmla="*/ 534 h 862"/>
              <a:gd name="T62" fmla="*/ 630 w 1260"/>
              <a:gd name="T63" fmla="*/ 334 h 862"/>
              <a:gd name="T64" fmla="*/ 630 w 1260"/>
              <a:gd name="T65" fmla="*/ 20 h 862"/>
              <a:gd name="T66" fmla="*/ 630 w 1260"/>
              <a:gd name="T67" fmla="*/ 334 h 862"/>
              <a:gd name="T68" fmla="*/ 971 w 1260"/>
              <a:gd name="T69" fmla="*/ 589 h 862"/>
              <a:gd name="T70" fmla="*/ 1035 w 1260"/>
              <a:gd name="T71" fmla="*/ 525 h 862"/>
              <a:gd name="T72" fmla="*/ 1035 w 1260"/>
              <a:gd name="T73" fmla="*/ 477 h 862"/>
              <a:gd name="T74" fmla="*/ 971 w 1260"/>
              <a:gd name="T75" fmla="*/ 413 h 862"/>
              <a:gd name="T76" fmla="*/ 1035 w 1260"/>
              <a:gd name="T77" fmla="*/ 477 h 862"/>
              <a:gd name="T78" fmla="*/ 971 w 1260"/>
              <a:gd name="T79" fmla="*/ 368 h 862"/>
              <a:gd name="T80" fmla="*/ 1035 w 1260"/>
              <a:gd name="T81" fmla="*/ 305 h 862"/>
              <a:gd name="T82" fmla="*/ 1134 w 1260"/>
              <a:gd name="T83" fmla="*/ 589 h 862"/>
              <a:gd name="T84" fmla="*/ 1070 w 1260"/>
              <a:gd name="T85" fmla="*/ 525 h 862"/>
              <a:gd name="T86" fmla="*/ 1134 w 1260"/>
              <a:gd name="T87" fmla="*/ 589 h 862"/>
              <a:gd name="T88" fmla="*/ 1070 w 1260"/>
              <a:gd name="T89" fmla="*/ 477 h 862"/>
              <a:gd name="T90" fmla="*/ 1134 w 1260"/>
              <a:gd name="T91" fmla="*/ 413 h 862"/>
              <a:gd name="T92" fmla="*/ 1134 w 1260"/>
              <a:gd name="T93" fmla="*/ 368 h 862"/>
              <a:gd name="T94" fmla="*/ 1070 w 1260"/>
              <a:gd name="T95" fmla="*/ 305 h 862"/>
              <a:gd name="T96" fmla="*/ 1134 w 1260"/>
              <a:gd name="T97" fmla="*/ 368 h 862"/>
              <a:gd name="T98" fmla="*/ 729 w 1260"/>
              <a:gd name="T99" fmla="*/ 138 h 862"/>
              <a:gd name="T100" fmla="*/ 669 w 1260"/>
              <a:gd name="T101" fmla="*/ 216 h 862"/>
              <a:gd name="T102" fmla="*/ 591 w 1260"/>
              <a:gd name="T103" fmla="*/ 276 h 862"/>
              <a:gd name="T104" fmla="*/ 531 w 1260"/>
              <a:gd name="T105" fmla="*/ 216 h 862"/>
              <a:gd name="T106" fmla="*/ 591 w 1260"/>
              <a:gd name="T107" fmla="*/ 138 h 862"/>
              <a:gd name="T108" fmla="*/ 669 w 1260"/>
              <a:gd name="T109" fmla="*/ 78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" h="862">
                <a:moveTo>
                  <a:pt x="1190" y="770"/>
                </a:moveTo>
                <a:cubicBezTo>
                  <a:pt x="1191" y="766"/>
                  <a:pt x="1192" y="761"/>
                  <a:pt x="1192" y="756"/>
                </a:cubicBezTo>
                <a:lnTo>
                  <a:pt x="1192" y="238"/>
                </a:lnTo>
                <a:cubicBezTo>
                  <a:pt x="1192" y="213"/>
                  <a:pt x="1172" y="193"/>
                  <a:pt x="1147" y="193"/>
                </a:cubicBezTo>
                <a:lnTo>
                  <a:pt x="900" y="193"/>
                </a:lnTo>
                <a:lnTo>
                  <a:pt x="900" y="745"/>
                </a:lnTo>
                <a:cubicBezTo>
                  <a:pt x="900" y="754"/>
                  <a:pt x="898" y="762"/>
                  <a:pt x="895" y="770"/>
                </a:cubicBezTo>
                <a:lnTo>
                  <a:pt x="866" y="770"/>
                </a:lnTo>
                <a:cubicBezTo>
                  <a:pt x="868" y="766"/>
                  <a:pt x="869" y="761"/>
                  <a:pt x="869" y="756"/>
                </a:cubicBezTo>
                <a:lnTo>
                  <a:pt x="869" y="44"/>
                </a:lnTo>
                <a:cubicBezTo>
                  <a:pt x="869" y="20"/>
                  <a:pt x="849" y="0"/>
                  <a:pt x="824" y="0"/>
                </a:cubicBezTo>
                <a:lnTo>
                  <a:pt x="436" y="0"/>
                </a:lnTo>
                <a:cubicBezTo>
                  <a:pt x="411" y="0"/>
                  <a:pt x="391" y="20"/>
                  <a:pt x="391" y="44"/>
                </a:cubicBezTo>
                <a:lnTo>
                  <a:pt x="391" y="756"/>
                </a:lnTo>
                <a:cubicBezTo>
                  <a:pt x="391" y="761"/>
                  <a:pt x="392" y="766"/>
                  <a:pt x="394" y="770"/>
                </a:cubicBezTo>
                <a:lnTo>
                  <a:pt x="365" y="770"/>
                </a:lnTo>
                <a:cubicBezTo>
                  <a:pt x="362" y="762"/>
                  <a:pt x="360" y="754"/>
                  <a:pt x="360" y="745"/>
                </a:cubicBezTo>
                <a:lnTo>
                  <a:pt x="360" y="193"/>
                </a:lnTo>
                <a:lnTo>
                  <a:pt x="119" y="193"/>
                </a:lnTo>
                <a:cubicBezTo>
                  <a:pt x="94" y="193"/>
                  <a:pt x="74" y="213"/>
                  <a:pt x="74" y="238"/>
                </a:cubicBezTo>
                <a:lnTo>
                  <a:pt x="74" y="756"/>
                </a:lnTo>
                <a:cubicBezTo>
                  <a:pt x="74" y="761"/>
                  <a:pt x="75" y="766"/>
                  <a:pt x="76" y="770"/>
                </a:cubicBezTo>
                <a:lnTo>
                  <a:pt x="0" y="770"/>
                </a:lnTo>
                <a:lnTo>
                  <a:pt x="0" y="862"/>
                </a:lnTo>
                <a:lnTo>
                  <a:pt x="1260" y="862"/>
                </a:lnTo>
                <a:lnTo>
                  <a:pt x="1260" y="770"/>
                </a:lnTo>
                <a:lnTo>
                  <a:pt x="1190" y="770"/>
                </a:lnTo>
                <a:lnTo>
                  <a:pt x="1190" y="770"/>
                </a:lnTo>
                <a:close/>
                <a:moveTo>
                  <a:pt x="208" y="589"/>
                </a:moveTo>
                <a:lnTo>
                  <a:pt x="144" y="589"/>
                </a:lnTo>
                <a:lnTo>
                  <a:pt x="144" y="525"/>
                </a:lnTo>
                <a:lnTo>
                  <a:pt x="208" y="525"/>
                </a:lnTo>
                <a:lnTo>
                  <a:pt x="208" y="589"/>
                </a:lnTo>
                <a:close/>
                <a:moveTo>
                  <a:pt x="208" y="477"/>
                </a:moveTo>
                <a:lnTo>
                  <a:pt x="144" y="477"/>
                </a:lnTo>
                <a:lnTo>
                  <a:pt x="144" y="413"/>
                </a:lnTo>
                <a:lnTo>
                  <a:pt x="208" y="413"/>
                </a:lnTo>
                <a:lnTo>
                  <a:pt x="208" y="477"/>
                </a:lnTo>
                <a:close/>
                <a:moveTo>
                  <a:pt x="208" y="368"/>
                </a:moveTo>
                <a:lnTo>
                  <a:pt x="144" y="368"/>
                </a:lnTo>
                <a:lnTo>
                  <a:pt x="144" y="305"/>
                </a:lnTo>
                <a:lnTo>
                  <a:pt x="208" y="305"/>
                </a:lnTo>
                <a:lnTo>
                  <a:pt x="208" y="368"/>
                </a:lnTo>
                <a:close/>
                <a:moveTo>
                  <a:pt x="307" y="589"/>
                </a:moveTo>
                <a:lnTo>
                  <a:pt x="243" y="589"/>
                </a:lnTo>
                <a:lnTo>
                  <a:pt x="243" y="525"/>
                </a:lnTo>
                <a:lnTo>
                  <a:pt x="307" y="525"/>
                </a:lnTo>
                <a:lnTo>
                  <a:pt x="307" y="589"/>
                </a:lnTo>
                <a:close/>
                <a:moveTo>
                  <a:pt x="307" y="477"/>
                </a:moveTo>
                <a:lnTo>
                  <a:pt x="243" y="477"/>
                </a:lnTo>
                <a:lnTo>
                  <a:pt x="243" y="413"/>
                </a:lnTo>
                <a:lnTo>
                  <a:pt x="307" y="413"/>
                </a:lnTo>
                <a:lnTo>
                  <a:pt x="307" y="477"/>
                </a:lnTo>
                <a:close/>
                <a:moveTo>
                  <a:pt x="307" y="368"/>
                </a:moveTo>
                <a:lnTo>
                  <a:pt x="243" y="368"/>
                </a:lnTo>
                <a:lnTo>
                  <a:pt x="243" y="305"/>
                </a:lnTo>
                <a:lnTo>
                  <a:pt x="307" y="305"/>
                </a:lnTo>
                <a:lnTo>
                  <a:pt x="307" y="368"/>
                </a:lnTo>
                <a:close/>
                <a:moveTo>
                  <a:pt x="729" y="767"/>
                </a:moveTo>
                <a:lnTo>
                  <a:pt x="542" y="767"/>
                </a:lnTo>
                <a:lnTo>
                  <a:pt x="542" y="534"/>
                </a:lnTo>
                <a:lnTo>
                  <a:pt x="729" y="534"/>
                </a:lnTo>
                <a:lnTo>
                  <a:pt x="729" y="767"/>
                </a:lnTo>
                <a:close/>
                <a:moveTo>
                  <a:pt x="630" y="334"/>
                </a:moveTo>
                <a:cubicBezTo>
                  <a:pt x="543" y="334"/>
                  <a:pt x="473" y="263"/>
                  <a:pt x="473" y="177"/>
                </a:cubicBezTo>
                <a:cubicBezTo>
                  <a:pt x="473" y="90"/>
                  <a:pt x="543" y="20"/>
                  <a:pt x="630" y="20"/>
                </a:cubicBezTo>
                <a:cubicBezTo>
                  <a:pt x="717" y="20"/>
                  <a:pt x="787" y="90"/>
                  <a:pt x="787" y="177"/>
                </a:cubicBezTo>
                <a:cubicBezTo>
                  <a:pt x="787" y="263"/>
                  <a:pt x="717" y="334"/>
                  <a:pt x="630" y="334"/>
                </a:cubicBezTo>
                <a:close/>
                <a:moveTo>
                  <a:pt x="1035" y="589"/>
                </a:moveTo>
                <a:lnTo>
                  <a:pt x="971" y="589"/>
                </a:lnTo>
                <a:lnTo>
                  <a:pt x="971" y="525"/>
                </a:lnTo>
                <a:lnTo>
                  <a:pt x="1035" y="525"/>
                </a:lnTo>
                <a:lnTo>
                  <a:pt x="1035" y="589"/>
                </a:lnTo>
                <a:close/>
                <a:moveTo>
                  <a:pt x="1035" y="477"/>
                </a:moveTo>
                <a:lnTo>
                  <a:pt x="971" y="477"/>
                </a:lnTo>
                <a:lnTo>
                  <a:pt x="971" y="413"/>
                </a:lnTo>
                <a:lnTo>
                  <a:pt x="1035" y="413"/>
                </a:lnTo>
                <a:lnTo>
                  <a:pt x="1035" y="477"/>
                </a:lnTo>
                <a:close/>
                <a:moveTo>
                  <a:pt x="1035" y="368"/>
                </a:moveTo>
                <a:lnTo>
                  <a:pt x="971" y="368"/>
                </a:lnTo>
                <a:lnTo>
                  <a:pt x="971" y="305"/>
                </a:lnTo>
                <a:lnTo>
                  <a:pt x="1035" y="305"/>
                </a:lnTo>
                <a:lnTo>
                  <a:pt x="1035" y="368"/>
                </a:lnTo>
                <a:close/>
                <a:moveTo>
                  <a:pt x="1134" y="589"/>
                </a:moveTo>
                <a:lnTo>
                  <a:pt x="1070" y="589"/>
                </a:lnTo>
                <a:lnTo>
                  <a:pt x="1070" y="525"/>
                </a:lnTo>
                <a:lnTo>
                  <a:pt x="1134" y="525"/>
                </a:lnTo>
                <a:lnTo>
                  <a:pt x="1134" y="589"/>
                </a:lnTo>
                <a:close/>
                <a:moveTo>
                  <a:pt x="1134" y="477"/>
                </a:moveTo>
                <a:lnTo>
                  <a:pt x="1070" y="477"/>
                </a:lnTo>
                <a:lnTo>
                  <a:pt x="1070" y="413"/>
                </a:lnTo>
                <a:lnTo>
                  <a:pt x="1134" y="413"/>
                </a:lnTo>
                <a:lnTo>
                  <a:pt x="1134" y="477"/>
                </a:lnTo>
                <a:close/>
                <a:moveTo>
                  <a:pt x="1134" y="368"/>
                </a:moveTo>
                <a:lnTo>
                  <a:pt x="1070" y="368"/>
                </a:lnTo>
                <a:lnTo>
                  <a:pt x="1070" y="305"/>
                </a:lnTo>
                <a:lnTo>
                  <a:pt x="1134" y="305"/>
                </a:lnTo>
                <a:lnTo>
                  <a:pt x="1134" y="368"/>
                </a:lnTo>
                <a:close/>
                <a:moveTo>
                  <a:pt x="669" y="138"/>
                </a:moveTo>
                <a:lnTo>
                  <a:pt x="729" y="138"/>
                </a:lnTo>
                <a:lnTo>
                  <a:pt x="729" y="216"/>
                </a:lnTo>
                <a:lnTo>
                  <a:pt x="669" y="216"/>
                </a:lnTo>
                <a:lnTo>
                  <a:pt x="669" y="276"/>
                </a:lnTo>
                <a:lnTo>
                  <a:pt x="591" y="276"/>
                </a:lnTo>
                <a:lnTo>
                  <a:pt x="591" y="216"/>
                </a:lnTo>
                <a:lnTo>
                  <a:pt x="531" y="216"/>
                </a:lnTo>
                <a:lnTo>
                  <a:pt x="531" y="138"/>
                </a:lnTo>
                <a:lnTo>
                  <a:pt x="591" y="138"/>
                </a:lnTo>
                <a:lnTo>
                  <a:pt x="591" y="78"/>
                </a:lnTo>
                <a:lnTo>
                  <a:pt x="669" y="78"/>
                </a:lnTo>
                <a:lnTo>
                  <a:pt x="669" y="138"/>
                </a:lnTo>
                <a:close/>
              </a:path>
            </a:pathLst>
          </a:custGeom>
          <a:solidFill>
            <a:srgbClr val="C1030D"/>
          </a:solidFill>
          <a:ln>
            <a:noFill/>
          </a:ln>
        </p:spPr>
      </p:sp>
      <p:sp>
        <p:nvSpPr>
          <p:cNvPr id="2" name="矩形 1"/>
          <p:cNvSpPr/>
          <p:nvPr/>
        </p:nvSpPr>
        <p:spPr>
          <a:xfrm>
            <a:off x="3981275" y="2582597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n-ea"/>
              </a:rPr>
              <a:t>火神山医院：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5410556" y="2389575"/>
            <a:ext cx="1370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500" dirty="0">
                <a:solidFill>
                  <a:srgbClr val="C1030D"/>
                </a:solidFill>
                <a:latin typeface="+mn-ea"/>
              </a:rPr>
              <a:t>10</a:t>
            </a:r>
            <a:r>
              <a:rPr lang="zh-CN" altLang="en-US" dirty="0">
                <a:latin typeface="+mn-ea"/>
              </a:rPr>
              <a:t>天建成</a:t>
            </a:r>
            <a:endParaRPr lang="zh-CN" altLang="en-US" dirty="0"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113037" y="2389575"/>
            <a:ext cx="186461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500" dirty="0" smtClean="0">
                <a:solidFill>
                  <a:srgbClr val="C1030D"/>
                </a:solidFill>
                <a:latin typeface="+mn-ea"/>
              </a:rPr>
              <a:t>1000</a:t>
            </a:r>
            <a:r>
              <a:rPr lang="zh-CN" altLang="en-US" dirty="0">
                <a:latin typeface="+mn-ea"/>
              </a:rPr>
              <a:t>张床位</a:t>
            </a:r>
            <a:endParaRPr lang="zh-CN" altLang="en-US" dirty="0">
              <a:latin typeface="+mn-ea"/>
            </a:endParaRPr>
          </a:p>
        </p:txBody>
      </p:sp>
      <p:sp>
        <p:nvSpPr>
          <p:cNvPr id="24" name="hospital-buildings_33777"/>
          <p:cNvSpPr>
            <a:spLocks noChangeAspect="1"/>
          </p:cNvSpPr>
          <p:nvPr/>
        </p:nvSpPr>
        <p:spPr bwMode="auto">
          <a:xfrm>
            <a:off x="3378630" y="3247486"/>
            <a:ext cx="609685" cy="416478"/>
          </a:xfrm>
          <a:custGeom>
            <a:avLst/>
            <a:gdLst>
              <a:gd name="T0" fmla="*/ 1192 w 1260"/>
              <a:gd name="T1" fmla="*/ 756 h 862"/>
              <a:gd name="T2" fmla="*/ 1147 w 1260"/>
              <a:gd name="T3" fmla="*/ 193 h 862"/>
              <a:gd name="T4" fmla="*/ 900 w 1260"/>
              <a:gd name="T5" fmla="*/ 745 h 862"/>
              <a:gd name="T6" fmla="*/ 866 w 1260"/>
              <a:gd name="T7" fmla="*/ 770 h 862"/>
              <a:gd name="T8" fmla="*/ 869 w 1260"/>
              <a:gd name="T9" fmla="*/ 44 h 862"/>
              <a:gd name="T10" fmla="*/ 436 w 1260"/>
              <a:gd name="T11" fmla="*/ 0 h 862"/>
              <a:gd name="T12" fmla="*/ 391 w 1260"/>
              <a:gd name="T13" fmla="*/ 756 h 862"/>
              <a:gd name="T14" fmla="*/ 365 w 1260"/>
              <a:gd name="T15" fmla="*/ 770 h 862"/>
              <a:gd name="T16" fmla="*/ 360 w 1260"/>
              <a:gd name="T17" fmla="*/ 193 h 862"/>
              <a:gd name="T18" fmla="*/ 74 w 1260"/>
              <a:gd name="T19" fmla="*/ 238 h 862"/>
              <a:gd name="T20" fmla="*/ 76 w 1260"/>
              <a:gd name="T21" fmla="*/ 770 h 862"/>
              <a:gd name="T22" fmla="*/ 0 w 1260"/>
              <a:gd name="T23" fmla="*/ 862 h 862"/>
              <a:gd name="T24" fmla="*/ 1260 w 1260"/>
              <a:gd name="T25" fmla="*/ 770 h 862"/>
              <a:gd name="T26" fmla="*/ 1190 w 1260"/>
              <a:gd name="T27" fmla="*/ 770 h 862"/>
              <a:gd name="T28" fmla="*/ 144 w 1260"/>
              <a:gd name="T29" fmla="*/ 589 h 862"/>
              <a:gd name="T30" fmla="*/ 208 w 1260"/>
              <a:gd name="T31" fmla="*/ 525 h 862"/>
              <a:gd name="T32" fmla="*/ 208 w 1260"/>
              <a:gd name="T33" fmla="*/ 477 h 862"/>
              <a:gd name="T34" fmla="*/ 144 w 1260"/>
              <a:gd name="T35" fmla="*/ 413 h 862"/>
              <a:gd name="T36" fmla="*/ 208 w 1260"/>
              <a:gd name="T37" fmla="*/ 477 h 862"/>
              <a:gd name="T38" fmla="*/ 144 w 1260"/>
              <a:gd name="T39" fmla="*/ 368 h 862"/>
              <a:gd name="T40" fmla="*/ 208 w 1260"/>
              <a:gd name="T41" fmla="*/ 305 h 862"/>
              <a:gd name="T42" fmla="*/ 307 w 1260"/>
              <a:gd name="T43" fmla="*/ 589 h 862"/>
              <a:gd name="T44" fmla="*/ 243 w 1260"/>
              <a:gd name="T45" fmla="*/ 525 h 862"/>
              <a:gd name="T46" fmla="*/ 307 w 1260"/>
              <a:gd name="T47" fmla="*/ 589 h 862"/>
              <a:gd name="T48" fmla="*/ 243 w 1260"/>
              <a:gd name="T49" fmla="*/ 477 h 862"/>
              <a:gd name="T50" fmla="*/ 307 w 1260"/>
              <a:gd name="T51" fmla="*/ 413 h 862"/>
              <a:gd name="T52" fmla="*/ 307 w 1260"/>
              <a:gd name="T53" fmla="*/ 368 h 862"/>
              <a:gd name="T54" fmla="*/ 243 w 1260"/>
              <a:gd name="T55" fmla="*/ 305 h 862"/>
              <a:gd name="T56" fmla="*/ 307 w 1260"/>
              <a:gd name="T57" fmla="*/ 368 h 862"/>
              <a:gd name="T58" fmla="*/ 542 w 1260"/>
              <a:gd name="T59" fmla="*/ 767 h 862"/>
              <a:gd name="T60" fmla="*/ 729 w 1260"/>
              <a:gd name="T61" fmla="*/ 534 h 862"/>
              <a:gd name="T62" fmla="*/ 630 w 1260"/>
              <a:gd name="T63" fmla="*/ 334 h 862"/>
              <a:gd name="T64" fmla="*/ 630 w 1260"/>
              <a:gd name="T65" fmla="*/ 20 h 862"/>
              <a:gd name="T66" fmla="*/ 630 w 1260"/>
              <a:gd name="T67" fmla="*/ 334 h 862"/>
              <a:gd name="T68" fmla="*/ 971 w 1260"/>
              <a:gd name="T69" fmla="*/ 589 h 862"/>
              <a:gd name="T70" fmla="*/ 1035 w 1260"/>
              <a:gd name="T71" fmla="*/ 525 h 862"/>
              <a:gd name="T72" fmla="*/ 1035 w 1260"/>
              <a:gd name="T73" fmla="*/ 477 h 862"/>
              <a:gd name="T74" fmla="*/ 971 w 1260"/>
              <a:gd name="T75" fmla="*/ 413 h 862"/>
              <a:gd name="T76" fmla="*/ 1035 w 1260"/>
              <a:gd name="T77" fmla="*/ 477 h 862"/>
              <a:gd name="T78" fmla="*/ 971 w 1260"/>
              <a:gd name="T79" fmla="*/ 368 h 862"/>
              <a:gd name="T80" fmla="*/ 1035 w 1260"/>
              <a:gd name="T81" fmla="*/ 305 h 862"/>
              <a:gd name="T82" fmla="*/ 1134 w 1260"/>
              <a:gd name="T83" fmla="*/ 589 h 862"/>
              <a:gd name="T84" fmla="*/ 1070 w 1260"/>
              <a:gd name="T85" fmla="*/ 525 h 862"/>
              <a:gd name="T86" fmla="*/ 1134 w 1260"/>
              <a:gd name="T87" fmla="*/ 589 h 862"/>
              <a:gd name="T88" fmla="*/ 1070 w 1260"/>
              <a:gd name="T89" fmla="*/ 477 h 862"/>
              <a:gd name="T90" fmla="*/ 1134 w 1260"/>
              <a:gd name="T91" fmla="*/ 413 h 862"/>
              <a:gd name="T92" fmla="*/ 1134 w 1260"/>
              <a:gd name="T93" fmla="*/ 368 h 862"/>
              <a:gd name="T94" fmla="*/ 1070 w 1260"/>
              <a:gd name="T95" fmla="*/ 305 h 862"/>
              <a:gd name="T96" fmla="*/ 1134 w 1260"/>
              <a:gd name="T97" fmla="*/ 368 h 862"/>
              <a:gd name="T98" fmla="*/ 729 w 1260"/>
              <a:gd name="T99" fmla="*/ 138 h 862"/>
              <a:gd name="T100" fmla="*/ 669 w 1260"/>
              <a:gd name="T101" fmla="*/ 216 h 862"/>
              <a:gd name="T102" fmla="*/ 591 w 1260"/>
              <a:gd name="T103" fmla="*/ 276 h 862"/>
              <a:gd name="T104" fmla="*/ 531 w 1260"/>
              <a:gd name="T105" fmla="*/ 216 h 862"/>
              <a:gd name="T106" fmla="*/ 591 w 1260"/>
              <a:gd name="T107" fmla="*/ 138 h 862"/>
              <a:gd name="T108" fmla="*/ 669 w 1260"/>
              <a:gd name="T109" fmla="*/ 78 h 86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1260" h="862">
                <a:moveTo>
                  <a:pt x="1190" y="770"/>
                </a:moveTo>
                <a:cubicBezTo>
                  <a:pt x="1191" y="766"/>
                  <a:pt x="1192" y="761"/>
                  <a:pt x="1192" y="756"/>
                </a:cubicBezTo>
                <a:lnTo>
                  <a:pt x="1192" y="238"/>
                </a:lnTo>
                <a:cubicBezTo>
                  <a:pt x="1192" y="213"/>
                  <a:pt x="1172" y="193"/>
                  <a:pt x="1147" y="193"/>
                </a:cubicBezTo>
                <a:lnTo>
                  <a:pt x="900" y="193"/>
                </a:lnTo>
                <a:lnTo>
                  <a:pt x="900" y="745"/>
                </a:lnTo>
                <a:cubicBezTo>
                  <a:pt x="900" y="754"/>
                  <a:pt x="898" y="762"/>
                  <a:pt x="895" y="770"/>
                </a:cubicBezTo>
                <a:lnTo>
                  <a:pt x="866" y="770"/>
                </a:lnTo>
                <a:cubicBezTo>
                  <a:pt x="868" y="766"/>
                  <a:pt x="869" y="761"/>
                  <a:pt x="869" y="756"/>
                </a:cubicBezTo>
                <a:lnTo>
                  <a:pt x="869" y="44"/>
                </a:lnTo>
                <a:cubicBezTo>
                  <a:pt x="869" y="20"/>
                  <a:pt x="849" y="0"/>
                  <a:pt x="824" y="0"/>
                </a:cubicBezTo>
                <a:lnTo>
                  <a:pt x="436" y="0"/>
                </a:lnTo>
                <a:cubicBezTo>
                  <a:pt x="411" y="0"/>
                  <a:pt x="391" y="20"/>
                  <a:pt x="391" y="44"/>
                </a:cubicBezTo>
                <a:lnTo>
                  <a:pt x="391" y="756"/>
                </a:lnTo>
                <a:cubicBezTo>
                  <a:pt x="391" y="761"/>
                  <a:pt x="392" y="766"/>
                  <a:pt x="394" y="770"/>
                </a:cubicBezTo>
                <a:lnTo>
                  <a:pt x="365" y="770"/>
                </a:lnTo>
                <a:cubicBezTo>
                  <a:pt x="362" y="762"/>
                  <a:pt x="360" y="754"/>
                  <a:pt x="360" y="745"/>
                </a:cubicBezTo>
                <a:lnTo>
                  <a:pt x="360" y="193"/>
                </a:lnTo>
                <a:lnTo>
                  <a:pt x="119" y="193"/>
                </a:lnTo>
                <a:cubicBezTo>
                  <a:pt x="94" y="193"/>
                  <a:pt x="74" y="213"/>
                  <a:pt x="74" y="238"/>
                </a:cubicBezTo>
                <a:lnTo>
                  <a:pt x="74" y="756"/>
                </a:lnTo>
                <a:cubicBezTo>
                  <a:pt x="74" y="761"/>
                  <a:pt x="75" y="766"/>
                  <a:pt x="76" y="770"/>
                </a:cubicBezTo>
                <a:lnTo>
                  <a:pt x="0" y="770"/>
                </a:lnTo>
                <a:lnTo>
                  <a:pt x="0" y="862"/>
                </a:lnTo>
                <a:lnTo>
                  <a:pt x="1260" y="862"/>
                </a:lnTo>
                <a:lnTo>
                  <a:pt x="1260" y="770"/>
                </a:lnTo>
                <a:lnTo>
                  <a:pt x="1190" y="770"/>
                </a:lnTo>
                <a:lnTo>
                  <a:pt x="1190" y="770"/>
                </a:lnTo>
                <a:close/>
                <a:moveTo>
                  <a:pt x="208" y="589"/>
                </a:moveTo>
                <a:lnTo>
                  <a:pt x="144" y="589"/>
                </a:lnTo>
                <a:lnTo>
                  <a:pt x="144" y="525"/>
                </a:lnTo>
                <a:lnTo>
                  <a:pt x="208" y="525"/>
                </a:lnTo>
                <a:lnTo>
                  <a:pt x="208" y="589"/>
                </a:lnTo>
                <a:close/>
                <a:moveTo>
                  <a:pt x="208" y="477"/>
                </a:moveTo>
                <a:lnTo>
                  <a:pt x="144" y="477"/>
                </a:lnTo>
                <a:lnTo>
                  <a:pt x="144" y="413"/>
                </a:lnTo>
                <a:lnTo>
                  <a:pt x="208" y="413"/>
                </a:lnTo>
                <a:lnTo>
                  <a:pt x="208" y="477"/>
                </a:lnTo>
                <a:close/>
                <a:moveTo>
                  <a:pt x="208" y="368"/>
                </a:moveTo>
                <a:lnTo>
                  <a:pt x="144" y="368"/>
                </a:lnTo>
                <a:lnTo>
                  <a:pt x="144" y="305"/>
                </a:lnTo>
                <a:lnTo>
                  <a:pt x="208" y="305"/>
                </a:lnTo>
                <a:lnTo>
                  <a:pt x="208" y="368"/>
                </a:lnTo>
                <a:close/>
                <a:moveTo>
                  <a:pt x="307" y="589"/>
                </a:moveTo>
                <a:lnTo>
                  <a:pt x="243" y="589"/>
                </a:lnTo>
                <a:lnTo>
                  <a:pt x="243" y="525"/>
                </a:lnTo>
                <a:lnTo>
                  <a:pt x="307" y="525"/>
                </a:lnTo>
                <a:lnTo>
                  <a:pt x="307" y="589"/>
                </a:lnTo>
                <a:close/>
                <a:moveTo>
                  <a:pt x="307" y="477"/>
                </a:moveTo>
                <a:lnTo>
                  <a:pt x="243" y="477"/>
                </a:lnTo>
                <a:lnTo>
                  <a:pt x="243" y="413"/>
                </a:lnTo>
                <a:lnTo>
                  <a:pt x="307" y="413"/>
                </a:lnTo>
                <a:lnTo>
                  <a:pt x="307" y="477"/>
                </a:lnTo>
                <a:close/>
                <a:moveTo>
                  <a:pt x="307" y="368"/>
                </a:moveTo>
                <a:lnTo>
                  <a:pt x="243" y="368"/>
                </a:lnTo>
                <a:lnTo>
                  <a:pt x="243" y="305"/>
                </a:lnTo>
                <a:lnTo>
                  <a:pt x="307" y="305"/>
                </a:lnTo>
                <a:lnTo>
                  <a:pt x="307" y="368"/>
                </a:lnTo>
                <a:close/>
                <a:moveTo>
                  <a:pt x="729" y="767"/>
                </a:moveTo>
                <a:lnTo>
                  <a:pt x="542" y="767"/>
                </a:lnTo>
                <a:lnTo>
                  <a:pt x="542" y="534"/>
                </a:lnTo>
                <a:lnTo>
                  <a:pt x="729" y="534"/>
                </a:lnTo>
                <a:lnTo>
                  <a:pt x="729" y="767"/>
                </a:lnTo>
                <a:close/>
                <a:moveTo>
                  <a:pt x="630" y="334"/>
                </a:moveTo>
                <a:cubicBezTo>
                  <a:pt x="543" y="334"/>
                  <a:pt x="473" y="263"/>
                  <a:pt x="473" y="177"/>
                </a:cubicBezTo>
                <a:cubicBezTo>
                  <a:pt x="473" y="90"/>
                  <a:pt x="543" y="20"/>
                  <a:pt x="630" y="20"/>
                </a:cubicBezTo>
                <a:cubicBezTo>
                  <a:pt x="717" y="20"/>
                  <a:pt x="787" y="90"/>
                  <a:pt x="787" y="177"/>
                </a:cubicBezTo>
                <a:cubicBezTo>
                  <a:pt x="787" y="263"/>
                  <a:pt x="717" y="334"/>
                  <a:pt x="630" y="334"/>
                </a:cubicBezTo>
                <a:close/>
                <a:moveTo>
                  <a:pt x="1035" y="589"/>
                </a:moveTo>
                <a:lnTo>
                  <a:pt x="971" y="589"/>
                </a:lnTo>
                <a:lnTo>
                  <a:pt x="971" y="525"/>
                </a:lnTo>
                <a:lnTo>
                  <a:pt x="1035" y="525"/>
                </a:lnTo>
                <a:lnTo>
                  <a:pt x="1035" y="589"/>
                </a:lnTo>
                <a:close/>
                <a:moveTo>
                  <a:pt x="1035" y="477"/>
                </a:moveTo>
                <a:lnTo>
                  <a:pt x="971" y="477"/>
                </a:lnTo>
                <a:lnTo>
                  <a:pt x="971" y="413"/>
                </a:lnTo>
                <a:lnTo>
                  <a:pt x="1035" y="413"/>
                </a:lnTo>
                <a:lnTo>
                  <a:pt x="1035" y="477"/>
                </a:lnTo>
                <a:close/>
                <a:moveTo>
                  <a:pt x="1035" y="368"/>
                </a:moveTo>
                <a:lnTo>
                  <a:pt x="971" y="368"/>
                </a:lnTo>
                <a:lnTo>
                  <a:pt x="971" y="305"/>
                </a:lnTo>
                <a:lnTo>
                  <a:pt x="1035" y="305"/>
                </a:lnTo>
                <a:lnTo>
                  <a:pt x="1035" y="368"/>
                </a:lnTo>
                <a:close/>
                <a:moveTo>
                  <a:pt x="1134" y="589"/>
                </a:moveTo>
                <a:lnTo>
                  <a:pt x="1070" y="589"/>
                </a:lnTo>
                <a:lnTo>
                  <a:pt x="1070" y="525"/>
                </a:lnTo>
                <a:lnTo>
                  <a:pt x="1134" y="525"/>
                </a:lnTo>
                <a:lnTo>
                  <a:pt x="1134" y="589"/>
                </a:lnTo>
                <a:close/>
                <a:moveTo>
                  <a:pt x="1134" y="477"/>
                </a:moveTo>
                <a:lnTo>
                  <a:pt x="1070" y="477"/>
                </a:lnTo>
                <a:lnTo>
                  <a:pt x="1070" y="413"/>
                </a:lnTo>
                <a:lnTo>
                  <a:pt x="1134" y="413"/>
                </a:lnTo>
                <a:lnTo>
                  <a:pt x="1134" y="477"/>
                </a:lnTo>
                <a:close/>
                <a:moveTo>
                  <a:pt x="1134" y="368"/>
                </a:moveTo>
                <a:lnTo>
                  <a:pt x="1070" y="368"/>
                </a:lnTo>
                <a:lnTo>
                  <a:pt x="1070" y="305"/>
                </a:lnTo>
                <a:lnTo>
                  <a:pt x="1134" y="305"/>
                </a:lnTo>
                <a:lnTo>
                  <a:pt x="1134" y="368"/>
                </a:lnTo>
                <a:close/>
                <a:moveTo>
                  <a:pt x="669" y="138"/>
                </a:moveTo>
                <a:lnTo>
                  <a:pt x="729" y="138"/>
                </a:lnTo>
                <a:lnTo>
                  <a:pt x="729" y="216"/>
                </a:lnTo>
                <a:lnTo>
                  <a:pt x="669" y="216"/>
                </a:lnTo>
                <a:lnTo>
                  <a:pt x="669" y="276"/>
                </a:lnTo>
                <a:lnTo>
                  <a:pt x="591" y="276"/>
                </a:lnTo>
                <a:lnTo>
                  <a:pt x="591" y="216"/>
                </a:lnTo>
                <a:lnTo>
                  <a:pt x="531" y="216"/>
                </a:lnTo>
                <a:lnTo>
                  <a:pt x="531" y="138"/>
                </a:lnTo>
                <a:lnTo>
                  <a:pt x="591" y="138"/>
                </a:lnTo>
                <a:lnTo>
                  <a:pt x="591" y="78"/>
                </a:lnTo>
                <a:lnTo>
                  <a:pt x="669" y="78"/>
                </a:lnTo>
                <a:lnTo>
                  <a:pt x="669" y="138"/>
                </a:lnTo>
                <a:close/>
              </a:path>
            </a:pathLst>
          </a:custGeom>
          <a:solidFill>
            <a:srgbClr val="C1030D"/>
          </a:solidFill>
          <a:ln>
            <a:noFill/>
          </a:ln>
        </p:spPr>
      </p:sp>
      <p:sp>
        <p:nvSpPr>
          <p:cNvPr id="25" name="矩形 24"/>
          <p:cNvSpPr/>
          <p:nvPr/>
        </p:nvSpPr>
        <p:spPr>
          <a:xfrm>
            <a:off x="3981275" y="338407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 smtClean="0">
                <a:latin typeface="+mn-ea"/>
              </a:rPr>
              <a:t>雷神</a:t>
            </a:r>
            <a:r>
              <a:rPr lang="zh-CN" altLang="en-US" dirty="0">
                <a:latin typeface="+mn-ea"/>
              </a:rPr>
              <a:t>山医院：</a:t>
            </a:r>
            <a:endParaRPr lang="zh-CN" altLang="en-US" dirty="0"/>
          </a:p>
        </p:txBody>
      </p:sp>
      <p:sp>
        <p:nvSpPr>
          <p:cNvPr id="26" name="矩形 25"/>
          <p:cNvSpPr/>
          <p:nvPr/>
        </p:nvSpPr>
        <p:spPr>
          <a:xfrm>
            <a:off x="5410556" y="3191054"/>
            <a:ext cx="1370888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500" dirty="0" smtClean="0">
                <a:solidFill>
                  <a:srgbClr val="C1030D"/>
                </a:solidFill>
                <a:latin typeface="+mn-ea"/>
              </a:rPr>
              <a:t>12</a:t>
            </a:r>
            <a:r>
              <a:rPr lang="zh-CN" altLang="en-US" dirty="0" smtClean="0">
                <a:latin typeface="+mn-ea"/>
              </a:rPr>
              <a:t>天</a:t>
            </a:r>
            <a:r>
              <a:rPr lang="zh-CN" altLang="en-US" dirty="0">
                <a:latin typeface="+mn-ea"/>
              </a:rPr>
              <a:t>建成</a:t>
            </a:r>
            <a:endParaRPr lang="zh-CN" altLang="en-US" dirty="0">
              <a:latin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7113037" y="3191054"/>
            <a:ext cx="1864613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500" dirty="0" smtClean="0">
                <a:solidFill>
                  <a:srgbClr val="C1030D"/>
                </a:solidFill>
                <a:latin typeface="+mn-ea"/>
              </a:rPr>
              <a:t>1600</a:t>
            </a:r>
            <a:r>
              <a:rPr lang="zh-CN" altLang="en-US" dirty="0">
                <a:latin typeface="+mn-ea"/>
              </a:rPr>
              <a:t>张床位</a:t>
            </a:r>
            <a:endParaRPr lang="zh-CN" altLang="en-US" dirty="0">
              <a:latin typeface="+mn-ea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5716270" y="4236407"/>
            <a:ext cx="2066449" cy="414810"/>
            <a:chOff x="5550935" y="4281129"/>
            <a:chExt cx="2066449" cy="414810"/>
          </a:xfrm>
        </p:grpSpPr>
        <p:grpSp>
          <p:nvGrpSpPr>
            <p:cNvPr id="34" name="组合 33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35" name="PA_矩形 20"/>
              <p:cNvSpPr/>
              <p:nvPr>
                <p:custDataLst>
                  <p:tags r:id="rId5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6" name="PA_直接连接符 2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7" name="矩形 36"/>
            <p:cNvSpPr/>
            <p:nvPr/>
          </p:nvSpPr>
          <p:spPr>
            <a:xfrm>
              <a:off x="5574909" y="4303868"/>
              <a:ext cx="201850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1030D"/>
                  </a:solidFill>
                  <a:latin typeface="Arial" panose="020B0604020202020204" pitchFamily="34" charset="0"/>
                </a:rPr>
                <a:t>4.26</a:t>
              </a:r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万名医务人员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3359150" y="4236407"/>
            <a:ext cx="2066449" cy="414810"/>
            <a:chOff x="5550935" y="4281129"/>
            <a:chExt cx="2066449" cy="414810"/>
          </a:xfrm>
        </p:grpSpPr>
        <p:grpSp>
          <p:nvGrpSpPr>
            <p:cNvPr id="40" name="组合 39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42" name="PA_矩形 20"/>
              <p:cNvSpPr/>
              <p:nvPr>
                <p:custDataLst>
                  <p:tags r:id="rId7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3" name="PA_直接连接符 27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矩形 40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en-US" altLang="zh-CN" dirty="0">
                  <a:solidFill>
                    <a:srgbClr val="C1030D"/>
                  </a:solidFill>
                  <a:latin typeface="Arial" panose="020B0604020202020204" pitchFamily="34" charset="0"/>
                </a:rPr>
                <a:t>346</a:t>
              </a:r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支医疗队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8109760" y="4236407"/>
            <a:ext cx="2145067" cy="414810"/>
            <a:chOff x="5550935" y="4281129"/>
            <a:chExt cx="2145067" cy="414810"/>
          </a:xfrm>
        </p:grpSpPr>
        <p:grpSp>
          <p:nvGrpSpPr>
            <p:cNvPr id="45" name="组合 44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47" name="PA_矩形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8" name="PA_直接连接符 27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矩形 45"/>
            <p:cNvSpPr/>
            <p:nvPr/>
          </p:nvSpPr>
          <p:spPr>
            <a:xfrm>
              <a:off x="5574909" y="4303868"/>
              <a:ext cx="21210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1030D"/>
                  </a:solidFill>
                  <a:latin typeface="Arial" panose="020B0604020202020204" pitchFamily="34" charset="0"/>
                </a:rPr>
                <a:t>6.5</a:t>
              </a:r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万余件医疗设备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5624827" y="5212458"/>
            <a:ext cx="2249334" cy="414810"/>
            <a:chOff x="5459492" y="4281129"/>
            <a:chExt cx="2249334" cy="414810"/>
          </a:xfrm>
        </p:grpSpPr>
        <p:grpSp>
          <p:nvGrpSpPr>
            <p:cNvPr id="50" name="组合 49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52" name="PA_矩形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3" name="PA_直接连接符 27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矩形 50"/>
            <p:cNvSpPr/>
            <p:nvPr/>
          </p:nvSpPr>
          <p:spPr>
            <a:xfrm>
              <a:off x="5459492" y="4303868"/>
              <a:ext cx="224933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C1030D"/>
                  </a:solidFill>
                  <a:latin typeface="Arial" panose="020B0604020202020204" pitchFamily="34" charset="0"/>
                </a:rPr>
                <a:t>13.5</a:t>
              </a:r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亿</a:t>
              </a:r>
              <a:r>
                <a:rPr lang="zh-CN" altLang="en-US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元总医疗费用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359150" y="5212458"/>
            <a:ext cx="2066449" cy="414810"/>
            <a:chOff x="5550935" y="4281129"/>
            <a:chExt cx="2066449" cy="414810"/>
          </a:xfrm>
        </p:grpSpPr>
        <p:grpSp>
          <p:nvGrpSpPr>
            <p:cNvPr id="55" name="组合 54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57" name="PA_矩形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8" name="PA_直接连接符 27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" name="矩形 55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治疗</a:t>
              </a:r>
              <a:r>
                <a:rPr lang="en-US" altLang="zh-CN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5.8</a:t>
              </a:r>
              <a:r>
                <a:rPr lang="zh-CN" altLang="en-US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万名患者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59" name="组合 58"/>
          <p:cNvGrpSpPr/>
          <p:nvPr/>
        </p:nvGrpSpPr>
        <p:grpSpPr>
          <a:xfrm>
            <a:off x="8109760" y="5212458"/>
            <a:ext cx="2106595" cy="414810"/>
            <a:chOff x="5550935" y="4281129"/>
            <a:chExt cx="2106595" cy="414810"/>
          </a:xfrm>
        </p:grpSpPr>
        <p:grpSp>
          <p:nvGrpSpPr>
            <p:cNvPr id="60" name="组合 59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62" name="PA_矩形 20"/>
              <p:cNvSpPr/>
              <p:nvPr>
                <p:custDataLst>
                  <p:tags r:id="rId15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" name="PA_直接连接符 27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矩形 60"/>
            <p:cNvSpPr/>
            <p:nvPr/>
          </p:nvSpPr>
          <p:spPr>
            <a:xfrm>
              <a:off x="5574909" y="4303868"/>
              <a:ext cx="208262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1624</a:t>
              </a:r>
              <a:r>
                <a:rPr lang="zh-CN" altLang="en-US" dirty="0" smtClean="0">
                  <a:solidFill>
                    <a:srgbClr val="C1030D"/>
                  </a:solidFill>
                  <a:latin typeface="Arial" panose="020B0604020202020204" pitchFamily="34" charset="0"/>
                </a:rPr>
                <a:t>亿元防控经费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</p:spTree>
    <p:custDataLst>
      <p:tags r:id="rId17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2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5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4000"/>
                            </p:stCondLst>
                            <p:childTnLst>
                              <p:par>
                                <p:cTn id="6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5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2" grpId="0"/>
      <p:bldP spid="5" grpId="0"/>
      <p:bldP spid="23" grpId="0"/>
      <p:bldP spid="25" grpId="0"/>
      <p:bldP spid="26" grpId="0"/>
      <p:bldP spid="2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41450" y="1837234"/>
            <a:ext cx="99356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举国体制只有中国才能够做得到、做得好。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中国速度、中国规模、中国效率、中国力量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再次震撼世界。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0" grpId="1" animBg="1"/>
      <p:bldP spid="11" grpId="0" animBg="1"/>
      <p:bldP spid="11" grpId="1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2352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5336" y="56577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987" y="142689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92" y="1676401"/>
            <a:ext cx="877163" cy="27348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500" dirty="0" smtClean="0">
                <a:solidFill>
                  <a:schemeClr val="bg1"/>
                </a:solidFill>
                <a:latin typeface="+mj-ea"/>
                <a:ea typeface="+mj-ea"/>
              </a:rPr>
              <a:t>人民力量</a:t>
            </a:r>
            <a:endParaRPr lang="zh-CN" altLang="en-US" sz="4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791478"/>
            <a:ext cx="669926" cy="4263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4" y="5271573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59" y="5654490"/>
            <a:ext cx="323029" cy="20556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46966" y="1537786"/>
            <a:ext cx="5695790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en-US" altLang="zh-CN" sz="2500" dirty="0">
                <a:solidFill>
                  <a:srgbClr val="333333"/>
                </a:solidFill>
                <a:latin typeface="Arial" panose="020B0604020202020204" pitchFamily="34" charset="0"/>
              </a:rPr>
              <a:t>14</a:t>
            </a:r>
            <a:r>
              <a:rPr lang="zh-CN" altLang="en-US" sz="2500" dirty="0">
                <a:solidFill>
                  <a:srgbClr val="333333"/>
                </a:solidFill>
                <a:latin typeface="Arial" panose="020B0604020202020204" pitchFamily="34" charset="0"/>
              </a:rPr>
              <a:t>亿中国人民全面动员、全民参</a:t>
            </a:r>
            <a:r>
              <a:rPr lang="zh-CN" altLang="en-US" sz="2500" dirty="0" smtClean="0">
                <a:solidFill>
                  <a:srgbClr val="333333"/>
                </a:solidFill>
                <a:latin typeface="Arial" panose="020B0604020202020204" pitchFamily="34" charset="0"/>
              </a:rPr>
              <a:t>战。</a:t>
            </a:r>
            <a:endParaRPr lang="zh-CN" altLang="en-US" sz="2500" dirty="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64646" y="826730"/>
            <a:ext cx="1785203" cy="461665"/>
            <a:chOff x="3364646" y="826730"/>
            <a:chExt cx="1785203" cy="461665"/>
          </a:xfrm>
        </p:grpSpPr>
        <p:sp>
          <p:nvSpPr>
            <p:cNvPr id="14" name="流程图: 手动输入 13"/>
            <p:cNvSpPr/>
            <p:nvPr/>
          </p:nvSpPr>
          <p:spPr>
            <a:xfrm rot="5400000">
              <a:off x="4036571" y="164962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4646" y="8267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决定作用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3266016" y="2814890"/>
            <a:ext cx="78481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响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应号召、顾全大局，开启了长达两个多月的居家隔离。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65226" y="2345726"/>
            <a:ext cx="25795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srgbClr val="C1030D"/>
                </a:solidFill>
                <a:latin typeface="+mj-ea"/>
                <a:ea typeface="+mj-ea"/>
              </a:rPr>
              <a:t>湖北人民、武汉人</a:t>
            </a:r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民</a:t>
            </a:r>
            <a:r>
              <a:rPr lang="en-US" altLang="zh-CN" sz="2000" dirty="0" smtClean="0">
                <a:solidFill>
                  <a:srgbClr val="C1030D"/>
                </a:solidFill>
                <a:latin typeface="+mj-ea"/>
                <a:ea typeface="+mj-ea"/>
              </a:rPr>
              <a:t>:</a:t>
            </a:r>
            <a:endParaRPr lang="zh-CN" altLang="en-US" sz="2000" dirty="0">
              <a:latin typeface="+mj-ea"/>
              <a:ea typeface="+mj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266016" y="3909764"/>
            <a:ext cx="42777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立足本职岗位为疫情防控作出贡</a:t>
            </a:r>
            <a:r>
              <a:rPr lang="zh-CN" altLang="en-US" dirty="0" smtClean="0">
                <a:solidFill>
                  <a:srgbClr val="333333"/>
                </a:solidFill>
                <a:latin typeface="Arial" panose="020B0604020202020204" pitchFamily="34" charset="0"/>
              </a:rPr>
              <a:t>献</a:t>
            </a: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。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265226" y="3440600"/>
            <a:ext cx="28360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全国各个领域的</a:t>
            </a:r>
            <a:r>
              <a:rPr lang="zh-CN" altLang="en-US" sz="2000" dirty="0">
                <a:solidFill>
                  <a:srgbClr val="C1030D"/>
                </a:solidFill>
                <a:latin typeface="+mj-ea"/>
                <a:ea typeface="+mj-ea"/>
              </a:rPr>
              <a:t>工作</a:t>
            </a:r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者</a:t>
            </a:r>
            <a:r>
              <a:rPr lang="en-US" altLang="zh-CN" sz="2000" dirty="0" smtClean="0">
                <a:solidFill>
                  <a:srgbClr val="C1030D"/>
                </a:solidFill>
                <a:latin typeface="+mj-ea"/>
                <a:ea typeface="+mj-ea"/>
              </a:rPr>
              <a:t>:</a:t>
            </a:r>
            <a:endParaRPr lang="zh-CN" altLang="en-US" sz="2000" dirty="0">
              <a:latin typeface="+mj-ea"/>
              <a:ea typeface="+mj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359150" y="4576832"/>
            <a:ext cx="1683129" cy="414810"/>
            <a:chOff x="5550935" y="4281129"/>
            <a:chExt cx="2066449" cy="414810"/>
          </a:xfrm>
        </p:grpSpPr>
        <p:grpSp>
          <p:nvGrpSpPr>
            <p:cNvPr id="31" name="组合 30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33" name="PA_矩形 20"/>
              <p:cNvSpPr/>
              <p:nvPr>
                <p:custDataLst>
                  <p:tags r:id="rId5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34" name="PA_直接连接符 27"/>
              <p:cNvCxnSpPr/>
              <p:nvPr>
                <p:custDataLst>
                  <p:tags r:id="rId6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" name="矩形 31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b="1" dirty="0">
                  <a:solidFill>
                    <a:srgbClr val="C1030D"/>
                  </a:solidFill>
                  <a:latin typeface="Arial" panose="020B0604020202020204" pitchFamily="34" charset="0"/>
                </a:rPr>
                <a:t>医务工作者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299929" y="4576832"/>
            <a:ext cx="1683129" cy="414810"/>
            <a:chOff x="5550935" y="4281129"/>
            <a:chExt cx="2066449" cy="414810"/>
          </a:xfrm>
        </p:grpSpPr>
        <p:grpSp>
          <p:nvGrpSpPr>
            <p:cNvPr id="46" name="组合 45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48" name="PA_矩形 20"/>
              <p:cNvSpPr/>
              <p:nvPr>
                <p:custDataLst>
                  <p:tags r:id="rId7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49" name="PA_直接连接符 27"/>
              <p:cNvCxnSpPr/>
              <p:nvPr>
                <p:custDataLst>
                  <p:tags r:id="rId8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矩形 46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人民解放军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7240708" y="4576832"/>
            <a:ext cx="1683129" cy="414810"/>
            <a:chOff x="5550935" y="4281129"/>
            <a:chExt cx="2066449" cy="414810"/>
          </a:xfrm>
        </p:grpSpPr>
        <p:grpSp>
          <p:nvGrpSpPr>
            <p:cNvPr id="51" name="组合 50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53" name="PA_矩形 20"/>
              <p:cNvSpPr/>
              <p:nvPr>
                <p:custDataLst>
                  <p:tags r:id="rId9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4" name="PA_直接连接符 27"/>
              <p:cNvCxnSpPr/>
              <p:nvPr>
                <p:custDataLst>
                  <p:tags r:id="rId10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矩形 51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公安干警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181487" y="4576832"/>
            <a:ext cx="1683129" cy="414810"/>
            <a:chOff x="5550935" y="4281129"/>
            <a:chExt cx="2066449" cy="414810"/>
          </a:xfrm>
        </p:grpSpPr>
        <p:grpSp>
          <p:nvGrpSpPr>
            <p:cNvPr id="56" name="组合 55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58" name="PA_矩形 20"/>
              <p:cNvSpPr/>
              <p:nvPr>
                <p:custDataLst>
                  <p:tags r:id="rId11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59" name="PA_直接连接符 27"/>
              <p:cNvCxnSpPr/>
              <p:nvPr>
                <p:custDataLst>
                  <p:tags r:id="rId12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矩形 56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疾控工作人员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3359150" y="5445244"/>
            <a:ext cx="1683129" cy="414810"/>
            <a:chOff x="5550935" y="4281129"/>
            <a:chExt cx="2066449" cy="414810"/>
          </a:xfrm>
        </p:grpSpPr>
        <p:grpSp>
          <p:nvGrpSpPr>
            <p:cNvPr id="61" name="组合 60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63" name="PA_矩形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4" name="PA_直接连接符 27"/>
              <p:cNvCxnSpPr/>
              <p:nvPr>
                <p:custDataLst>
                  <p:tags r:id="rId14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2" name="矩形 61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社区工作人员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5299929" y="5445244"/>
            <a:ext cx="1683129" cy="414810"/>
            <a:chOff x="5550935" y="4281129"/>
            <a:chExt cx="2066449" cy="414810"/>
          </a:xfrm>
        </p:grpSpPr>
        <p:grpSp>
          <p:nvGrpSpPr>
            <p:cNvPr id="66" name="组合 65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68" name="PA_矩形 20"/>
              <p:cNvSpPr/>
              <p:nvPr>
                <p:custDataLst>
                  <p:tags r:id="rId15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9" name="PA_直接连接符 27"/>
              <p:cNvCxnSpPr/>
              <p:nvPr>
                <p:custDataLst>
                  <p:tags r:id="rId16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矩形 66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新闻工作者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7240708" y="5445244"/>
            <a:ext cx="1683129" cy="414810"/>
            <a:chOff x="5550935" y="4281129"/>
            <a:chExt cx="2066449" cy="414810"/>
          </a:xfrm>
        </p:grpSpPr>
        <p:grpSp>
          <p:nvGrpSpPr>
            <p:cNvPr id="71" name="组合 70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73" name="PA_矩形 20"/>
              <p:cNvSpPr/>
              <p:nvPr>
                <p:custDataLst>
                  <p:tags r:id="rId17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4" name="PA_直接连接符 27"/>
              <p:cNvCxnSpPr/>
              <p:nvPr>
                <p:custDataLst>
                  <p:tags r:id="rId18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" name="矩形 71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企业职工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9181487" y="5445244"/>
            <a:ext cx="1683129" cy="414810"/>
            <a:chOff x="5550935" y="4281129"/>
            <a:chExt cx="2066449" cy="414810"/>
          </a:xfrm>
        </p:grpSpPr>
        <p:grpSp>
          <p:nvGrpSpPr>
            <p:cNvPr id="76" name="组合 75"/>
            <p:cNvGrpSpPr/>
            <p:nvPr/>
          </p:nvGrpSpPr>
          <p:grpSpPr>
            <a:xfrm>
              <a:off x="5550935" y="4281129"/>
              <a:ext cx="2066449" cy="414810"/>
              <a:chOff x="2378857" y="5580120"/>
              <a:chExt cx="4649533" cy="746341"/>
            </a:xfrm>
          </p:grpSpPr>
          <p:sp>
            <p:nvSpPr>
              <p:cNvPr id="78" name="PA_矩形 20"/>
              <p:cNvSpPr/>
              <p:nvPr>
                <p:custDataLst>
                  <p:tags r:id="rId19"/>
                </p:custDataLst>
              </p:nvPr>
            </p:nvSpPr>
            <p:spPr>
              <a:xfrm>
                <a:off x="2378857" y="5580120"/>
                <a:ext cx="4649533" cy="746341"/>
              </a:xfrm>
              <a:prstGeom prst="rect">
                <a:avLst/>
              </a:prstGeom>
              <a:solidFill>
                <a:srgbClr val="C1030D">
                  <a:alpha val="1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79" name="PA_直接连接符 27"/>
              <p:cNvCxnSpPr/>
              <p:nvPr>
                <p:custDataLst>
                  <p:tags r:id="rId20"/>
                </p:custDataLst>
              </p:nvPr>
            </p:nvCxnSpPr>
            <p:spPr>
              <a:xfrm>
                <a:off x="2378857" y="6326461"/>
                <a:ext cx="4649533" cy="0"/>
              </a:xfrm>
              <a:prstGeom prst="line">
                <a:avLst/>
              </a:prstGeom>
              <a:ln>
                <a:solidFill>
                  <a:srgbClr val="C1030D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矩形 76"/>
            <p:cNvSpPr/>
            <p:nvPr/>
          </p:nvSpPr>
          <p:spPr>
            <a:xfrm>
              <a:off x="5596560" y="4303868"/>
              <a:ext cx="19751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dirty="0">
                  <a:solidFill>
                    <a:srgbClr val="C1030D"/>
                  </a:solidFill>
                  <a:latin typeface="Arial" panose="020B0604020202020204" pitchFamily="34" charset="0"/>
                </a:rPr>
                <a:t>交通运输人员</a:t>
              </a:r>
              <a:endParaRPr lang="zh-CN" altLang="en-US" dirty="0">
                <a:solidFill>
                  <a:srgbClr val="C1030D"/>
                </a:solidFill>
              </a:endParaRPr>
            </a:p>
          </p:txBody>
        </p:sp>
      </p:grpSp>
    </p:spTree>
    <p:custDataLst>
      <p:tags r:id="rId21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2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665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8350"/>
                            </p:stCondLst>
                            <p:childTnLst>
                              <p:par>
                                <p:cTn id="6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3" grpId="0"/>
      <p:bldP spid="4" grpId="0"/>
      <p:bldP spid="28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41450" y="1837234"/>
            <a:ext cx="993561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习近平总书记深情地说：“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武汉人民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不愧为英雄的人民”。“战胜这次疫情，给我们力量和信心的是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中国人民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。”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0" grpId="1" animBg="1"/>
      <p:bldP spid="11" grpId="0" animBg="1"/>
      <p:bldP spid="11" grpId="1" animBg="1"/>
      <p:bldP spid="1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2235200" cy="6858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5336" y="56577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53987" y="1426895"/>
            <a:ext cx="1107996" cy="861774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6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48392" y="1676401"/>
            <a:ext cx="877163" cy="2734880"/>
          </a:xfrm>
          <a:prstGeom prst="rect">
            <a:avLst/>
          </a:prstGeom>
        </p:spPr>
        <p:txBody>
          <a:bodyPr vert="eaVert" wrap="square">
            <a:spAutoFit/>
          </a:bodyPr>
          <a:lstStyle/>
          <a:p>
            <a:pPr algn="dist"/>
            <a:r>
              <a:rPr lang="zh-CN" altLang="en-US" sz="4500" dirty="0" smtClean="0">
                <a:solidFill>
                  <a:schemeClr val="bg1"/>
                </a:solidFill>
                <a:latin typeface="+mj-ea"/>
                <a:ea typeface="+mj-ea"/>
              </a:rPr>
              <a:t>道德力量</a:t>
            </a:r>
            <a:endParaRPr lang="zh-CN" altLang="en-US" sz="45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50" y="5791478"/>
            <a:ext cx="669926" cy="42631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314" y="5271573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2159" y="5654490"/>
            <a:ext cx="323029" cy="205564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246966" y="1537786"/>
            <a:ext cx="722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accent4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中华传统美德和社会主义核心价值观在抗击疫情中得到弘扬和展现</a:t>
            </a:r>
            <a:endParaRPr lang="zh-CN" altLang="en-US" dirty="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64646" y="826730"/>
            <a:ext cx="1785203" cy="461665"/>
            <a:chOff x="3364646" y="826730"/>
            <a:chExt cx="1785203" cy="461665"/>
          </a:xfrm>
        </p:grpSpPr>
        <p:sp>
          <p:nvSpPr>
            <p:cNvPr id="14" name="流程图: 手动输入 13"/>
            <p:cNvSpPr/>
            <p:nvPr/>
          </p:nvSpPr>
          <p:spPr>
            <a:xfrm rot="5400000">
              <a:off x="4036571" y="164962"/>
              <a:ext cx="441353" cy="1785202"/>
            </a:xfrm>
            <a:prstGeom prst="flowChartManualInpu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3364646" y="826730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400" dirty="0" smtClean="0">
                  <a:latin typeface="+mj-ea"/>
                  <a:ea typeface="+mj-ea"/>
                </a:rPr>
                <a:t>激励作用</a:t>
              </a:r>
              <a:endParaRPr lang="zh-CN" altLang="en-US" sz="2400" dirty="0">
                <a:latin typeface="+mj-ea"/>
                <a:ea typeface="+mj-ea"/>
              </a:endParaRPr>
            </a:p>
          </p:txBody>
        </p:sp>
      </p:grpSp>
      <p:sp>
        <p:nvSpPr>
          <p:cNvPr id="82" name="文本框 81"/>
          <p:cNvSpPr txBox="1"/>
          <p:nvPr/>
        </p:nvSpPr>
        <p:spPr>
          <a:xfrm>
            <a:off x="3262206" y="3039552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注册志愿者</a:t>
            </a:r>
            <a:endParaRPr lang="zh-CN" altLang="en-US" sz="2000" dirty="0">
              <a:solidFill>
                <a:srgbClr val="C1030D"/>
              </a:solidFill>
              <a:latin typeface="+mj-ea"/>
              <a:ea typeface="+mj-ea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3262206" y="3457836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881</a:t>
            </a:r>
            <a:r>
              <a:rPr lang="zh-CN" altLang="en-US" dirty="0" smtClean="0"/>
              <a:t>万人</a:t>
            </a:r>
            <a:endParaRPr lang="zh-CN" altLang="en-US" dirty="0"/>
          </a:p>
        </p:txBody>
      </p:sp>
      <p:sp>
        <p:nvSpPr>
          <p:cNvPr id="84" name="文本框 83"/>
          <p:cNvSpPr txBox="1"/>
          <p:nvPr/>
        </p:nvSpPr>
        <p:spPr>
          <a:xfrm>
            <a:off x="5319814" y="303955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志愿服务项目</a:t>
            </a:r>
            <a:endParaRPr lang="zh-CN" altLang="en-US" sz="2000" dirty="0">
              <a:solidFill>
                <a:srgbClr val="C1030D"/>
              </a:solidFill>
              <a:latin typeface="+mj-ea"/>
              <a:ea typeface="+mj-ea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310196" y="3457836"/>
            <a:ext cx="880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46</a:t>
            </a:r>
            <a:r>
              <a:rPr lang="zh-CN" altLang="en-US" dirty="0"/>
              <a:t>万个</a:t>
            </a:r>
            <a:endParaRPr lang="zh-CN" altLang="en-US" dirty="0"/>
          </a:p>
        </p:txBody>
      </p:sp>
      <p:sp>
        <p:nvSpPr>
          <p:cNvPr id="86" name="文本框 85"/>
          <p:cNvSpPr txBox="1"/>
          <p:nvPr/>
        </p:nvSpPr>
        <p:spPr>
          <a:xfrm>
            <a:off x="7925854" y="3039552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 smtClean="0">
                <a:solidFill>
                  <a:srgbClr val="C1030D"/>
                </a:solidFill>
                <a:latin typeface="+mj-ea"/>
                <a:ea typeface="+mj-ea"/>
              </a:rPr>
              <a:t>支援服务时长</a:t>
            </a:r>
            <a:endParaRPr lang="zh-CN" altLang="en-US" sz="2000" dirty="0">
              <a:solidFill>
                <a:srgbClr val="C1030D"/>
              </a:solidFill>
              <a:latin typeface="+mj-ea"/>
              <a:ea typeface="+mj-ea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7916236" y="3457836"/>
            <a:ext cx="1168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2.9</a:t>
            </a:r>
            <a:r>
              <a:rPr lang="zh-CN" altLang="en-US" dirty="0"/>
              <a:t>亿小时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262206" y="4208719"/>
            <a:ext cx="71073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333333"/>
                </a:solidFill>
                <a:latin typeface="Arial" panose="020B0604020202020204" pitchFamily="34" charset="0"/>
              </a:rPr>
              <a:t>我国在抗击疫情中得到了国际社会的积极帮助，我们也向疫情扩散的国家和地区提供力所能及的援助和支持。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3262206" y="2288669"/>
            <a:ext cx="44037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在抗击疫情中，举国上下齐发动、齐动员</a:t>
            </a:r>
            <a:r>
              <a:rPr lang="en-US" altLang="zh-CN" dirty="0">
                <a:latin typeface="+mj-ea"/>
                <a:ea typeface="+mj-ea"/>
              </a:rPr>
              <a:t>:</a:t>
            </a:r>
            <a:endParaRPr lang="zh-CN" altLang="en-US" dirty="0">
              <a:latin typeface="+mj-ea"/>
              <a:ea typeface="+mj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12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12" decel="10000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1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5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" presetClass="entr" presetSubtype="2" decel="10000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000"/>
                            </p:stCondLst>
                            <p:childTnLst>
                              <p:par>
                                <p:cTn id="4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6349"/>
                            </p:stCondLst>
                            <p:childTnLst>
                              <p:par>
                                <p:cTn id="5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705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55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8300"/>
                            </p:stCondLst>
                            <p:childTnLst>
                              <p:par>
                                <p:cTn id="6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88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5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50"/>
                            </p:stCondLst>
                            <p:childTnLst>
                              <p:par>
                                <p:cTn id="8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3" grpId="0"/>
      <p:bldP spid="82" grpId="0"/>
      <p:bldP spid="83" grpId="0"/>
      <p:bldP spid="84" grpId="0"/>
      <p:bldP spid="85" grpId="0"/>
      <p:bldP spid="86" grpId="0"/>
      <p:bldP spid="87" grpId="0"/>
      <p:bldP spid="3" grpId="0"/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1441450" y="1837234"/>
            <a:ext cx="9935611" cy="1830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这一切都是建立在我们的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道德观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、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价值观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基础上的，凸显了中国</a:t>
            </a:r>
            <a:r>
              <a:rPr lang="zh-CN" altLang="en-US" sz="4000" dirty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道德力量</a:t>
            </a:r>
            <a:r>
              <a:rPr lang="zh-CN" altLang="en-US" sz="4000" dirty="0">
                <a:solidFill>
                  <a:schemeClr val="bg1"/>
                </a:solidFill>
                <a:latin typeface="+mj-ea"/>
                <a:ea typeface="+mj-ea"/>
              </a:rPr>
              <a:t>的巨大魅力。</a:t>
            </a:r>
            <a:endParaRPr lang="zh-CN" altLang="en-US" sz="40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等腰三角形 9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0" grpId="1" animBg="1"/>
      <p:bldP spid="11" grpId="0" animBg="1"/>
      <p:bldP spid="11" grpId="1" animBg="1"/>
      <p:bldP spid="1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85332" y="2967335"/>
            <a:ext cx="986366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符</a:t>
            </a: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合中国实际、具有中国特色、体现中国人民意愿的中国制度</a:t>
            </a: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，是</a:t>
            </a: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世界上最有前途、最有效率、最有生命力、最可靠、最管用</a:t>
            </a: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、最</a:t>
            </a:r>
            <a:r>
              <a:rPr lang="zh-CN" altLang="en-US" b="0" i="0" dirty="0" smtClean="0"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能给中国人民带来福祉和利益的好制度。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82382" y="1549400"/>
            <a:ext cx="582723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我们总结思考得出结论：</a:t>
            </a:r>
            <a:endParaRPr lang="zh-CN" altLang="en-US" sz="40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11" name="直接连接符 10"/>
          <p:cNvCxnSpPr/>
          <p:nvPr/>
        </p:nvCxnSpPr>
        <p:spPr>
          <a:xfrm flipH="1">
            <a:off x="266700" y="-44450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 flipH="1">
            <a:off x="-292100" y="908050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 flipH="1">
            <a:off x="11557000" y="459125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 flipH="1">
            <a:off x="10998200" y="5943808"/>
            <a:ext cx="889000" cy="1066800"/>
          </a:xfrm>
          <a:prstGeom prst="line">
            <a:avLst/>
          </a:prstGeom>
          <a:ln w="9525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等腰三角形 14"/>
          <p:cNvSpPr/>
          <p:nvPr/>
        </p:nvSpPr>
        <p:spPr>
          <a:xfrm rot="18417477">
            <a:off x="891540" y="277142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3164838">
            <a:off x="11302999" y="4756576"/>
            <a:ext cx="279400" cy="240862"/>
          </a:xfrm>
          <a:prstGeom prst="triangl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/>
        </p:nvSpPr>
        <p:spPr>
          <a:xfrm rot="20505102">
            <a:off x="2006771" y="6081895"/>
            <a:ext cx="918971" cy="943717"/>
          </a:xfrm>
          <a:custGeom>
            <a:avLst/>
            <a:gdLst>
              <a:gd name="connsiteX0" fmla="*/ 371615 w 918971"/>
              <a:gd name="connsiteY0" fmla="*/ 0 h 943717"/>
              <a:gd name="connsiteX1" fmla="*/ 918971 w 918971"/>
              <a:gd name="connsiteY1" fmla="*/ 943717 h 943717"/>
              <a:gd name="connsiteX2" fmla="*/ 0 w 918971"/>
              <a:gd name="connsiteY2" fmla="*/ 640716 h 943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18971" h="943717">
                <a:moveTo>
                  <a:pt x="371615" y="0"/>
                </a:moveTo>
                <a:lnTo>
                  <a:pt x="918971" y="943717"/>
                </a:lnTo>
                <a:lnTo>
                  <a:pt x="0" y="640716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5" grpId="0" animBg="1"/>
      <p:bldP spid="15" grpId="1" animBg="1"/>
      <p:bldP spid="16" grpId="0" animBg="1"/>
      <p:bldP spid="16" grpId="1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74720" y="1037508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抗疫斗争</a:t>
            </a:r>
            <a:endParaRPr lang="zh-CN" altLang="en-US" sz="6000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75120" y="432988"/>
            <a:ext cx="1210588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彰</a:t>
            </a:r>
            <a:endParaRPr lang="zh-CN" altLang="en-US" sz="80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18400" y="1433748"/>
            <a:ext cx="1210588" cy="132343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zh-CN" altLang="en-US" sz="8000" dirty="0" smtClean="0">
                <a:solidFill>
                  <a:schemeClr val="accent4">
                    <a:lumMod val="60000"/>
                    <a:lumOff val="40000"/>
                  </a:schemeClr>
                </a:solidFill>
                <a:latin typeface="+mj-ea"/>
                <a:ea typeface="+mj-ea"/>
              </a:rPr>
              <a:t>显</a:t>
            </a:r>
            <a:endParaRPr lang="zh-CN" altLang="en-US" sz="8000" dirty="0">
              <a:solidFill>
                <a:schemeClr val="accent4">
                  <a:lumMod val="60000"/>
                  <a:lumOff val="4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09440" y="195979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 smtClean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rPr>
              <a:t>中国力量</a:t>
            </a:r>
            <a:endParaRPr lang="zh-CN" altLang="en-US" sz="6000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6438" y="4889500"/>
            <a:ext cx="1339192" cy="8001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671872" y="4889500"/>
            <a:ext cx="1339192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461" y="4730750"/>
            <a:ext cx="781438" cy="1649412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600" y="3980376"/>
            <a:ext cx="858838" cy="546533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376" y="3460472"/>
            <a:ext cx="327845" cy="20862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2221" y="3843389"/>
            <a:ext cx="323029" cy="20556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6804" y="3915033"/>
            <a:ext cx="662795" cy="312568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474720" y="3127920"/>
            <a:ext cx="5223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dirty="0" smtClean="0">
                <a:solidFill>
                  <a:schemeClr val="bg1"/>
                </a:solidFill>
              </a:rPr>
              <a:t>疫情防控专题党课  把握制度优势坚定制度自信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45288" y="432988"/>
            <a:ext cx="338554" cy="23711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000" dirty="0" smtClean="0">
                <a:solidFill>
                  <a:schemeClr val="bg1"/>
                </a:solidFill>
              </a:rPr>
              <a:t>不忘初心 牢记使命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1316868" y="2693588"/>
            <a:ext cx="338554" cy="237117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zh-CN" altLang="en-US" sz="1000" dirty="0" smtClean="0">
                <a:solidFill>
                  <a:schemeClr val="bg1"/>
                </a:solidFill>
              </a:rPr>
              <a:t>众志成城 战胜疫情</a:t>
            </a:r>
            <a:endParaRPr lang="zh-CN" alt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0" presetClass="entr" presetSubtype="0" decel="10000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decel="10000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1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14" grpId="0"/>
      <p:bldP spid="15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2933" y="2006600"/>
            <a:ext cx="4931158" cy="18433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</a:rPr>
              <a:t>标</a:t>
            </a:r>
            <a:r>
              <a:rPr lang="zh-CN" altLang="en-US" sz="4000" b="1" dirty="0" smtClean="0">
                <a:solidFill>
                  <a:schemeClr val="bg1"/>
                </a:solidFill>
                <a:latin typeface="+mn-ea"/>
              </a:rPr>
              <a:t>题字体：思源宋体</a:t>
            </a:r>
            <a:endParaRPr lang="en-US" altLang="zh-CN" sz="4000" b="1" dirty="0" smtClean="0">
              <a:solidFill>
                <a:schemeClr val="bg1"/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chemeClr val="bg1"/>
                </a:solidFill>
                <a:latin typeface="+mn-ea"/>
              </a:rPr>
              <a:t>内</a:t>
            </a:r>
            <a:r>
              <a:rPr lang="zh-CN" altLang="en-US" sz="4000" b="1" dirty="0" smtClean="0">
                <a:solidFill>
                  <a:schemeClr val="bg1"/>
                </a:solidFill>
                <a:latin typeface="+mn-ea"/>
              </a:rPr>
              <a:t>容字体：思源黑体</a:t>
            </a:r>
            <a:endParaRPr lang="zh-CN" altLang="en-US" sz="4000" b="1" dirty="0">
              <a:solidFill>
                <a:schemeClr val="bg1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ICON" val="#105461;#72301;#137673;#17148;"/>
</p:tagLst>
</file>

<file path=ppt/tags/tag2.xml><?xml version="1.0" encoding="utf-8"?>
<p:tagLst xmlns:p="http://schemas.openxmlformats.org/presentationml/2006/main">
  <p:tag name="ISLIDE.ICON" val="#105461;#72301;#137673;#17148;"/>
</p:tagLst>
</file>

<file path=ppt/tags/tag3.xml><?xml version="1.0" encoding="utf-8"?>
<p:tagLst xmlns:p="http://schemas.openxmlformats.org/presentationml/2006/main">
  <p:tag name="PA" val="v4.2.2"/>
</p:tagLst>
</file>

<file path=ppt/tags/tag4.xml><?xml version="1.0" encoding="utf-8"?>
<p:tagLst xmlns:p="http://schemas.openxmlformats.org/presentationml/2006/main">
  <p:tag name="PA" val="v4.2.2"/>
</p:tagLst>
</file>

<file path=ppt/tags/tag5.xml><?xml version="1.0" encoding="utf-8"?>
<p:tagLst xmlns:p="http://schemas.openxmlformats.org/presentationml/2006/main">
  <p:tag name="PA" val="v4.2.2"/>
</p:tagLst>
</file>

<file path=ppt/tags/tag6.xml><?xml version="1.0" encoding="utf-8"?>
<p:tagLst xmlns:p="http://schemas.openxmlformats.org/presentationml/2006/main">
  <p:tag name="PA" val="v4.2.2"/>
</p:tagLst>
</file>

<file path=ppt/tags/tag7.xml><?xml version="1.0" encoding="utf-8"?>
<p:tagLst xmlns:p="http://schemas.openxmlformats.org/presentationml/2006/main">
  <p:tag name="PA" val="v4.2.2"/>
</p:tagLst>
</file>

<file path=ppt/tags/tag8.xml><?xml version="1.0" encoding="utf-8"?>
<p:tagLst xmlns:p="http://schemas.openxmlformats.org/presentationml/2006/main">
  <p:tag name="PA" val="v4.2.2"/>
</p:tagLst>
</file>

<file path=ppt/tags/tag9.xml><?xml version="1.0" encoding="utf-8"?>
<p:tagLst xmlns:p="http://schemas.openxmlformats.org/presentationml/2006/main">
  <p:tag name="PA" val="v4.2.2"/>
</p:tagLst>
</file>

<file path=ppt/tags/tag10.xml><?xml version="1.0" encoding="utf-8"?>
<p:tagLst xmlns:p="http://schemas.openxmlformats.org/presentationml/2006/main">
  <p:tag name="PA" val="v4.2.2"/>
</p:tagLst>
</file>

<file path=ppt/tags/tag11.xml><?xml version="1.0" encoding="utf-8"?>
<p:tagLst xmlns:p="http://schemas.openxmlformats.org/presentationml/2006/main">
  <p:tag name="PA" val="v4.2.2"/>
</p:tagLst>
</file>

<file path=ppt/tags/tag12.xml><?xml version="1.0" encoding="utf-8"?>
<p:tagLst xmlns:p="http://schemas.openxmlformats.org/presentationml/2006/main">
  <p:tag name="PA" val="v4.2.2"/>
</p:tagLst>
</file>

<file path=ppt/tags/tag13.xml><?xml version="1.0" encoding="utf-8"?>
<p:tagLst xmlns:p="http://schemas.openxmlformats.org/presentationml/2006/main">
  <p:tag name="PA" val="v4.2.2"/>
</p:tagLst>
</file>

<file path=ppt/tags/tag14.xml><?xml version="1.0" encoding="utf-8"?>
<p:tagLst xmlns:p="http://schemas.openxmlformats.org/presentationml/2006/main">
  <p:tag name="PA" val="v4.2.2"/>
</p:tagLst>
</file>

<file path=ppt/tags/tag15.xml><?xml version="1.0" encoding="utf-8"?>
<p:tagLst xmlns:p="http://schemas.openxmlformats.org/presentationml/2006/main">
  <p:tag name="ISLIDE.ICON" val="#21773;#22763;#22048;"/>
</p:tagLst>
</file>

<file path=ppt/tags/tag16.xml><?xml version="1.0" encoding="utf-8"?>
<p:tagLst xmlns:p="http://schemas.openxmlformats.org/presentationml/2006/main">
  <p:tag name="PA" val="v4.2.2"/>
</p:tagLst>
</file>

<file path=ppt/tags/tag17.xml><?xml version="1.0" encoding="utf-8"?>
<p:tagLst xmlns:p="http://schemas.openxmlformats.org/presentationml/2006/main">
  <p:tag name="PA" val="v4.2.2"/>
</p:tagLst>
</file>

<file path=ppt/tags/tag18.xml><?xml version="1.0" encoding="utf-8"?>
<p:tagLst xmlns:p="http://schemas.openxmlformats.org/presentationml/2006/main">
  <p:tag name="PA" val="v4.2.2"/>
</p:tagLst>
</file>

<file path=ppt/tags/tag19.xml><?xml version="1.0" encoding="utf-8"?>
<p:tagLst xmlns:p="http://schemas.openxmlformats.org/presentationml/2006/main">
  <p:tag name="PA" val="v4.2.2"/>
</p:tagLst>
</file>

<file path=ppt/tags/tag20.xml><?xml version="1.0" encoding="utf-8"?>
<p:tagLst xmlns:p="http://schemas.openxmlformats.org/presentationml/2006/main">
  <p:tag name="PA" val="v4.2.2"/>
</p:tagLst>
</file>

<file path=ppt/tags/tag21.xml><?xml version="1.0" encoding="utf-8"?>
<p:tagLst xmlns:p="http://schemas.openxmlformats.org/presentationml/2006/main">
  <p:tag name="PA" val="v4.2.2"/>
</p:tagLst>
</file>

<file path=ppt/tags/tag22.xml><?xml version="1.0" encoding="utf-8"?>
<p:tagLst xmlns:p="http://schemas.openxmlformats.org/presentationml/2006/main">
  <p:tag name="PA" val="v4.2.2"/>
</p:tagLst>
</file>

<file path=ppt/tags/tag23.xml><?xml version="1.0" encoding="utf-8"?>
<p:tagLst xmlns:p="http://schemas.openxmlformats.org/presentationml/2006/main">
  <p:tag name="PA" val="v4.2.2"/>
</p:tagLst>
</file>

<file path=ppt/tags/tag24.xml><?xml version="1.0" encoding="utf-8"?>
<p:tagLst xmlns:p="http://schemas.openxmlformats.org/presentationml/2006/main">
  <p:tag name="PA" val="v4.2.2"/>
</p:tagLst>
</file>

<file path=ppt/tags/tag25.xml><?xml version="1.0" encoding="utf-8"?>
<p:tagLst xmlns:p="http://schemas.openxmlformats.org/presentationml/2006/main">
  <p:tag name="PA" val="v4.2.2"/>
</p:tagLst>
</file>

<file path=ppt/tags/tag26.xml><?xml version="1.0" encoding="utf-8"?>
<p:tagLst xmlns:p="http://schemas.openxmlformats.org/presentationml/2006/main">
  <p:tag name="PA" val="v4.2.2"/>
</p:tagLst>
</file>

<file path=ppt/tags/tag27.xml><?xml version="1.0" encoding="utf-8"?>
<p:tagLst xmlns:p="http://schemas.openxmlformats.org/presentationml/2006/main">
  <p:tag name="PA" val="v4.2.2"/>
</p:tagLst>
</file>

<file path=ppt/tags/tag28.xml><?xml version="1.0" encoding="utf-8"?>
<p:tagLst xmlns:p="http://schemas.openxmlformats.org/presentationml/2006/main">
  <p:tag name="PA" val="v4.2.2"/>
</p:tagLst>
</file>

<file path=ppt/tags/tag29.xml><?xml version="1.0" encoding="utf-8"?>
<p:tagLst xmlns:p="http://schemas.openxmlformats.org/presentationml/2006/main">
  <p:tag name="PA" val="v4.2.2"/>
</p:tagLst>
</file>

<file path=ppt/tags/tag30.xml><?xml version="1.0" encoding="utf-8"?>
<p:tagLst xmlns:p="http://schemas.openxmlformats.org/presentationml/2006/main">
  <p:tag name="PA" val="v4.2.2"/>
</p:tagLst>
</file>

<file path=ppt/tags/tag31.xml><?xml version="1.0" encoding="utf-8"?>
<p:tagLst xmlns:p="http://schemas.openxmlformats.org/presentationml/2006/main">
  <p:tag name="PA" val="v4.2.2"/>
</p:tagLst>
</file>

<file path=ppt/tags/tag32.xml><?xml version="1.0" encoding="utf-8"?>
<p:tagLst xmlns:p="http://schemas.openxmlformats.org/presentationml/2006/main">
  <p:tag name="ISLIDE.ICON" val="#21773;#22763;#22048;"/>
</p:tagLst>
</file>

<file path=ppt/tags/tag33.xml><?xml version="1.0" encoding="utf-8"?>
<p:tagLst xmlns:p="http://schemas.openxmlformats.org/presentationml/2006/main">
  <p:tag name="ISLIDE.ICON" val="#21773;#22763;#22048;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">
      <a:majorFont>
        <a:latin typeface="Calibri Light"/>
        <a:ea typeface="思源宋体 Heavy"/>
        <a:cs typeface=""/>
      </a:majorFont>
      <a:minorFont>
        <a:latin typeface="Calibri"/>
        <a:ea typeface="思源黑体 CN Norm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1294</Words>
  <Application>WPS 演示</Application>
  <PresentationFormat>宽屏</PresentationFormat>
  <Paragraphs>244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9" baseType="lpstr">
      <vt:lpstr>Arial</vt:lpstr>
      <vt:lpstr>宋体</vt:lpstr>
      <vt:lpstr>Wingdings</vt:lpstr>
      <vt:lpstr>思源黑体 CN Normal</vt:lpstr>
      <vt:lpstr>黑体</vt:lpstr>
      <vt:lpstr>思源宋体 Heavy</vt:lpstr>
      <vt:lpstr>Calibri</vt:lpstr>
      <vt:lpstr>微软雅黑</vt:lpstr>
      <vt:lpstr>Arial Unicode MS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大象</cp:lastModifiedBy>
  <cp:revision>133</cp:revision>
  <dcterms:created xsi:type="dcterms:W3CDTF">2020-06-20T10:55:00Z</dcterms:created>
  <dcterms:modified xsi:type="dcterms:W3CDTF">2020-10-03T04:20:05Z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2052-11.1.0.9999</vt:lpwstr>
  </property>
</Properties>
</file>