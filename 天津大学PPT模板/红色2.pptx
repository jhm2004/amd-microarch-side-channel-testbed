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4"/>
  </p:handoutMasterIdLst>
  <p:sldIdLst>
    <p:sldId id="258" r:id="rId3"/>
    <p:sldId id="256" r:id="rId4"/>
    <p:sldId id="277" r:id="rId6"/>
    <p:sldId id="259" r:id="rId7"/>
    <p:sldId id="278" r:id="rId8"/>
    <p:sldId id="287" r:id="rId9"/>
    <p:sldId id="279" r:id="rId10"/>
    <p:sldId id="288" r:id="rId11"/>
    <p:sldId id="291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FCFC"/>
    <a:srgbClr val="F4F4F4"/>
    <a:srgbClr val="D52802"/>
    <a:srgbClr val="CC0000"/>
    <a:srgbClr val="F7D742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07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32000"/>
            <a:ext cx="10852237" cy="648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0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 txBox="1"/>
          <p:nvPr/>
        </p:nvSpPr>
        <p:spPr>
          <a:xfrm>
            <a:off x="3483610" y="3630930"/>
            <a:ext cx="537464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某某党支部书记：衣衫飘逸</a:t>
            </a:r>
            <a:endParaRPr lang="zh-CN" altLang="en-US" sz="28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ctr"/>
            <a:r>
              <a:rPr lang="en-US" altLang="zh-CN" sz="2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2019</a:t>
            </a:r>
            <a:r>
              <a:rPr lang="zh-CN" altLang="en-US" sz="2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年</a:t>
            </a:r>
            <a:r>
              <a:rPr lang="en-US" altLang="zh-CN" sz="2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10</a:t>
            </a:r>
            <a:r>
              <a:rPr lang="zh-CN" altLang="en-US" sz="2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月</a:t>
            </a:r>
            <a:endParaRPr lang="zh-CN" altLang="en-US" sz="28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41190" y="2005330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党课模板</a:t>
            </a:r>
            <a:endParaRPr lang="zh-CN" altLang="en-US" sz="72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-9525" y="4245154"/>
            <a:ext cx="3863752" cy="2232248"/>
          </a:xfrm>
          <a:prstGeom prst="rect">
            <a:avLst/>
          </a:prstGeom>
        </p:spPr>
      </p:pic>
      <p:pic>
        <p:nvPicPr>
          <p:cNvPr id="5" name="图片"/>
          <p:cNvPicPr>
            <a:picLocks noChangeAspect="1"/>
          </p:cNvPicPr>
          <p:nvPr/>
        </p:nvPicPr>
        <p:blipFill rotWithShape="1">
          <a:blip r:embed="rId2" cstate="screen"/>
          <a:srcRect t="28373" b="16234"/>
          <a:stretch>
            <a:fillRect/>
          </a:stretch>
        </p:blipFill>
        <p:spPr>
          <a:xfrm flipH="1">
            <a:off x="-15205" y="4785686"/>
            <a:ext cx="12193200" cy="2137719"/>
          </a:xfrm>
          <a:prstGeom prst="rect">
            <a:avLst/>
          </a:prstGeom>
        </p:spPr>
      </p:pic>
      <p:pic>
        <p:nvPicPr>
          <p:cNvPr id="61" name="图片"/>
          <p:cNvPicPr>
            <a:picLocks noChangeAspect="1"/>
          </p:cNvPicPr>
          <p:nvPr/>
        </p:nvPicPr>
        <p:blipFill rotWithShape="1">
          <a:blip r:embed="rId2" cstate="screen"/>
          <a:srcRect t="28373" b="16234"/>
          <a:stretch>
            <a:fillRect/>
          </a:stretch>
        </p:blipFill>
        <p:spPr>
          <a:xfrm flipH="1" flipV="1">
            <a:off x="-15240" y="-3810"/>
            <a:ext cx="12193905" cy="1067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4783455" y="678815"/>
            <a:ext cx="2665730" cy="1198880"/>
          </a:xfrm>
          <a:prstGeom prst="rect">
            <a:avLst/>
          </a:prstGeom>
          <a:noFill/>
          <a:effectLst>
            <a:outerShdw blurRad="139700" dist="76200" dir="594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叶根友毛笔行书2.0版" panose="02010601030101010101" charset="-122"/>
                <a:ea typeface="叶根友毛笔行书2.0版" panose="02010601030101010101" charset="-122"/>
              </a:rPr>
              <a:t>目录</a:t>
            </a:r>
            <a:endParaRPr lang="zh-CN" altLang="en-US" sz="72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latin typeface="叶根友毛笔行书2.0版" panose="02010601030101010101" charset="-122"/>
              <a:ea typeface="叶根友毛笔行书2.0版" panose="02010601030101010101" charset="-122"/>
            </a:endParaRPr>
          </a:p>
        </p:txBody>
      </p:sp>
      <p:sp>
        <p:nvSpPr>
          <p:cNvPr id="29" name="矩形: 圆角 28"/>
          <p:cNvSpPr/>
          <p:nvPr/>
        </p:nvSpPr>
        <p:spPr bwMode="auto">
          <a:xfrm>
            <a:off x="3553460" y="2600960"/>
            <a:ext cx="5828665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1E69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30" name="矩形: 圆角 29"/>
          <p:cNvSpPr/>
          <p:nvPr/>
        </p:nvSpPr>
        <p:spPr bwMode="auto">
          <a:xfrm>
            <a:off x="2809240" y="2592070"/>
            <a:ext cx="539750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31" name="TextBox 47"/>
          <p:cNvSpPr txBox="1"/>
          <p:nvPr/>
        </p:nvSpPr>
        <p:spPr>
          <a:xfrm>
            <a:off x="3915410" y="2668270"/>
            <a:ext cx="4890770" cy="3987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“不忘初心</a:t>
            </a:r>
            <a:r>
              <a:rPr 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 </a:t>
            </a: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牢记使命”提出的时代背景</a:t>
            </a:r>
            <a:endParaRPr lang="zh-CN" altLang="en-US" sz="2000" b="0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sp>
        <p:nvSpPr>
          <p:cNvPr id="34" name="矩形: 圆角 33"/>
          <p:cNvSpPr/>
          <p:nvPr/>
        </p:nvSpPr>
        <p:spPr bwMode="auto">
          <a:xfrm>
            <a:off x="3553460" y="3829050"/>
            <a:ext cx="5828665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162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1E69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35" name="矩形: 圆角 34"/>
          <p:cNvSpPr/>
          <p:nvPr/>
        </p:nvSpPr>
        <p:spPr bwMode="auto">
          <a:xfrm>
            <a:off x="2809240" y="3820160"/>
            <a:ext cx="539750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162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36" name="TextBox 47"/>
          <p:cNvSpPr txBox="1"/>
          <p:nvPr/>
        </p:nvSpPr>
        <p:spPr>
          <a:xfrm>
            <a:off x="3957320" y="3911600"/>
            <a:ext cx="5644515" cy="398780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F1E69E"/>
                </a:solidFill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+mn-ea"/>
              </a:defRPr>
            </a:lvl1pPr>
          </a:lstStyle>
          <a:p>
            <a:r>
              <a:rPr lang="zh-CN" altLang="en-US" sz="2000" b="1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“不忘初心</a:t>
            </a:r>
            <a:r>
              <a:rPr lang="en-US" sz="2000" b="1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 </a:t>
            </a:r>
            <a:r>
              <a:rPr lang="zh-CN" altLang="en-US" sz="2000" b="1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牢记使命”的深刻内涵</a:t>
            </a:r>
            <a:endParaRPr lang="zh-CN" altLang="en-US" sz="2000" b="1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sp>
        <p:nvSpPr>
          <p:cNvPr id="39" name="矩形: 圆角 38"/>
          <p:cNvSpPr/>
          <p:nvPr/>
        </p:nvSpPr>
        <p:spPr bwMode="auto">
          <a:xfrm>
            <a:off x="3553460" y="5014595"/>
            <a:ext cx="5828665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162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1E69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40" name="矩形: 圆角 39"/>
          <p:cNvSpPr/>
          <p:nvPr/>
        </p:nvSpPr>
        <p:spPr bwMode="auto">
          <a:xfrm>
            <a:off x="2809240" y="5005705"/>
            <a:ext cx="539750" cy="539750"/>
          </a:xfrm>
          <a:prstGeom prst="roundRect">
            <a:avLst>
              <a:gd name="adj" fmla="val 5467"/>
            </a:avLst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16200000" scaled="0"/>
          </a:gradFill>
          <a:ln w="9525" cap="flat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41" name="TextBox 47"/>
          <p:cNvSpPr txBox="1"/>
          <p:nvPr/>
        </p:nvSpPr>
        <p:spPr>
          <a:xfrm>
            <a:off x="3957320" y="5064125"/>
            <a:ext cx="5644515" cy="398780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F1E69E"/>
                </a:solidFill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+mn-ea"/>
              </a:defRPr>
            </a:lvl1pPr>
          </a:lstStyle>
          <a:p>
            <a:r>
              <a:rPr lang="en-US" altLang="zh-CN" sz="2000" b="1" dirty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</a:t>
            </a:r>
            <a:r>
              <a:rPr lang="en-US" altLang="zh-CN" sz="2000" b="1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xx</a:t>
            </a:r>
            <a:r>
              <a:rPr lang="zh-CN" altLang="en-US" sz="2000" b="1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系统干部如何守初心担使命</a:t>
            </a:r>
            <a:endParaRPr lang="zh-CN" altLang="en-US" sz="2000" b="1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sp>
        <p:nvSpPr>
          <p:cNvPr id="7" name="Freeform 43"/>
          <p:cNvSpPr/>
          <p:nvPr/>
        </p:nvSpPr>
        <p:spPr bwMode="auto">
          <a:xfrm>
            <a:off x="2035175" y="372110"/>
            <a:ext cx="449580" cy="282575"/>
          </a:xfrm>
          <a:custGeom>
            <a:avLst/>
            <a:gdLst>
              <a:gd name="T0" fmla="*/ 167 w 390"/>
              <a:gd name="T1" fmla="*/ 3 h 350"/>
              <a:gd name="T2" fmla="*/ 260 w 390"/>
              <a:gd name="T3" fmla="*/ 222 h 350"/>
              <a:gd name="T4" fmla="*/ 151 w 390"/>
              <a:gd name="T5" fmla="*/ 112 h 350"/>
              <a:gd name="T6" fmla="*/ 193 w 390"/>
              <a:gd name="T7" fmla="*/ 71 h 350"/>
              <a:gd name="T8" fmla="*/ 167 w 390"/>
              <a:gd name="T9" fmla="*/ 45 h 350"/>
              <a:gd name="T10" fmla="*/ 114 w 390"/>
              <a:gd name="T11" fmla="*/ 56 h 350"/>
              <a:gd name="T12" fmla="*/ 31 w 390"/>
              <a:gd name="T13" fmla="*/ 138 h 350"/>
              <a:gd name="T14" fmla="*/ 78 w 390"/>
              <a:gd name="T15" fmla="*/ 185 h 350"/>
              <a:gd name="T16" fmla="*/ 109 w 390"/>
              <a:gd name="T17" fmla="*/ 154 h 350"/>
              <a:gd name="T18" fmla="*/ 218 w 390"/>
              <a:gd name="T19" fmla="*/ 264 h 350"/>
              <a:gd name="T20" fmla="*/ 36 w 390"/>
              <a:gd name="T21" fmla="*/ 227 h 350"/>
              <a:gd name="T22" fmla="*/ 10 w 390"/>
              <a:gd name="T23" fmla="*/ 253 h 350"/>
              <a:gd name="T24" fmla="*/ 33 w 390"/>
              <a:gd name="T25" fmla="*/ 283 h 350"/>
              <a:gd name="T26" fmla="*/ 30 w 390"/>
              <a:gd name="T27" fmla="*/ 285 h 350"/>
              <a:gd name="T28" fmla="*/ 25 w 390"/>
              <a:gd name="T29" fmla="*/ 285 h 350"/>
              <a:gd name="T30" fmla="*/ 0 w 390"/>
              <a:gd name="T31" fmla="*/ 311 h 350"/>
              <a:gd name="T32" fmla="*/ 25 w 390"/>
              <a:gd name="T33" fmla="*/ 336 h 350"/>
              <a:gd name="T34" fmla="*/ 52 w 390"/>
              <a:gd name="T35" fmla="*/ 311 h 350"/>
              <a:gd name="T36" fmla="*/ 51 w 390"/>
              <a:gd name="T37" fmla="*/ 306 h 350"/>
              <a:gd name="T38" fmla="*/ 55 w 390"/>
              <a:gd name="T39" fmla="*/ 302 h 350"/>
              <a:gd name="T40" fmla="*/ 260 w 390"/>
              <a:gd name="T41" fmla="*/ 305 h 350"/>
              <a:gd name="T42" fmla="*/ 291 w 390"/>
              <a:gd name="T43" fmla="*/ 336 h 350"/>
              <a:gd name="T44" fmla="*/ 333 w 390"/>
              <a:gd name="T45" fmla="*/ 295 h 350"/>
              <a:gd name="T46" fmla="*/ 302 w 390"/>
              <a:gd name="T47" fmla="*/ 264 h 350"/>
              <a:gd name="T48" fmla="*/ 167 w 390"/>
              <a:gd name="T49" fmla="*/ 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90" h="350">
                <a:moveTo>
                  <a:pt x="167" y="3"/>
                </a:moveTo>
                <a:cubicBezTo>
                  <a:pt x="253" y="35"/>
                  <a:pt x="305" y="138"/>
                  <a:pt x="260" y="222"/>
                </a:cubicBezTo>
                <a:cubicBezTo>
                  <a:pt x="151" y="112"/>
                  <a:pt x="151" y="112"/>
                  <a:pt x="151" y="112"/>
                </a:cubicBezTo>
                <a:cubicBezTo>
                  <a:pt x="193" y="71"/>
                  <a:pt x="193" y="71"/>
                  <a:pt x="193" y="71"/>
                </a:cubicBezTo>
                <a:cubicBezTo>
                  <a:pt x="167" y="45"/>
                  <a:pt x="167" y="45"/>
                  <a:pt x="167" y="45"/>
                </a:cubicBezTo>
                <a:cubicBezTo>
                  <a:pt x="152" y="59"/>
                  <a:pt x="129" y="62"/>
                  <a:pt x="114" y="56"/>
                </a:cubicBezTo>
                <a:cubicBezTo>
                  <a:pt x="31" y="138"/>
                  <a:pt x="31" y="138"/>
                  <a:pt x="31" y="138"/>
                </a:cubicBezTo>
                <a:cubicBezTo>
                  <a:pt x="78" y="185"/>
                  <a:pt x="78" y="185"/>
                  <a:pt x="78" y="185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218" y="264"/>
                  <a:pt x="218" y="264"/>
                  <a:pt x="218" y="264"/>
                </a:cubicBezTo>
                <a:cubicBezTo>
                  <a:pt x="165" y="293"/>
                  <a:pt x="91" y="284"/>
                  <a:pt x="36" y="227"/>
                </a:cubicBezTo>
                <a:cubicBezTo>
                  <a:pt x="10" y="253"/>
                  <a:pt x="10" y="253"/>
                  <a:pt x="10" y="253"/>
                </a:cubicBezTo>
                <a:cubicBezTo>
                  <a:pt x="18" y="264"/>
                  <a:pt x="25" y="274"/>
                  <a:pt x="33" y="283"/>
                </a:cubicBezTo>
                <a:cubicBezTo>
                  <a:pt x="32" y="283"/>
                  <a:pt x="30" y="285"/>
                  <a:pt x="30" y="285"/>
                </a:cubicBezTo>
                <a:cubicBezTo>
                  <a:pt x="28" y="285"/>
                  <a:pt x="27" y="285"/>
                  <a:pt x="25" y="285"/>
                </a:cubicBezTo>
                <a:cubicBezTo>
                  <a:pt x="11" y="285"/>
                  <a:pt x="0" y="297"/>
                  <a:pt x="0" y="311"/>
                </a:cubicBezTo>
                <a:cubicBezTo>
                  <a:pt x="0" y="325"/>
                  <a:pt x="11" y="336"/>
                  <a:pt x="25" y="336"/>
                </a:cubicBezTo>
                <a:cubicBezTo>
                  <a:pt x="39" y="336"/>
                  <a:pt x="52" y="325"/>
                  <a:pt x="52" y="311"/>
                </a:cubicBezTo>
                <a:cubicBezTo>
                  <a:pt x="52" y="309"/>
                  <a:pt x="51" y="308"/>
                  <a:pt x="51" y="306"/>
                </a:cubicBezTo>
                <a:cubicBezTo>
                  <a:pt x="55" y="302"/>
                  <a:pt x="55" y="302"/>
                  <a:pt x="55" y="302"/>
                </a:cubicBezTo>
                <a:cubicBezTo>
                  <a:pt x="118" y="344"/>
                  <a:pt x="186" y="350"/>
                  <a:pt x="260" y="305"/>
                </a:cubicBezTo>
                <a:cubicBezTo>
                  <a:pt x="291" y="336"/>
                  <a:pt x="291" y="336"/>
                  <a:pt x="291" y="336"/>
                </a:cubicBezTo>
                <a:cubicBezTo>
                  <a:pt x="333" y="295"/>
                  <a:pt x="333" y="295"/>
                  <a:pt x="333" y="295"/>
                </a:cubicBezTo>
                <a:cubicBezTo>
                  <a:pt x="302" y="264"/>
                  <a:pt x="302" y="264"/>
                  <a:pt x="302" y="264"/>
                </a:cubicBezTo>
                <a:cubicBezTo>
                  <a:pt x="390" y="131"/>
                  <a:pt x="273" y="0"/>
                  <a:pt x="16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Freeform 43"/>
          <p:cNvSpPr/>
          <p:nvPr/>
        </p:nvSpPr>
        <p:spPr bwMode="auto">
          <a:xfrm>
            <a:off x="2908300" y="2663825"/>
            <a:ext cx="391795" cy="396240"/>
          </a:xfrm>
          <a:custGeom>
            <a:avLst/>
            <a:gdLst>
              <a:gd name="T0" fmla="*/ 167 w 390"/>
              <a:gd name="T1" fmla="*/ 3 h 350"/>
              <a:gd name="T2" fmla="*/ 260 w 390"/>
              <a:gd name="T3" fmla="*/ 222 h 350"/>
              <a:gd name="T4" fmla="*/ 151 w 390"/>
              <a:gd name="T5" fmla="*/ 112 h 350"/>
              <a:gd name="T6" fmla="*/ 193 w 390"/>
              <a:gd name="T7" fmla="*/ 71 h 350"/>
              <a:gd name="T8" fmla="*/ 167 w 390"/>
              <a:gd name="T9" fmla="*/ 45 h 350"/>
              <a:gd name="T10" fmla="*/ 114 w 390"/>
              <a:gd name="T11" fmla="*/ 56 h 350"/>
              <a:gd name="T12" fmla="*/ 31 w 390"/>
              <a:gd name="T13" fmla="*/ 138 h 350"/>
              <a:gd name="T14" fmla="*/ 78 w 390"/>
              <a:gd name="T15" fmla="*/ 185 h 350"/>
              <a:gd name="T16" fmla="*/ 109 w 390"/>
              <a:gd name="T17" fmla="*/ 154 h 350"/>
              <a:gd name="T18" fmla="*/ 218 w 390"/>
              <a:gd name="T19" fmla="*/ 264 h 350"/>
              <a:gd name="T20" fmla="*/ 36 w 390"/>
              <a:gd name="T21" fmla="*/ 227 h 350"/>
              <a:gd name="T22" fmla="*/ 10 w 390"/>
              <a:gd name="T23" fmla="*/ 253 h 350"/>
              <a:gd name="T24" fmla="*/ 33 w 390"/>
              <a:gd name="T25" fmla="*/ 283 h 350"/>
              <a:gd name="T26" fmla="*/ 30 w 390"/>
              <a:gd name="T27" fmla="*/ 285 h 350"/>
              <a:gd name="T28" fmla="*/ 25 w 390"/>
              <a:gd name="T29" fmla="*/ 285 h 350"/>
              <a:gd name="T30" fmla="*/ 0 w 390"/>
              <a:gd name="T31" fmla="*/ 311 h 350"/>
              <a:gd name="T32" fmla="*/ 25 w 390"/>
              <a:gd name="T33" fmla="*/ 336 h 350"/>
              <a:gd name="T34" fmla="*/ 52 w 390"/>
              <a:gd name="T35" fmla="*/ 311 h 350"/>
              <a:gd name="T36" fmla="*/ 51 w 390"/>
              <a:gd name="T37" fmla="*/ 306 h 350"/>
              <a:gd name="T38" fmla="*/ 55 w 390"/>
              <a:gd name="T39" fmla="*/ 302 h 350"/>
              <a:gd name="T40" fmla="*/ 260 w 390"/>
              <a:gd name="T41" fmla="*/ 305 h 350"/>
              <a:gd name="T42" fmla="*/ 291 w 390"/>
              <a:gd name="T43" fmla="*/ 336 h 350"/>
              <a:gd name="T44" fmla="*/ 333 w 390"/>
              <a:gd name="T45" fmla="*/ 295 h 350"/>
              <a:gd name="T46" fmla="*/ 302 w 390"/>
              <a:gd name="T47" fmla="*/ 264 h 350"/>
              <a:gd name="T48" fmla="*/ 167 w 390"/>
              <a:gd name="T49" fmla="*/ 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90" h="350">
                <a:moveTo>
                  <a:pt x="167" y="3"/>
                </a:moveTo>
                <a:cubicBezTo>
                  <a:pt x="253" y="35"/>
                  <a:pt x="305" y="138"/>
                  <a:pt x="260" y="222"/>
                </a:cubicBezTo>
                <a:cubicBezTo>
                  <a:pt x="151" y="112"/>
                  <a:pt x="151" y="112"/>
                  <a:pt x="151" y="112"/>
                </a:cubicBezTo>
                <a:cubicBezTo>
                  <a:pt x="193" y="71"/>
                  <a:pt x="193" y="71"/>
                  <a:pt x="193" y="71"/>
                </a:cubicBezTo>
                <a:cubicBezTo>
                  <a:pt x="167" y="45"/>
                  <a:pt x="167" y="45"/>
                  <a:pt x="167" y="45"/>
                </a:cubicBezTo>
                <a:cubicBezTo>
                  <a:pt x="152" y="59"/>
                  <a:pt x="129" y="62"/>
                  <a:pt x="114" y="56"/>
                </a:cubicBezTo>
                <a:cubicBezTo>
                  <a:pt x="31" y="138"/>
                  <a:pt x="31" y="138"/>
                  <a:pt x="31" y="138"/>
                </a:cubicBezTo>
                <a:cubicBezTo>
                  <a:pt x="78" y="185"/>
                  <a:pt x="78" y="185"/>
                  <a:pt x="78" y="185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218" y="264"/>
                  <a:pt x="218" y="264"/>
                  <a:pt x="218" y="264"/>
                </a:cubicBezTo>
                <a:cubicBezTo>
                  <a:pt x="165" y="293"/>
                  <a:pt x="91" y="284"/>
                  <a:pt x="36" y="227"/>
                </a:cubicBezTo>
                <a:cubicBezTo>
                  <a:pt x="10" y="253"/>
                  <a:pt x="10" y="253"/>
                  <a:pt x="10" y="253"/>
                </a:cubicBezTo>
                <a:cubicBezTo>
                  <a:pt x="18" y="264"/>
                  <a:pt x="25" y="274"/>
                  <a:pt x="33" y="283"/>
                </a:cubicBezTo>
                <a:cubicBezTo>
                  <a:pt x="32" y="283"/>
                  <a:pt x="30" y="285"/>
                  <a:pt x="30" y="285"/>
                </a:cubicBezTo>
                <a:cubicBezTo>
                  <a:pt x="28" y="285"/>
                  <a:pt x="27" y="285"/>
                  <a:pt x="25" y="285"/>
                </a:cubicBezTo>
                <a:cubicBezTo>
                  <a:pt x="11" y="285"/>
                  <a:pt x="0" y="297"/>
                  <a:pt x="0" y="311"/>
                </a:cubicBezTo>
                <a:cubicBezTo>
                  <a:pt x="0" y="325"/>
                  <a:pt x="11" y="336"/>
                  <a:pt x="25" y="336"/>
                </a:cubicBezTo>
                <a:cubicBezTo>
                  <a:pt x="39" y="336"/>
                  <a:pt x="52" y="325"/>
                  <a:pt x="52" y="311"/>
                </a:cubicBezTo>
                <a:cubicBezTo>
                  <a:pt x="52" y="309"/>
                  <a:pt x="51" y="308"/>
                  <a:pt x="51" y="306"/>
                </a:cubicBezTo>
                <a:cubicBezTo>
                  <a:pt x="55" y="302"/>
                  <a:pt x="55" y="302"/>
                  <a:pt x="55" y="302"/>
                </a:cubicBezTo>
                <a:cubicBezTo>
                  <a:pt x="118" y="344"/>
                  <a:pt x="186" y="350"/>
                  <a:pt x="260" y="305"/>
                </a:cubicBezTo>
                <a:cubicBezTo>
                  <a:pt x="291" y="336"/>
                  <a:pt x="291" y="336"/>
                  <a:pt x="291" y="336"/>
                </a:cubicBezTo>
                <a:cubicBezTo>
                  <a:pt x="333" y="295"/>
                  <a:pt x="333" y="295"/>
                  <a:pt x="333" y="295"/>
                </a:cubicBezTo>
                <a:cubicBezTo>
                  <a:pt x="302" y="264"/>
                  <a:pt x="302" y="264"/>
                  <a:pt x="302" y="264"/>
                </a:cubicBezTo>
                <a:cubicBezTo>
                  <a:pt x="390" y="131"/>
                  <a:pt x="273" y="0"/>
                  <a:pt x="16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Freeform 43"/>
          <p:cNvSpPr/>
          <p:nvPr/>
        </p:nvSpPr>
        <p:spPr bwMode="auto">
          <a:xfrm>
            <a:off x="2892425" y="3869690"/>
            <a:ext cx="391795" cy="396240"/>
          </a:xfrm>
          <a:custGeom>
            <a:avLst/>
            <a:gdLst>
              <a:gd name="T0" fmla="*/ 167 w 390"/>
              <a:gd name="T1" fmla="*/ 3 h 350"/>
              <a:gd name="T2" fmla="*/ 260 w 390"/>
              <a:gd name="T3" fmla="*/ 222 h 350"/>
              <a:gd name="T4" fmla="*/ 151 w 390"/>
              <a:gd name="T5" fmla="*/ 112 h 350"/>
              <a:gd name="T6" fmla="*/ 193 w 390"/>
              <a:gd name="T7" fmla="*/ 71 h 350"/>
              <a:gd name="T8" fmla="*/ 167 w 390"/>
              <a:gd name="T9" fmla="*/ 45 h 350"/>
              <a:gd name="T10" fmla="*/ 114 w 390"/>
              <a:gd name="T11" fmla="*/ 56 h 350"/>
              <a:gd name="T12" fmla="*/ 31 w 390"/>
              <a:gd name="T13" fmla="*/ 138 h 350"/>
              <a:gd name="T14" fmla="*/ 78 w 390"/>
              <a:gd name="T15" fmla="*/ 185 h 350"/>
              <a:gd name="T16" fmla="*/ 109 w 390"/>
              <a:gd name="T17" fmla="*/ 154 h 350"/>
              <a:gd name="T18" fmla="*/ 218 w 390"/>
              <a:gd name="T19" fmla="*/ 264 h 350"/>
              <a:gd name="T20" fmla="*/ 36 w 390"/>
              <a:gd name="T21" fmla="*/ 227 h 350"/>
              <a:gd name="T22" fmla="*/ 10 w 390"/>
              <a:gd name="T23" fmla="*/ 253 h 350"/>
              <a:gd name="T24" fmla="*/ 33 w 390"/>
              <a:gd name="T25" fmla="*/ 283 h 350"/>
              <a:gd name="T26" fmla="*/ 30 w 390"/>
              <a:gd name="T27" fmla="*/ 285 h 350"/>
              <a:gd name="T28" fmla="*/ 25 w 390"/>
              <a:gd name="T29" fmla="*/ 285 h 350"/>
              <a:gd name="T30" fmla="*/ 0 w 390"/>
              <a:gd name="T31" fmla="*/ 311 h 350"/>
              <a:gd name="T32" fmla="*/ 25 w 390"/>
              <a:gd name="T33" fmla="*/ 336 h 350"/>
              <a:gd name="T34" fmla="*/ 52 w 390"/>
              <a:gd name="T35" fmla="*/ 311 h 350"/>
              <a:gd name="T36" fmla="*/ 51 w 390"/>
              <a:gd name="T37" fmla="*/ 306 h 350"/>
              <a:gd name="T38" fmla="*/ 55 w 390"/>
              <a:gd name="T39" fmla="*/ 302 h 350"/>
              <a:gd name="T40" fmla="*/ 260 w 390"/>
              <a:gd name="T41" fmla="*/ 305 h 350"/>
              <a:gd name="T42" fmla="*/ 291 w 390"/>
              <a:gd name="T43" fmla="*/ 336 h 350"/>
              <a:gd name="T44" fmla="*/ 333 w 390"/>
              <a:gd name="T45" fmla="*/ 295 h 350"/>
              <a:gd name="T46" fmla="*/ 302 w 390"/>
              <a:gd name="T47" fmla="*/ 264 h 350"/>
              <a:gd name="T48" fmla="*/ 167 w 390"/>
              <a:gd name="T49" fmla="*/ 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90" h="350">
                <a:moveTo>
                  <a:pt x="167" y="3"/>
                </a:moveTo>
                <a:cubicBezTo>
                  <a:pt x="253" y="35"/>
                  <a:pt x="305" y="138"/>
                  <a:pt x="260" y="222"/>
                </a:cubicBezTo>
                <a:cubicBezTo>
                  <a:pt x="151" y="112"/>
                  <a:pt x="151" y="112"/>
                  <a:pt x="151" y="112"/>
                </a:cubicBezTo>
                <a:cubicBezTo>
                  <a:pt x="193" y="71"/>
                  <a:pt x="193" y="71"/>
                  <a:pt x="193" y="71"/>
                </a:cubicBezTo>
                <a:cubicBezTo>
                  <a:pt x="167" y="45"/>
                  <a:pt x="167" y="45"/>
                  <a:pt x="167" y="45"/>
                </a:cubicBezTo>
                <a:cubicBezTo>
                  <a:pt x="152" y="59"/>
                  <a:pt x="129" y="62"/>
                  <a:pt x="114" y="56"/>
                </a:cubicBezTo>
                <a:cubicBezTo>
                  <a:pt x="31" y="138"/>
                  <a:pt x="31" y="138"/>
                  <a:pt x="31" y="138"/>
                </a:cubicBezTo>
                <a:cubicBezTo>
                  <a:pt x="78" y="185"/>
                  <a:pt x="78" y="185"/>
                  <a:pt x="78" y="185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218" y="264"/>
                  <a:pt x="218" y="264"/>
                  <a:pt x="218" y="264"/>
                </a:cubicBezTo>
                <a:cubicBezTo>
                  <a:pt x="165" y="293"/>
                  <a:pt x="91" y="284"/>
                  <a:pt x="36" y="227"/>
                </a:cubicBezTo>
                <a:cubicBezTo>
                  <a:pt x="10" y="253"/>
                  <a:pt x="10" y="253"/>
                  <a:pt x="10" y="253"/>
                </a:cubicBezTo>
                <a:cubicBezTo>
                  <a:pt x="18" y="264"/>
                  <a:pt x="25" y="274"/>
                  <a:pt x="33" y="283"/>
                </a:cubicBezTo>
                <a:cubicBezTo>
                  <a:pt x="32" y="283"/>
                  <a:pt x="30" y="285"/>
                  <a:pt x="30" y="285"/>
                </a:cubicBezTo>
                <a:cubicBezTo>
                  <a:pt x="28" y="285"/>
                  <a:pt x="27" y="285"/>
                  <a:pt x="25" y="285"/>
                </a:cubicBezTo>
                <a:cubicBezTo>
                  <a:pt x="11" y="285"/>
                  <a:pt x="0" y="297"/>
                  <a:pt x="0" y="311"/>
                </a:cubicBezTo>
                <a:cubicBezTo>
                  <a:pt x="0" y="325"/>
                  <a:pt x="11" y="336"/>
                  <a:pt x="25" y="336"/>
                </a:cubicBezTo>
                <a:cubicBezTo>
                  <a:pt x="39" y="336"/>
                  <a:pt x="52" y="325"/>
                  <a:pt x="52" y="311"/>
                </a:cubicBezTo>
                <a:cubicBezTo>
                  <a:pt x="52" y="309"/>
                  <a:pt x="51" y="308"/>
                  <a:pt x="51" y="306"/>
                </a:cubicBezTo>
                <a:cubicBezTo>
                  <a:pt x="55" y="302"/>
                  <a:pt x="55" y="302"/>
                  <a:pt x="55" y="302"/>
                </a:cubicBezTo>
                <a:cubicBezTo>
                  <a:pt x="118" y="344"/>
                  <a:pt x="186" y="350"/>
                  <a:pt x="260" y="305"/>
                </a:cubicBezTo>
                <a:cubicBezTo>
                  <a:pt x="291" y="336"/>
                  <a:pt x="291" y="336"/>
                  <a:pt x="291" y="336"/>
                </a:cubicBezTo>
                <a:cubicBezTo>
                  <a:pt x="333" y="295"/>
                  <a:pt x="333" y="295"/>
                  <a:pt x="333" y="295"/>
                </a:cubicBezTo>
                <a:cubicBezTo>
                  <a:pt x="302" y="264"/>
                  <a:pt x="302" y="264"/>
                  <a:pt x="302" y="264"/>
                </a:cubicBezTo>
                <a:cubicBezTo>
                  <a:pt x="390" y="131"/>
                  <a:pt x="273" y="0"/>
                  <a:pt x="16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Freeform 43"/>
          <p:cNvSpPr/>
          <p:nvPr/>
        </p:nvSpPr>
        <p:spPr bwMode="auto">
          <a:xfrm>
            <a:off x="2875915" y="5064125"/>
            <a:ext cx="391795" cy="396240"/>
          </a:xfrm>
          <a:custGeom>
            <a:avLst/>
            <a:gdLst>
              <a:gd name="T0" fmla="*/ 167 w 390"/>
              <a:gd name="T1" fmla="*/ 3 h 350"/>
              <a:gd name="T2" fmla="*/ 260 w 390"/>
              <a:gd name="T3" fmla="*/ 222 h 350"/>
              <a:gd name="T4" fmla="*/ 151 w 390"/>
              <a:gd name="T5" fmla="*/ 112 h 350"/>
              <a:gd name="T6" fmla="*/ 193 w 390"/>
              <a:gd name="T7" fmla="*/ 71 h 350"/>
              <a:gd name="T8" fmla="*/ 167 w 390"/>
              <a:gd name="T9" fmla="*/ 45 h 350"/>
              <a:gd name="T10" fmla="*/ 114 w 390"/>
              <a:gd name="T11" fmla="*/ 56 h 350"/>
              <a:gd name="T12" fmla="*/ 31 w 390"/>
              <a:gd name="T13" fmla="*/ 138 h 350"/>
              <a:gd name="T14" fmla="*/ 78 w 390"/>
              <a:gd name="T15" fmla="*/ 185 h 350"/>
              <a:gd name="T16" fmla="*/ 109 w 390"/>
              <a:gd name="T17" fmla="*/ 154 h 350"/>
              <a:gd name="T18" fmla="*/ 218 w 390"/>
              <a:gd name="T19" fmla="*/ 264 h 350"/>
              <a:gd name="T20" fmla="*/ 36 w 390"/>
              <a:gd name="T21" fmla="*/ 227 h 350"/>
              <a:gd name="T22" fmla="*/ 10 w 390"/>
              <a:gd name="T23" fmla="*/ 253 h 350"/>
              <a:gd name="T24" fmla="*/ 33 w 390"/>
              <a:gd name="T25" fmla="*/ 283 h 350"/>
              <a:gd name="T26" fmla="*/ 30 w 390"/>
              <a:gd name="T27" fmla="*/ 285 h 350"/>
              <a:gd name="T28" fmla="*/ 25 w 390"/>
              <a:gd name="T29" fmla="*/ 285 h 350"/>
              <a:gd name="T30" fmla="*/ 0 w 390"/>
              <a:gd name="T31" fmla="*/ 311 h 350"/>
              <a:gd name="T32" fmla="*/ 25 w 390"/>
              <a:gd name="T33" fmla="*/ 336 h 350"/>
              <a:gd name="T34" fmla="*/ 52 w 390"/>
              <a:gd name="T35" fmla="*/ 311 h 350"/>
              <a:gd name="T36" fmla="*/ 51 w 390"/>
              <a:gd name="T37" fmla="*/ 306 h 350"/>
              <a:gd name="T38" fmla="*/ 55 w 390"/>
              <a:gd name="T39" fmla="*/ 302 h 350"/>
              <a:gd name="T40" fmla="*/ 260 w 390"/>
              <a:gd name="T41" fmla="*/ 305 h 350"/>
              <a:gd name="T42" fmla="*/ 291 w 390"/>
              <a:gd name="T43" fmla="*/ 336 h 350"/>
              <a:gd name="T44" fmla="*/ 333 w 390"/>
              <a:gd name="T45" fmla="*/ 295 h 350"/>
              <a:gd name="T46" fmla="*/ 302 w 390"/>
              <a:gd name="T47" fmla="*/ 264 h 350"/>
              <a:gd name="T48" fmla="*/ 167 w 390"/>
              <a:gd name="T49" fmla="*/ 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90" h="350">
                <a:moveTo>
                  <a:pt x="167" y="3"/>
                </a:moveTo>
                <a:cubicBezTo>
                  <a:pt x="253" y="35"/>
                  <a:pt x="305" y="138"/>
                  <a:pt x="260" y="222"/>
                </a:cubicBezTo>
                <a:cubicBezTo>
                  <a:pt x="151" y="112"/>
                  <a:pt x="151" y="112"/>
                  <a:pt x="151" y="112"/>
                </a:cubicBezTo>
                <a:cubicBezTo>
                  <a:pt x="193" y="71"/>
                  <a:pt x="193" y="71"/>
                  <a:pt x="193" y="71"/>
                </a:cubicBezTo>
                <a:cubicBezTo>
                  <a:pt x="167" y="45"/>
                  <a:pt x="167" y="45"/>
                  <a:pt x="167" y="45"/>
                </a:cubicBezTo>
                <a:cubicBezTo>
                  <a:pt x="152" y="59"/>
                  <a:pt x="129" y="62"/>
                  <a:pt x="114" y="56"/>
                </a:cubicBezTo>
                <a:cubicBezTo>
                  <a:pt x="31" y="138"/>
                  <a:pt x="31" y="138"/>
                  <a:pt x="31" y="138"/>
                </a:cubicBezTo>
                <a:cubicBezTo>
                  <a:pt x="78" y="185"/>
                  <a:pt x="78" y="185"/>
                  <a:pt x="78" y="185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218" y="264"/>
                  <a:pt x="218" y="264"/>
                  <a:pt x="218" y="264"/>
                </a:cubicBezTo>
                <a:cubicBezTo>
                  <a:pt x="165" y="293"/>
                  <a:pt x="91" y="284"/>
                  <a:pt x="36" y="227"/>
                </a:cubicBezTo>
                <a:cubicBezTo>
                  <a:pt x="10" y="253"/>
                  <a:pt x="10" y="253"/>
                  <a:pt x="10" y="253"/>
                </a:cubicBezTo>
                <a:cubicBezTo>
                  <a:pt x="18" y="264"/>
                  <a:pt x="25" y="274"/>
                  <a:pt x="33" y="283"/>
                </a:cubicBezTo>
                <a:cubicBezTo>
                  <a:pt x="32" y="283"/>
                  <a:pt x="30" y="285"/>
                  <a:pt x="30" y="285"/>
                </a:cubicBezTo>
                <a:cubicBezTo>
                  <a:pt x="28" y="285"/>
                  <a:pt x="27" y="285"/>
                  <a:pt x="25" y="285"/>
                </a:cubicBezTo>
                <a:cubicBezTo>
                  <a:pt x="11" y="285"/>
                  <a:pt x="0" y="297"/>
                  <a:pt x="0" y="311"/>
                </a:cubicBezTo>
                <a:cubicBezTo>
                  <a:pt x="0" y="325"/>
                  <a:pt x="11" y="336"/>
                  <a:pt x="25" y="336"/>
                </a:cubicBezTo>
                <a:cubicBezTo>
                  <a:pt x="39" y="336"/>
                  <a:pt x="52" y="325"/>
                  <a:pt x="52" y="311"/>
                </a:cubicBezTo>
                <a:cubicBezTo>
                  <a:pt x="52" y="309"/>
                  <a:pt x="51" y="308"/>
                  <a:pt x="51" y="306"/>
                </a:cubicBezTo>
                <a:cubicBezTo>
                  <a:pt x="55" y="302"/>
                  <a:pt x="55" y="302"/>
                  <a:pt x="55" y="302"/>
                </a:cubicBezTo>
                <a:cubicBezTo>
                  <a:pt x="118" y="344"/>
                  <a:pt x="186" y="350"/>
                  <a:pt x="260" y="305"/>
                </a:cubicBezTo>
                <a:cubicBezTo>
                  <a:pt x="291" y="336"/>
                  <a:pt x="291" y="336"/>
                  <a:pt x="291" y="336"/>
                </a:cubicBezTo>
                <a:cubicBezTo>
                  <a:pt x="333" y="295"/>
                  <a:pt x="333" y="295"/>
                  <a:pt x="333" y="295"/>
                </a:cubicBezTo>
                <a:cubicBezTo>
                  <a:pt x="302" y="264"/>
                  <a:pt x="302" y="264"/>
                  <a:pt x="302" y="264"/>
                </a:cubicBezTo>
                <a:cubicBezTo>
                  <a:pt x="390" y="131"/>
                  <a:pt x="273" y="0"/>
                  <a:pt x="16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 rot="8880000">
            <a:off x="-467995" y="235585"/>
            <a:ext cx="5455285" cy="3598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1431925" y="2114550"/>
            <a:ext cx="2641600" cy="2307590"/>
            <a:chOff x="4389" y="3044"/>
            <a:chExt cx="4160" cy="3634"/>
          </a:xfrm>
        </p:grpSpPr>
        <p:sp>
          <p:nvSpPr>
            <p:cNvPr id="55" name="五角星 54"/>
            <p:cNvSpPr/>
            <p:nvPr/>
          </p:nvSpPr>
          <p:spPr>
            <a:xfrm>
              <a:off x="4389" y="3044"/>
              <a:ext cx="4161" cy="3635"/>
            </a:xfrm>
            <a:prstGeom prst="star5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x="108000" sy="10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605" y="4100"/>
              <a:ext cx="1585" cy="1601"/>
              <a:chOff x="7160" y="900"/>
              <a:chExt cx="4220" cy="3742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>
                <a:off x="7160" y="900"/>
                <a:ext cx="4220" cy="3743"/>
              </a:xfrm>
              <a:prstGeom prst="rect">
                <a:avLst/>
              </a:prstGeom>
            </p:spPr>
          </p:pic>
          <p:grpSp>
            <p:nvGrpSpPr>
              <p:cNvPr id="2" name="Group 550"/>
              <p:cNvGrpSpPr/>
              <p:nvPr/>
            </p:nvGrpSpPr>
            <p:grpSpPr bwMode="auto">
              <a:xfrm>
                <a:off x="8120" y="1770"/>
                <a:ext cx="2977" cy="2318"/>
                <a:chOff x="295" y="3475"/>
                <a:chExt cx="1407" cy="1407"/>
              </a:xfrm>
            </p:grpSpPr>
            <p:sp>
              <p:nvSpPr>
                <p:cNvPr id="13" name="Oval 551"/>
                <p:cNvSpPr>
                  <a:spLocks noChangeArrowheads="1"/>
                </p:cNvSpPr>
                <p:nvPr/>
              </p:nvSpPr>
              <p:spPr bwMode="auto">
                <a:xfrm>
                  <a:off x="295" y="3475"/>
                  <a:ext cx="1407" cy="14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gamma/>
                        <a:shade val="81961"/>
                        <a:invGamma/>
                        <a:alpha val="1200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" name="Group 552"/>
                <p:cNvGrpSpPr/>
                <p:nvPr/>
              </p:nvGrpSpPr>
              <p:grpSpPr bwMode="auto">
                <a:xfrm>
                  <a:off x="473" y="3657"/>
                  <a:ext cx="1057" cy="1055"/>
                  <a:chOff x="-6057" y="-2209"/>
                  <a:chExt cx="2219" cy="2219"/>
                </a:xfrm>
              </p:grpSpPr>
              <p:sp>
                <p:nvSpPr>
                  <p:cNvPr id="15" name="Oval 553"/>
                  <p:cNvSpPr>
                    <a:spLocks noChangeArrowheads="1"/>
                  </p:cNvSpPr>
                  <p:nvPr/>
                </p:nvSpPr>
                <p:spPr bwMode="auto">
                  <a:xfrm>
                    <a:off x="-6056" y="-2132"/>
                    <a:ext cx="2132" cy="213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tx1"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1pPr>
                    <a:lvl2pPr marL="742950" indent="-28575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2pPr>
                    <a:lvl3pPr marL="11430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3pPr>
                    <a:lvl4pPr marL="16002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4pPr>
                    <a:lvl5pPr marL="20574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9pPr>
                  </a:lstStyle>
                  <a:p>
                    <a:pPr eaLnBrk="1" hangingPunct="1"/>
                    <a:endParaRPr lang="zh-CN" altLang="en-US" sz="24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6" name="Group 554"/>
                  <p:cNvGrpSpPr/>
                  <p:nvPr/>
                </p:nvGrpSpPr>
                <p:grpSpPr bwMode="auto">
                  <a:xfrm>
                    <a:off x="-6057" y="-2209"/>
                    <a:ext cx="2219" cy="2219"/>
                    <a:chOff x="-4061" y="-880"/>
                    <a:chExt cx="2219" cy="2219"/>
                  </a:xfrm>
                </p:grpSpPr>
                <p:grpSp>
                  <p:nvGrpSpPr>
                    <p:cNvPr id="17" name="Group 555"/>
                    <p:cNvGrpSpPr/>
                    <p:nvPr/>
                  </p:nvGrpSpPr>
                  <p:grpSpPr bwMode="auto">
                    <a:xfrm>
                      <a:off x="-4061" y="-880"/>
                      <a:ext cx="2219" cy="2219"/>
                      <a:chOff x="-3925" y="-789"/>
                      <a:chExt cx="2219" cy="2219"/>
                    </a:xfrm>
                  </p:grpSpPr>
                  <p:grpSp>
                    <p:nvGrpSpPr>
                      <p:cNvPr id="33" name="Group 556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" name="Group 55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5" name="AutoShape 55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6" name="AutoShape 55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2" name="Group 560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3" name="AutoShape 56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AutoShape 562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" name="Group 563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11" name="Group 564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18" name="AutoShape 565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19" name="AutoShape 56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" name="Group 56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37" name="AutoShape 56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8" name="AutoShape 56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1" name="Group 570"/>
                    <p:cNvGrpSpPr/>
                    <p:nvPr/>
                  </p:nvGrpSpPr>
                  <p:grpSpPr bwMode="auto">
                    <a:xfrm rot="1320000">
                      <a:off x="-3746" y="-522"/>
                      <a:ext cx="1555" cy="1554"/>
                      <a:chOff x="-3925" y="-789"/>
                      <a:chExt cx="2219" cy="2219"/>
                    </a:xfrm>
                  </p:grpSpPr>
                  <p:grpSp>
                    <p:nvGrpSpPr>
                      <p:cNvPr id="22" name="Group 571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27" name="Group 57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3" name="AutoShape 57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2" name="AutoShape 57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8" name="Group 575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4" name="AutoShape 57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25" name="AutoShape 577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7" name="Group 578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8" name="Group 579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9" name="AutoShape 580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0" name="AutoShape 58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1" name="Group 58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52" name="AutoShape 58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3" name="AutoShape 58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  <p:sp>
        <p:nvSpPr>
          <p:cNvPr id="58" name="文本框 57"/>
          <p:cNvSpPr txBox="1"/>
          <p:nvPr/>
        </p:nvSpPr>
        <p:spPr>
          <a:xfrm>
            <a:off x="7520305" y="1681480"/>
            <a:ext cx="536575" cy="2214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3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1</a:t>
            </a:r>
            <a:endParaRPr lang="en-US" altLang="zh-CN" sz="138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730750" y="3384550"/>
            <a:ext cx="6589395" cy="0"/>
          </a:xfrm>
          <a:prstGeom prst="line">
            <a:avLst/>
          </a:prstGeom>
          <a:ln w="28575" cmpd="thickThin">
            <a:solidFill>
              <a:srgbClr val="C00000"/>
            </a:soli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47"/>
          <p:cNvSpPr txBox="1"/>
          <p:nvPr/>
        </p:nvSpPr>
        <p:spPr>
          <a:xfrm>
            <a:off x="5579745" y="3691255"/>
            <a:ext cx="4890770" cy="3987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“不忘初心</a:t>
            </a:r>
            <a:r>
              <a:rPr 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 </a:t>
            </a: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牢记使命”提出的时代背景</a:t>
            </a:r>
            <a:endParaRPr lang="zh-CN" altLang="en-US" sz="2000" b="0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pic>
        <p:nvPicPr>
          <p:cNvPr id="61" name="图片"/>
          <p:cNvPicPr>
            <a:picLocks noChangeAspect="1"/>
          </p:cNvPicPr>
          <p:nvPr/>
        </p:nvPicPr>
        <p:blipFill rotWithShape="1">
          <a:blip r:embed="rId2" cstate="screen"/>
          <a:srcRect t="28373" b="16234"/>
          <a:stretch>
            <a:fillRect/>
          </a:stretch>
        </p:blipFill>
        <p:spPr>
          <a:xfrm rot="16200000" flipH="1" flipV="1">
            <a:off x="-3025775" y="2983230"/>
            <a:ext cx="7068820" cy="1067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2710" y="184150"/>
            <a:ext cx="716915" cy="581025"/>
            <a:chOff x="7160" y="900"/>
            <a:chExt cx="4220" cy="374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7160" y="900"/>
              <a:ext cx="4220" cy="3743"/>
            </a:xfrm>
            <a:prstGeom prst="rect">
              <a:avLst/>
            </a:prstGeom>
          </p:spPr>
        </p:pic>
        <p:grpSp>
          <p:nvGrpSpPr>
            <p:cNvPr id="12" name="Group 550"/>
            <p:cNvGrpSpPr/>
            <p:nvPr/>
          </p:nvGrpSpPr>
          <p:grpSpPr bwMode="auto">
            <a:xfrm>
              <a:off x="8120" y="1770"/>
              <a:ext cx="2977" cy="2318"/>
              <a:chOff x="295" y="3475"/>
              <a:chExt cx="1407" cy="1407"/>
            </a:xfrm>
          </p:grpSpPr>
          <p:sp>
            <p:nvSpPr>
              <p:cNvPr id="13" name="Oval 551"/>
              <p:cNvSpPr>
                <a:spLocks noChangeArrowheads="1"/>
              </p:cNvSpPr>
              <p:nvPr/>
            </p:nvSpPr>
            <p:spPr bwMode="auto">
              <a:xfrm>
                <a:off x="295" y="3475"/>
                <a:ext cx="1407" cy="1407"/>
              </a:xfrm>
              <a:prstGeom prst="ellipse">
                <a:avLst/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gamma/>
                      <a:shade val="81961"/>
                      <a:invGamma/>
                      <a:alpha val="12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" name="Group 552"/>
              <p:cNvGrpSpPr/>
              <p:nvPr/>
            </p:nvGrpSpPr>
            <p:grpSpPr bwMode="auto">
              <a:xfrm>
                <a:off x="473" y="3657"/>
                <a:ext cx="1057" cy="1055"/>
                <a:chOff x="-6057" y="-2209"/>
                <a:chExt cx="2219" cy="2219"/>
              </a:xfrm>
            </p:grpSpPr>
            <p:sp>
              <p:nvSpPr>
                <p:cNvPr id="15" name="Oval 553"/>
                <p:cNvSpPr>
                  <a:spLocks noChangeArrowheads="1"/>
                </p:cNvSpPr>
                <p:nvPr/>
              </p:nvSpPr>
              <p:spPr bwMode="auto">
                <a:xfrm>
                  <a:off x="-6056" y="-2132"/>
                  <a:ext cx="2132" cy="213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9pPr>
                </a:lstStyle>
                <a:p>
                  <a:pPr eaLnBrk="1" hangingPunct="1"/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6" name="Group 554"/>
                <p:cNvGrpSpPr/>
                <p:nvPr/>
              </p:nvGrpSpPr>
              <p:grpSpPr bwMode="auto">
                <a:xfrm>
                  <a:off x="-6057" y="-2209"/>
                  <a:ext cx="2219" cy="2219"/>
                  <a:chOff x="-4061" y="-880"/>
                  <a:chExt cx="2219" cy="2219"/>
                </a:xfrm>
              </p:grpSpPr>
              <p:grpSp>
                <p:nvGrpSpPr>
                  <p:cNvPr id="17" name="Group 555"/>
                  <p:cNvGrpSpPr/>
                  <p:nvPr/>
                </p:nvGrpSpPr>
                <p:grpSpPr bwMode="auto">
                  <a:xfrm>
                    <a:off x="-4061" y="-880"/>
                    <a:ext cx="2219" cy="2219"/>
                    <a:chOff x="-3925" y="-789"/>
                    <a:chExt cx="2219" cy="2219"/>
                  </a:xfrm>
                </p:grpSpPr>
                <p:grpSp>
                  <p:nvGrpSpPr>
                    <p:cNvPr id="33" name="Group 55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41" name="Group 55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5" name="AutoShape 55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6" name="AutoShape 55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2" name="Group 56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3" name="AutoShape 56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4" name="AutoShape 562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" name="Group 563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35" name="Group 564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9" name="AutoShape 565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" name="AutoShape 56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6" name="Group 56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7" name="AutoShape 56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8" name="AutoShape 56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8" name="Group 570"/>
                  <p:cNvGrpSpPr/>
                  <p:nvPr/>
                </p:nvGrpSpPr>
                <p:grpSpPr bwMode="auto">
                  <a:xfrm rot="1320000">
                    <a:off x="-3746" y="-522"/>
                    <a:ext cx="1555" cy="1554"/>
                    <a:chOff x="-3925" y="-789"/>
                    <a:chExt cx="2219" cy="2219"/>
                  </a:xfrm>
                </p:grpSpPr>
                <p:grpSp>
                  <p:nvGrpSpPr>
                    <p:cNvPr id="19" name="Group 57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7" name="Group 57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1" name="AutoShape 57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" name="AutoShape 57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8" name="Group 575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9" name="AutoShape 57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" name="AutoShape 577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0" name="Group 578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1" name="Group 579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5" name="AutoShape 580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" name="AutoShape 58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2" name="Group 58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3" name="AutoShape 58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4" name="AutoShape 58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7" name="五边形 46"/>
          <p:cNvSpPr/>
          <p:nvPr/>
        </p:nvSpPr>
        <p:spPr>
          <a:xfrm>
            <a:off x="0" y="890905"/>
            <a:ext cx="5181600" cy="75565"/>
          </a:xfrm>
          <a:prstGeom prst="homePlate">
            <a:avLst/>
          </a:prstGeom>
          <a:gradFill>
            <a:gsLst>
              <a:gs pos="0">
                <a:srgbClr val="E30000">
                  <a:alpha val="50000"/>
                </a:srgbClr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64005" y="206375"/>
            <a:ext cx="2049780" cy="6451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时代背景</a:t>
            </a:r>
            <a:endParaRPr lang="zh-CN" altLang="en-US" sz="36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20460000">
            <a:off x="9164320" y="-271780"/>
            <a:ext cx="2807970" cy="185229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76299" y="1732280"/>
            <a:ext cx="319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spc="300" dirty="0" smtClean="0">
                <a:solidFill>
                  <a:srgbClr val="E20000"/>
                </a:solidFill>
              </a:rPr>
              <a:t>   </a:t>
            </a:r>
            <a:endParaRPr lang="zh-CN" altLang="en-US" sz="3600" b="1" spc="300" dirty="0">
              <a:solidFill>
                <a:srgbClr val="E20000"/>
              </a:solidFill>
            </a:endParaRPr>
          </a:p>
        </p:txBody>
      </p:sp>
      <p:sp>
        <p:nvSpPr>
          <p:cNvPr id="48" name="Freeform 5"/>
          <p:cNvSpPr/>
          <p:nvPr/>
        </p:nvSpPr>
        <p:spPr bwMode="auto">
          <a:xfrm>
            <a:off x="1268730" y="2032000"/>
            <a:ext cx="1609725" cy="594995"/>
          </a:xfrm>
          <a:custGeom>
            <a:avLst/>
            <a:gdLst>
              <a:gd name="T0" fmla="*/ 0 w 2061"/>
              <a:gd name="T1" fmla="*/ 0 h 784"/>
              <a:gd name="T2" fmla="*/ 0 w 2061"/>
              <a:gd name="T3" fmla="*/ 784 h 784"/>
              <a:gd name="T4" fmla="*/ 1278 w 2061"/>
              <a:gd name="T5" fmla="*/ 784 h 784"/>
              <a:gd name="T6" fmla="*/ 2061 w 2061"/>
              <a:gd name="T7" fmla="*/ 0 h 784"/>
              <a:gd name="T8" fmla="*/ 0 w 2061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1" h="784">
                <a:moveTo>
                  <a:pt x="0" y="0"/>
                </a:moveTo>
                <a:lnTo>
                  <a:pt x="0" y="784"/>
                </a:lnTo>
                <a:lnTo>
                  <a:pt x="1278" y="784"/>
                </a:lnTo>
                <a:lnTo>
                  <a:pt x="2061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endParaRPr lang="zh-CN" altLang="en-US" sz="1200"/>
          </a:p>
        </p:txBody>
      </p:sp>
      <p:sp>
        <p:nvSpPr>
          <p:cNvPr id="49" name="Freeform 7"/>
          <p:cNvSpPr/>
          <p:nvPr/>
        </p:nvSpPr>
        <p:spPr bwMode="auto">
          <a:xfrm>
            <a:off x="1268730" y="3536315"/>
            <a:ext cx="1852295" cy="593725"/>
          </a:xfrm>
          <a:custGeom>
            <a:avLst/>
            <a:gdLst>
              <a:gd name="T0" fmla="*/ 0 w 2875"/>
              <a:gd name="T1" fmla="*/ 0 h 783"/>
              <a:gd name="T2" fmla="*/ 0 w 2875"/>
              <a:gd name="T3" fmla="*/ 783 h 783"/>
              <a:gd name="T4" fmla="*/ 2092 w 2875"/>
              <a:gd name="T5" fmla="*/ 783 h 783"/>
              <a:gd name="T6" fmla="*/ 2875 w 2875"/>
              <a:gd name="T7" fmla="*/ 0 h 783"/>
              <a:gd name="T8" fmla="*/ 0 w 2875"/>
              <a:gd name="T9" fmla="*/ 0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5" h="783">
                <a:moveTo>
                  <a:pt x="0" y="0"/>
                </a:moveTo>
                <a:lnTo>
                  <a:pt x="0" y="783"/>
                </a:lnTo>
                <a:lnTo>
                  <a:pt x="2092" y="783"/>
                </a:lnTo>
                <a:lnTo>
                  <a:pt x="287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endParaRPr lang="zh-CN" altLang="en-US" sz="1200"/>
          </a:p>
        </p:txBody>
      </p:sp>
      <p:sp>
        <p:nvSpPr>
          <p:cNvPr id="50" name="Freeform 9"/>
          <p:cNvSpPr/>
          <p:nvPr/>
        </p:nvSpPr>
        <p:spPr bwMode="auto">
          <a:xfrm>
            <a:off x="1268730" y="5080635"/>
            <a:ext cx="2032635" cy="593725"/>
          </a:xfrm>
          <a:custGeom>
            <a:avLst/>
            <a:gdLst>
              <a:gd name="T0" fmla="*/ 0 w 3687"/>
              <a:gd name="T1" fmla="*/ 0 h 783"/>
              <a:gd name="T2" fmla="*/ 0 w 3687"/>
              <a:gd name="T3" fmla="*/ 783 h 783"/>
              <a:gd name="T4" fmla="*/ 2904 w 3687"/>
              <a:gd name="T5" fmla="*/ 783 h 783"/>
              <a:gd name="T6" fmla="*/ 3687 w 3687"/>
              <a:gd name="T7" fmla="*/ 0 h 783"/>
              <a:gd name="T8" fmla="*/ 0 w 3687"/>
              <a:gd name="T9" fmla="*/ 0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7" h="783">
                <a:moveTo>
                  <a:pt x="0" y="0"/>
                </a:moveTo>
                <a:lnTo>
                  <a:pt x="0" y="783"/>
                </a:lnTo>
                <a:lnTo>
                  <a:pt x="2904" y="783"/>
                </a:lnTo>
                <a:lnTo>
                  <a:pt x="3687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endParaRPr lang="zh-CN" altLang="en-US" sz="1200"/>
          </a:p>
        </p:txBody>
      </p:sp>
      <p:grpSp>
        <p:nvGrpSpPr>
          <p:cNvPr id="52" name="组合 34"/>
          <p:cNvGrpSpPr/>
          <p:nvPr/>
        </p:nvGrpSpPr>
        <p:grpSpPr>
          <a:xfrm>
            <a:off x="1653116" y="2182878"/>
            <a:ext cx="400700" cy="294944"/>
            <a:chOff x="1074354" y="6155648"/>
            <a:chExt cx="541338" cy="398463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3" name="Freeform 18"/>
            <p:cNvSpPr>
              <a:spLocks noEditPoints="1"/>
            </p:cNvSpPr>
            <p:nvPr/>
          </p:nvSpPr>
          <p:spPr bwMode="auto">
            <a:xfrm>
              <a:off x="1074354" y="6155648"/>
              <a:ext cx="331788" cy="398463"/>
            </a:xfrm>
            <a:custGeom>
              <a:avLst/>
              <a:gdLst>
                <a:gd name="T0" fmla="*/ 88 w 88"/>
                <a:gd name="T1" fmla="*/ 77 h 106"/>
                <a:gd name="T2" fmla="*/ 80 w 88"/>
                <a:gd name="T3" fmla="*/ 99 h 106"/>
                <a:gd name="T4" fmla="*/ 58 w 88"/>
                <a:gd name="T5" fmla="*/ 106 h 106"/>
                <a:gd name="T6" fmla="*/ 30 w 88"/>
                <a:gd name="T7" fmla="*/ 106 h 106"/>
                <a:gd name="T8" fmla="*/ 7 w 88"/>
                <a:gd name="T9" fmla="*/ 99 h 106"/>
                <a:gd name="T10" fmla="*/ 0 w 88"/>
                <a:gd name="T11" fmla="*/ 77 h 106"/>
                <a:gd name="T12" fmla="*/ 0 w 88"/>
                <a:gd name="T13" fmla="*/ 29 h 106"/>
                <a:gd name="T14" fmla="*/ 7 w 88"/>
                <a:gd name="T15" fmla="*/ 7 h 106"/>
                <a:gd name="T16" fmla="*/ 30 w 88"/>
                <a:gd name="T17" fmla="*/ 0 h 106"/>
                <a:gd name="T18" fmla="*/ 58 w 88"/>
                <a:gd name="T19" fmla="*/ 0 h 106"/>
                <a:gd name="T20" fmla="*/ 80 w 88"/>
                <a:gd name="T21" fmla="*/ 7 h 106"/>
                <a:gd name="T22" fmla="*/ 88 w 88"/>
                <a:gd name="T23" fmla="*/ 29 h 106"/>
                <a:gd name="T24" fmla="*/ 88 w 88"/>
                <a:gd name="T25" fmla="*/ 77 h 106"/>
                <a:gd name="T26" fmla="*/ 61 w 88"/>
                <a:gd name="T27" fmla="*/ 29 h 106"/>
                <a:gd name="T28" fmla="*/ 52 w 88"/>
                <a:gd name="T29" fmla="*/ 20 h 106"/>
                <a:gd name="T30" fmla="*/ 36 w 88"/>
                <a:gd name="T31" fmla="*/ 20 h 106"/>
                <a:gd name="T32" fmla="*/ 27 w 88"/>
                <a:gd name="T33" fmla="*/ 29 h 106"/>
                <a:gd name="T34" fmla="*/ 27 w 88"/>
                <a:gd name="T35" fmla="*/ 77 h 106"/>
                <a:gd name="T36" fmla="*/ 36 w 88"/>
                <a:gd name="T37" fmla="*/ 85 h 106"/>
                <a:gd name="T38" fmla="*/ 52 w 88"/>
                <a:gd name="T39" fmla="*/ 85 h 106"/>
                <a:gd name="T40" fmla="*/ 61 w 88"/>
                <a:gd name="T41" fmla="*/ 77 h 106"/>
                <a:gd name="T42" fmla="*/ 61 w 88"/>
                <a:gd name="T43" fmla="*/ 2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8" h="106">
                  <a:moveTo>
                    <a:pt x="88" y="77"/>
                  </a:moveTo>
                  <a:cubicBezTo>
                    <a:pt x="88" y="87"/>
                    <a:pt x="85" y="94"/>
                    <a:pt x="80" y="99"/>
                  </a:cubicBezTo>
                  <a:cubicBezTo>
                    <a:pt x="76" y="104"/>
                    <a:pt x="68" y="106"/>
                    <a:pt x="58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19" y="106"/>
                    <a:pt x="12" y="104"/>
                    <a:pt x="7" y="99"/>
                  </a:cubicBezTo>
                  <a:cubicBezTo>
                    <a:pt x="3" y="94"/>
                    <a:pt x="0" y="87"/>
                    <a:pt x="0" y="7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9"/>
                    <a:pt x="3" y="11"/>
                    <a:pt x="7" y="7"/>
                  </a:cubicBezTo>
                  <a:cubicBezTo>
                    <a:pt x="12" y="2"/>
                    <a:pt x="19" y="0"/>
                    <a:pt x="30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8" y="0"/>
                    <a:pt x="76" y="2"/>
                    <a:pt x="80" y="7"/>
                  </a:cubicBezTo>
                  <a:cubicBezTo>
                    <a:pt x="85" y="11"/>
                    <a:pt x="88" y="19"/>
                    <a:pt x="88" y="29"/>
                  </a:cubicBezTo>
                  <a:lnTo>
                    <a:pt x="88" y="77"/>
                  </a:lnTo>
                  <a:close/>
                  <a:moveTo>
                    <a:pt x="61" y="29"/>
                  </a:moveTo>
                  <a:cubicBezTo>
                    <a:pt x="61" y="23"/>
                    <a:pt x="58" y="20"/>
                    <a:pt x="52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0" y="20"/>
                    <a:pt x="27" y="23"/>
                    <a:pt x="27" y="29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82"/>
                    <a:pt x="30" y="85"/>
                    <a:pt x="36" y="8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8" y="85"/>
                    <a:pt x="61" y="82"/>
                    <a:pt x="61" y="77"/>
                  </a:cubicBezTo>
                  <a:lnTo>
                    <a:pt x="61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  <p:sp>
          <p:nvSpPr>
            <p:cNvPr id="54" name="Freeform 19"/>
            <p:cNvSpPr/>
            <p:nvPr/>
          </p:nvSpPr>
          <p:spPr bwMode="auto">
            <a:xfrm>
              <a:off x="1423604" y="6158823"/>
              <a:ext cx="192088" cy="392113"/>
            </a:xfrm>
            <a:custGeom>
              <a:avLst/>
              <a:gdLst>
                <a:gd name="T0" fmla="*/ 60 w 121"/>
                <a:gd name="T1" fmla="*/ 247 h 247"/>
                <a:gd name="T2" fmla="*/ 60 w 121"/>
                <a:gd name="T3" fmla="*/ 55 h 247"/>
                <a:gd name="T4" fmla="*/ 19 w 121"/>
                <a:gd name="T5" fmla="*/ 69 h 247"/>
                <a:gd name="T6" fmla="*/ 0 w 121"/>
                <a:gd name="T7" fmla="*/ 29 h 247"/>
                <a:gd name="T8" fmla="*/ 67 w 121"/>
                <a:gd name="T9" fmla="*/ 0 h 247"/>
                <a:gd name="T10" fmla="*/ 121 w 121"/>
                <a:gd name="T11" fmla="*/ 0 h 247"/>
                <a:gd name="T12" fmla="*/ 121 w 121"/>
                <a:gd name="T13" fmla="*/ 247 h 247"/>
                <a:gd name="T14" fmla="*/ 60 w 121"/>
                <a:gd name="T1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247">
                  <a:moveTo>
                    <a:pt x="60" y="247"/>
                  </a:moveTo>
                  <a:lnTo>
                    <a:pt x="60" y="55"/>
                  </a:lnTo>
                  <a:lnTo>
                    <a:pt x="19" y="69"/>
                  </a:lnTo>
                  <a:lnTo>
                    <a:pt x="0" y="29"/>
                  </a:lnTo>
                  <a:lnTo>
                    <a:pt x="67" y="0"/>
                  </a:lnTo>
                  <a:lnTo>
                    <a:pt x="121" y="0"/>
                  </a:lnTo>
                  <a:lnTo>
                    <a:pt x="121" y="247"/>
                  </a:lnTo>
                  <a:lnTo>
                    <a:pt x="60" y="2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</p:grpSp>
      <p:grpSp>
        <p:nvGrpSpPr>
          <p:cNvPr id="55" name="组合 37"/>
          <p:cNvGrpSpPr/>
          <p:nvPr/>
        </p:nvGrpSpPr>
        <p:grpSpPr>
          <a:xfrm>
            <a:off x="1644770" y="3686028"/>
            <a:ext cx="488831" cy="294944"/>
            <a:chOff x="2318954" y="6155648"/>
            <a:chExt cx="660401" cy="398463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6" name="Freeform 28"/>
            <p:cNvSpPr>
              <a:spLocks noEditPoints="1"/>
            </p:cNvSpPr>
            <p:nvPr/>
          </p:nvSpPr>
          <p:spPr bwMode="auto">
            <a:xfrm>
              <a:off x="2318954" y="6155648"/>
              <a:ext cx="327025" cy="398463"/>
            </a:xfrm>
            <a:custGeom>
              <a:avLst/>
              <a:gdLst>
                <a:gd name="T0" fmla="*/ 87 w 87"/>
                <a:gd name="T1" fmla="*/ 77 h 106"/>
                <a:gd name="T2" fmla="*/ 80 w 87"/>
                <a:gd name="T3" fmla="*/ 99 h 106"/>
                <a:gd name="T4" fmla="*/ 57 w 87"/>
                <a:gd name="T5" fmla="*/ 106 h 106"/>
                <a:gd name="T6" fmla="*/ 29 w 87"/>
                <a:gd name="T7" fmla="*/ 106 h 106"/>
                <a:gd name="T8" fmla="*/ 7 w 87"/>
                <a:gd name="T9" fmla="*/ 99 h 106"/>
                <a:gd name="T10" fmla="*/ 0 w 87"/>
                <a:gd name="T11" fmla="*/ 77 h 106"/>
                <a:gd name="T12" fmla="*/ 0 w 87"/>
                <a:gd name="T13" fmla="*/ 29 h 106"/>
                <a:gd name="T14" fmla="*/ 7 w 87"/>
                <a:gd name="T15" fmla="*/ 7 h 106"/>
                <a:gd name="T16" fmla="*/ 29 w 87"/>
                <a:gd name="T17" fmla="*/ 0 h 106"/>
                <a:gd name="T18" fmla="*/ 57 w 87"/>
                <a:gd name="T19" fmla="*/ 0 h 106"/>
                <a:gd name="T20" fmla="*/ 80 w 87"/>
                <a:gd name="T21" fmla="*/ 7 h 106"/>
                <a:gd name="T22" fmla="*/ 87 w 87"/>
                <a:gd name="T23" fmla="*/ 29 h 106"/>
                <a:gd name="T24" fmla="*/ 87 w 87"/>
                <a:gd name="T25" fmla="*/ 77 h 106"/>
                <a:gd name="T26" fmla="*/ 60 w 87"/>
                <a:gd name="T27" fmla="*/ 29 h 106"/>
                <a:gd name="T28" fmla="*/ 51 w 87"/>
                <a:gd name="T29" fmla="*/ 20 h 106"/>
                <a:gd name="T30" fmla="*/ 35 w 87"/>
                <a:gd name="T31" fmla="*/ 20 h 106"/>
                <a:gd name="T32" fmla="*/ 26 w 87"/>
                <a:gd name="T33" fmla="*/ 29 h 106"/>
                <a:gd name="T34" fmla="*/ 26 w 87"/>
                <a:gd name="T35" fmla="*/ 77 h 106"/>
                <a:gd name="T36" fmla="*/ 35 w 87"/>
                <a:gd name="T37" fmla="*/ 85 h 106"/>
                <a:gd name="T38" fmla="*/ 51 w 87"/>
                <a:gd name="T39" fmla="*/ 85 h 106"/>
                <a:gd name="T40" fmla="*/ 60 w 87"/>
                <a:gd name="T41" fmla="*/ 77 h 106"/>
                <a:gd name="T42" fmla="*/ 60 w 87"/>
                <a:gd name="T43" fmla="*/ 2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" h="106">
                  <a:moveTo>
                    <a:pt x="87" y="77"/>
                  </a:moveTo>
                  <a:cubicBezTo>
                    <a:pt x="87" y="87"/>
                    <a:pt x="84" y="94"/>
                    <a:pt x="80" y="99"/>
                  </a:cubicBezTo>
                  <a:cubicBezTo>
                    <a:pt x="75" y="104"/>
                    <a:pt x="68" y="106"/>
                    <a:pt x="57" y="106"/>
                  </a:cubicBezTo>
                  <a:cubicBezTo>
                    <a:pt x="29" y="106"/>
                    <a:pt x="29" y="106"/>
                    <a:pt x="29" y="106"/>
                  </a:cubicBezTo>
                  <a:cubicBezTo>
                    <a:pt x="19" y="106"/>
                    <a:pt x="11" y="104"/>
                    <a:pt x="7" y="99"/>
                  </a:cubicBezTo>
                  <a:cubicBezTo>
                    <a:pt x="2" y="94"/>
                    <a:pt x="0" y="87"/>
                    <a:pt x="0" y="7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9"/>
                    <a:pt x="2" y="11"/>
                    <a:pt x="7" y="7"/>
                  </a:cubicBezTo>
                  <a:cubicBezTo>
                    <a:pt x="11" y="2"/>
                    <a:pt x="19" y="0"/>
                    <a:pt x="29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8" y="0"/>
                    <a:pt x="75" y="2"/>
                    <a:pt x="80" y="7"/>
                  </a:cubicBezTo>
                  <a:cubicBezTo>
                    <a:pt x="84" y="11"/>
                    <a:pt x="87" y="19"/>
                    <a:pt x="87" y="29"/>
                  </a:cubicBezTo>
                  <a:lnTo>
                    <a:pt x="87" y="77"/>
                  </a:lnTo>
                  <a:close/>
                  <a:moveTo>
                    <a:pt x="60" y="29"/>
                  </a:moveTo>
                  <a:cubicBezTo>
                    <a:pt x="60" y="23"/>
                    <a:pt x="57" y="20"/>
                    <a:pt x="51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9" y="20"/>
                    <a:pt x="26" y="23"/>
                    <a:pt x="26" y="29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82"/>
                    <a:pt x="29" y="85"/>
                    <a:pt x="35" y="85"/>
                  </a:cubicBezTo>
                  <a:cubicBezTo>
                    <a:pt x="51" y="85"/>
                    <a:pt x="51" y="85"/>
                    <a:pt x="51" y="85"/>
                  </a:cubicBezTo>
                  <a:cubicBezTo>
                    <a:pt x="57" y="85"/>
                    <a:pt x="60" y="82"/>
                    <a:pt x="60" y="77"/>
                  </a:cubicBezTo>
                  <a:lnTo>
                    <a:pt x="60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  <p:sp>
          <p:nvSpPr>
            <p:cNvPr id="57" name="Freeform 29"/>
            <p:cNvSpPr/>
            <p:nvPr/>
          </p:nvSpPr>
          <p:spPr bwMode="auto">
            <a:xfrm>
              <a:off x="2679317" y="6158823"/>
              <a:ext cx="300038" cy="392113"/>
            </a:xfrm>
            <a:custGeom>
              <a:avLst/>
              <a:gdLst>
                <a:gd name="T0" fmla="*/ 80 w 80"/>
                <a:gd name="T1" fmla="*/ 33 h 104"/>
                <a:gd name="T2" fmla="*/ 78 w 80"/>
                <a:gd name="T3" fmla="*/ 41 h 104"/>
                <a:gd name="T4" fmla="*/ 75 w 80"/>
                <a:gd name="T5" fmla="*/ 48 h 104"/>
                <a:gd name="T6" fmla="*/ 69 w 80"/>
                <a:gd name="T7" fmla="*/ 54 h 104"/>
                <a:gd name="T8" fmla="*/ 62 w 80"/>
                <a:gd name="T9" fmla="*/ 60 h 104"/>
                <a:gd name="T10" fmla="*/ 30 w 80"/>
                <a:gd name="T11" fmla="*/ 83 h 104"/>
                <a:gd name="T12" fmla="*/ 80 w 80"/>
                <a:gd name="T13" fmla="*/ 83 h 104"/>
                <a:gd name="T14" fmla="*/ 80 w 80"/>
                <a:gd name="T15" fmla="*/ 104 h 104"/>
                <a:gd name="T16" fmla="*/ 0 w 80"/>
                <a:gd name="T17" fmla="*/ 104 h 104"/>
                <a:gd name="T18" fmla="*/ 0 w 80"/>
                <a:gd name="T19" fmla="*/ 76 h 104"/>
                <a:gd name="T20" fmla="*/ 53 w 80"/>
                <a:gd name="T21" fmla="*/ 37 h 104"/>
                <a:gd name="T22" fmla="*/ 53 w 80"/>
                <a:gd name="T23" fmla="*/ 30 h 104"/>
                <a:gd name="T24" fmla="*/ 44 w 80"/>
                <a:gd name="T25" fmla="*/ 21 h 104"/>
                <a:gd name="T26" fmla="*/ 3 w 80"/>
                <a:gd name="T27" fmla="*/ 21 h 104"/>
                <a:gd name="T28" fmla="*/ 3 w 80"/>
                <a:gd name="T29" fmla="*/ 0 h 104"/>
                <a:gd name="T30" fmla="*/ 50 w 80"/>
                <a:gd name="T31" fmla="*/ 0 h 104"/>
                <a:gd name="T32" fmla="*/ 73 w 80"/>
                <a:gd name="T33" fmla="*/ 7 h 104"/>
                <a:gd name="T34" fmla="*/ 80 w 80"/>
                <a:gd name="T35" fmla="*/ 30 h 104"/>
                <a:gd name="T36" fmla="*/ 80 w 80"/>
                <a:gd name="T37" fmla="*/ 3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104">
                  <a:moveTo>
                    <a:pt x="80" y="33"/>
                  </a:moveTo>
                  <a:cubicBezTo>
                    <a:pt x="80" y="36"/>
                    <a:pt x="79" y="39"/>
                    <a:pt x="78" y="41"/>
                  </a:cubicBezTo>
                  <a:cubicBezTo>
                    <a:pt x="77" y="44"/>
                    <a:pt x="76" y="46"/>
                    <a:pt x="75" y="48"/>
                  </a:cubicBezTo>
                  <a:cubicBezTo>
                    <a:pt x="73" y="50"/>
                    <a:pt x="71" y="53"/>
                    <a:pt x="69" y="54"/>
                  </a:cubicBezTo>
                  <a:cubicBezTo>
                    <a:pt x="67" y="56"/>
                    <a:pt x="64" y="58"/>
                    <a:pt x="62" y="60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0"/>
                    <a:pt x="53" y="30"/>
                    <a:pt x="53" y="30"/>
                  </a:cubicBezTo>
                  <a:cubicBezTo>
                    <a:pt x="53" y="24"/>
                    <a:pt x="50" y="21"/>
                    <a:pt x="44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0" y="0"/>
                    <a:pt x="68" y="2"/>
                    <a:pt x="73" y="7"/>
                  </a:cubicBezTo>
                  <a:cubicBezTo>
                    <a:pt x="77" y="12"/>
                    <a:pt x="80" y="19"/>
                    <a:pt x="80" y="30"/>
                  </a:cubicBezTo>
                  <a:lnTo>
                    <a:pt x="8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</p:grpSp>
      <p:grpSp>
        <p:nvGrpSpPr>
          <p:cNvPr id="58" name="组合 40"/>
          <p:cNvGrpSpPr/>
          <p:nvPr/>
        </p:nvGrpSpPr>
        <p:grpSpPr>
          <a:xfrm>
            <a:off x="1636303" y="5228914"/>
            <a:ext cx="497056" cy="294944"/>
            <a:chOff x="3588954" y="6155648"/>
            <a:chExt cx="671513" cy="398463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9" name="Freeform 38"/>
            <p:cNvSpPr>
              <a:spLocks noEditPoints="1"/>
            </p:cNvSpPr>
            <p:nvPr/>
          </p:nvSpPr>
          <p:spPr bwMode="auto">
            <a:xfrm>
              <a:off x="3588954" y="6155648"/>
              <a:ext cx="325438" cy="398463"/>
            </a:xfrm>
            <a:custGeom>
              <a:avLst/>
              <a:gdLst>
                <a:gd name="T0" fmla="*/ 87 w 87"/>
                <a:gd name="T1" fmla="*/ 77 h 106"/>
                <a:gd name="T2" fmla="*/ 80 w 87"/>
                <a:gd name="T3" fmla="*/ 99 h 106"/>
                <a:gd name="T4" fmla="*/ 58 w 87"/>
                <a:gd name="T5" fmla="*/ 106 h 106"/>
                <a:gd name="T6" fmla="*/ 30 w 87"/>
                <a:gd name="T7" fmla="*/ 106 h 106"/>
                <a:gd name="T8" fmla="*/ 7 w 87"/>
                <a:gd name="T9" fmla="*/ 99 h 106"/>
                <a:gd name="T10" fmla="*/ 0 w 87"/>
                <a:gd name="T11" fmla="*/ 77 h 106"/>
                <a:gd name="T12" fmla="*/ 0 w 87"/>
                <a:gd name="T13" fmla="*/ 29 h 106"/>
                <a:gd name="T14" fmla="*/ 7 w 87"/>
                <a:gd name="T15" fmla="*/ 7 h 106"/>
                <a:gd name="T16" fmla="*/ 30 w 87"/>
                <a:gd name="T17" fmla="*/ 0 h 106"/>
                <a:gd name="T18" fmla="*/ 58 w 87"/>
                <a:gd name="T19" fmla="*/ 0 h 106"/>
                <a:gd name="T20" fmla="*/ 80 w 87"/>
                <a:gd name="T21" fmla="*/ 7 h 106"/>
                <a:gd name="T22" fmla="*/ 87 w 87"/>
                <a:gd name="T23" fmla="*/ 29 h 106"/>
                <a:gd name="T24" fmla="*/ 87 w 87"/>
                <a:gd name="T25" fmla="*/ 77 h 106"/>
                <a:gd name="T26" fmla="*/ 61 w 87"/>
                <a:gd name="T27" fmla="*/ 29 h 106"/>
                <a:gd name="T28" fmla="*/ 52 w 87"/>
                <a:gd name="T29" fmla="*/ 20 h 106"/>
                <a:gd name="T30" fmla="*/ 36 w 87"/>
                <a:gd name="T31" fmla="*/ 20 h 106"/>
                <a:gd name="T32" fmla="*/ 27 w 87"/>
                <a:gd name="T33" fmla="*/ 29 h 106"/>
                <a:gd name="T34" fmla="*/ 27 w 87"/>
                <a:gd name="T35" fmla="*/ 77 h 106"/>
                <a:gd name="T36" fmla="*/ 36 w 87"/>
                <a:gd name="T37" fmla="*/ 85 h 106"/>
                <a:gd name="T38" fmla="*/ 52 w 87"/>
                <a:gd name="T39" fmla="*/ 85 h 106"/>
                <a:gd name="T40" fmla="*/ 61 w 87"/>
                <a:gd name="T41" fmla="*/ 77 h 106"/>
                <a:gd name="T42" fmla="*/ 61 w 87"/>
                <a:gd name="T43" fmla="*/ 2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" h="106">
                  <a:moveTo>
                    <a:pt x="87" y="77"/>
                  </a:moveTo>
                  <a:cubicBezTo>
                    <a:pt x="87" y="87"/>
                    <a:pt x="85" y="94"/>
                    <a:pt x="80" y="99"/>
                  </a:cubicBezTo>
                  <a:cubicBezTo>
                    <a:pt x="76" y="104"/>
                    <a:pt x="68" y="106"/>
                    <a:pt x="58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19" y="106"/>
                    <a:pt x="12" y="104"/>
                    <a:pt x="7" y="99"/>
                  </a:cubicBezTo>
                  <a:cubicBezTo>
                    <a:pt x="2" y="94"/>
                    <a:pt x="0" y="87"/>
                    <a:pt x="0" y="7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9"/>
                    <a:pt x="2" y="11"/>
                    <a:pt x="7" y="7"/>
                  </a:cubicBezTo>
                  <a:cubicBezTo>
                    <a:pt x="12" y="2"/>
                    <a:pt x="19" y="0"/>
                    <a:pt x="30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8" y="0"/>
                    <a:pt x="76" y="2"/>
                    <a:pt x="80" y="7"/>
                  </a:cubicBezTo>
                  <a:cubicBezTo>
                    <a:pt x="85" y="11"/>
                    <a:pt x="87" y="19"/>
                    <a:pt x="87" y="29"/>
                  </a:cubicBezTo>
                  <a:lnTo>
                    <a:pt x="87" y="77"/>
                  </a:lnTo>
                  <a:close/>
                  <a:moveTo>
                    <a:pt x="61" y="29"/>
                  </a:moveTo>
                  <a:cubicBezTo>
                    <a:pt x="61" y="23"/>
                    <a:pt x="58" y="20"/>
                    <a:pt x="52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0" y="20"/>
                    <a:pt x="27" y="23"/>
                    <a:pt x="27" y="29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82"/>
                    <a:pt x="30" y="85"/>
                    <a:pt x="36" y="8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8" y="85"/>
                    <a:pt x="61" y="82"/>
                    <a:pt x="61" y="77"/>
                  </a:cubicBezTo>
                  <a:lnTo>
                    <a:pt x="61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  <p:sp>
          <p:nvSpPr>
            <p:cNvPr id="60" name="Freeform 39"/>
            <p:cNvSpPr/>
            <p:nvPr/>
          </p:nvSpPr>
          <p:spPr bwMode="auto">
            <a:xfrm>
              <a:off x="3949317" y="6158823"/>
              <a:ext cx="311150" cy="395288"/>
            </a:xfrm>
            <a:custGeom>
              <a:avLst/>
              <a:gdLst>
                <a:gd name="T0" fmla="*/ 83 w 83"/>
                <a:gd name="T1" fmla="*/ 77 h 105"/>
                <a:gd name="T2" fmla="*/ 76 w 83"/>
                <a:gd name="T3" fmla="*/ 98 h 105"/>
                <a:gd name="T4" fmla="*/ 55 w 83"/>
                <a:gd name="T5" fmla="*/ 105 h 105"/>
                <a:gd name="T6" fmla="*/ 36 w 83"/>
                <a:gd name="T7" fmla="*/ 105 h 105"/>
                <a:gd name="T8" fmla="*/ 19 w 83"/>
                <a:gd name="T9" fmla="*/ 103 h 105"/>
                <a:gd name="T10" fmla="*/ 0 w 83"/>
                <a:gd name="T11" fmla="*/ 102 h 105"/>
                <a:gd name="T12" fmla="*/ 0 w 83"/>
                <a:gd name="T13" fmla="*/ 83 h 105"/>
                <a:gd name="T14" fmla="*/ 18 w 83"/>
                <a:gd name="T15" fmla="*/ 83 h 105"/>
                <a:gd name="T16" fmla="*/ 34 w 83"/>
                <a:gd name="T17" fmla="*/ 83 h 105"/>
                <a:gd name="T18" fmla="*/ 49 w 83"/>
                <a:gd name="T19" fmla="*/ 83 h 105"/>
                <a:gd name="T20" fmla="*/ 54 w 83"/>
                <a:gd name="T21" fmla="*/ 81 h 105"/>
                <a:gd name="T22" fmla="*/ 56 w 83"/>
                <a:gd name="T23" fmla="*/ 76 h 105"/>
                <a:gd name="T24" fmla="*/ 56 w 83"/>
                <a:gd name="T25" fmla="*/ 71 h 105"/>
                <a:gd name="T26" fmla="*/ 48 w 83"/>
                <a:gd name="T27" fmla="*/ 62 h 105"/>
                <a:gd name="T28" fmla="*/ 17 w 83"/>
                <a:gd name="T29" fmla="*/ 62 h 105"/>
                <a:gd name="T30" fmla="*/ 17 w 83"/>
                <a:gd name="T31" fmla="*/ 42 h 105"/>
                <a:gd name="T32" fmla="*/ 45 w 83"/>
                <a:gd name="T33" fmla="*/ 42 h 105"/>
                <a:gd name="T34" fmla="*/ 54 w 83"/>
                <a:gd name="T35" fmla="*/ 33 h 105"/>
                <a:gd name="T36" fmla="*/ 54 w 83"/>
                <a:gd name="T37" fmla="*/ 30 h 105"/>
                <a:gd name="T38" fmla="*/ 45 w 83"/>
                <a:gd name="T39" fmla="*/ 21 h 105"/>
                <a:gd name="T40" fmla="*/ 2 w 83"/>
                <a:gd name="T41" fmla="*/ 21 h 105"/>
                <a:gd name="T42" fmla="*/ 2 w 83"/>
                <a:gd name="T43" fmla="*/ 0 h 105"/>
                <a:gd name="T44" fmla="*/ 52 w 83"/>
                <a:gd name="T45" fmla="*/ 0 h 105"/>
                <a:gd name="T46" fmla="*/ 73 w 83"/>
                <a:gd name="T47" fmla="*/ 7 h 105"/>
                <a:gd name="T48" fmla="*/ 80 w 83"/>
                <a:gd name="T49" fmla="*/ 27 h 105"/>
                <a:gd name="T50" fmla="*/ 76 w 83"/>
                <a:gd name="T51" fmla="*/ 41 h 105"/>
                <a:gd name="T52" fmla="*/ 65 w 83"/>
                <a:gd name="T53" fmla="*/ 49 h 105"/>
                <a:gd name="T54" fmla="*/ 72 w 83"/>
                <a:gd name="T55" fmla="*/ 52 h 105"/>
                <a:gd name="T56" fmla="*/ 78 w 83"/>
                <a:gd name="T57" fmla="*/ 57 h 105"/>
                <a:gd name="T58" fmla="*/ 82 w 83"/>
                <a:gd name="T59" fmla="*/ 65 h 105"/>
                <a:gd name="T60" fmla="*/ 83 w 83"/>
                <a:gd name="T61" fmla="*/ 75 h 105"/>
                <a:gd name="T62" fmla="*/ 83 w 83"/>
                <a:gd name="T63" fmla="*/ 7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105">
                  <a:moveTo>
                    <a:pt x="83" y="77"/>
                  </a:moveTo>
                  <a:cubicBezTo>
                    <a:pt x="83" y="86"/>
                    <a:pt x="81" y="93"/>
                    <a:pt x="76" y="98"/>
                  </a:cubicBezTo>
                  <a:cubicBezTo>
                    <a:pt x="72" y="102"/>
                    <a:pt x="65" y="105"/>
                    <a:pt x="55" y="105"/>
                  </a:cubicBezTo>
                  <a:cubicBezTo>
                    <a:pt x="49" y="105"/>
                    <a:pt x="43" y="105"/>
                    <a:pt x="36" y="105"/>
                  </a:cubicBezTo>
                  <a:cubicBezTo>
                    <a:pt x="30" y="105"/>
                    <a:pt x="24" y="104"/>
                    <a:pt x="19" y="103"/>
                  </a:cubicBezTo>
                  <a:cubicBezTo>
                    <a:pt x="12" y="103"/>
                    <a:pt x="6" y="103"/>
                    <a:pt x="0" y="102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6" y="83"/>
                    <a:pt x="12" y="83"/>
                    <a:pt x="18" y="83"/>
                  </a:cubicBezTo>
                  <a:cubicBezTo>
                    <a:pt x="23" y="83"/>
                    <a:pt x="28" y="83"/>
                    <a:pt x="34" y="83"/>
                  </a:cubicBezTo>
                  <a:cubicBezTo>
                    <a:pt x="39" y="83"/>
                    <a:pt x="44" y="83"/>
                    <a:pt x="49" y="83"/>
                  </a:cubicBezTo>
                  <a:cubicBezTo>
                    <a:pt x="51" y="83"/>
                    <a:pt x="53" y="83"/>
                    <a:pt x="54" y="81"/>
                  </a:cubicBezTo>
                  <a:cubicBezTo>
                    <a:pt x="56" y="80"/>
                    <a:pt x="56" y="78"/>
                    <a:pt x="56" y="76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65"/>
                    <a:pt x="54" y="62"/>
                    <a:pt x="48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51" y="42"/>
                    <a:pt x="54" y="39"/>
                    <a:pt x="54" y="33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24"/>
                    <a:pt x="51" y="21"/>
                    <a:pt x="45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2" y="0"/>
                    <a:pt x="69" y="2"/>
                    <a:pt x="73" y="7"/>
                  </a:cubicBezTo>
                  <a:cubicBezTo>
                    <a:pt x="78" y="11"/>
                    <a:pt x="80" y="18"/>
                    <a:pt x="80" y="27"/>
                  </a:cubicBezTo>
                  <a:cubicBezTo>
                    <a:pt x="80" y="33"/>
                    <a:pt x="79" y="37"/>
                    <a:pt x="76" y="41"/>
                  </a:cubicBezTo>
                  <a:cubicBezTo>
                    <a:pt x="73" y="45"/>
                    <a:pt x="70" y="47"/>
                    <a:pt x="65" y="49"/>
                  </a:cubicBezTo>
                  <a:cubicBezTo>
                    <a:pt x="68" y="50"/>
                    <a:pt x="70" y="50"/>
                    <a:pt x="72" y="52"/>
                  </a:cubicBezTo>
                  <a:cubicBezTo>
                    <a:pt x="74" y="53"/>
                    <a:pt x="76" y="55"/>
                    <a:pt x="78" y="57"/>
                  </a:cubicBezTo>
                  <a:cubicBezTo>
                    <a:pt x="79" y="59"/>
                    <a:pt x="81" y="62"/>
                    <a:pt x="82" y="65"/>
                  </a:cubicBezTo>
                  <a:cubicBezTo>
                    <a:pt x="83" y="68"/>
                    <a:pt x="83" y="71"/>
                    <a:pt x="83" y="75"/>
                  </a:cubicBezTo>
                  <a:lnTo>
                    <a:pt x="83" y="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200"/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3749675" y="2130425"/>
            <a:ext cx="7588885" cy="3987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18900000" sx="102000" sy="102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just"/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中国共产党举什么旗，走什么路的问题</a:t>
            </a:r>
            <a:endParaRPr lang="zh-CN" altLang="en-US" sz="2000" b="1" dirty="0" smtClean="0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749675" y="3018790"/>
            <a:ext cx="7588885" cy="163004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18900000" sx="102000" sy="102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just"/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党员信仰缺失，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在十八大后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党内腐败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仍层出不穷，不收敛不收手，政治上的“两面人”、阳奉阴违、不担当不作为、形式主义官僚主义等问题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抬头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。对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社会上“戏子当道、英雄落泪”，诋毁党的领导、诋毁党的领袖、抹黑英雄、恶搞历史等现象熟视无睹、甚至沆瀣一气</a:t>
            </a:r>
            <a:endParaRPr lang="zh-CN" altLang="en-US" sz="2000" b="1" dirty="0" smtClean="0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534694" y="5727750"/>
            <a:ext cx="446749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 dirty="0" smtClean="0">
              <a:solidFill>
                <a:srgbClr val="FF0000"/>
              </a:solidFill>
            </a:endParaRPr>
          </a:p>
          <a:p>
            <a:endParaRPr lang="zh-CN" altLang="en-US" sz="2000" b="1" dirty="0">
              <a:solidFill>
                <a:srgbClr val="E2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802380" y="5052060"/>
            <a:ext cx="7535545" cy="70675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18900000" sx="102000" sy="102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中国特色社会主义进入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全面建成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小康社会的决胜期，无限接近中华民族伟大复兴的奋斗目标</a:t>
            </a:r>
            <a:endParaRPr lang="zh-CN" altLang="en-US" sz="2000" b="1" dirty="0" smtClean="0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1431925" y="2100580"/>
            <a:ext cx="2641600" cy="2307590"/>
            <a:chOff x="4389" y="3044"/>
            <a:chExt cx="4160" cy="3634"/>
          </a:xfrm>
        </p:grpSpPr>
        <p:sp>
          <p:nvSpPr>
            <p:cNvPr id="55" name="五角星 54"/>
            <p:cNvSpPr/>
            <p:nvPr/>
          </p:nvSpPr>
          <p:spPr>
            <a:xfrm>
              <a:off x="4389" y="3044"/>
              <a:ext cx="4161" cy="3635"/>
            </a:xfrm>
            <a:prstGeom prst="star5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x="108000" sy="10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605" y="4100"/>
              <a:ext cx="1585" cy="1601"/>
              <a:chOff x="7160" y="900"/>
              <a:chExt cx="4220" cy="3742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>
                <a:off x="7160" y="900"/>
                <a:ext cx="4220" cy="3743"/>
              </a:xfrm>
              <a:prstGeom prst="rect">
                <a:avLst/>
              </a:prstGeom>
            </p:spPr>
          </p:pic>
          <p:grpSp>
            <p:nvGrpSpPr>
              <p:cNvPr id="2" name="Group 550"/>
              <p:cNvGrpSpPr/>
              <p:nvPr/>
            </p:nvGrpSpPr>
            <p:grpSpPr bwMode="auto">
              <a:xfrm>
                <a:off x="8120" y="1770"/>
                <a:ext cx="2977" cy="2318"/>
                <a:chOff x="295" y="3475"/>
                <a:chExt cx="1407" cy="1407"/>
              </a:xfrm>
            </p:grpSpPr>
            <p:sp>
              <p:nvSpPr>
                <p:cNvPr id="13" name="Oval 551"/>
                <p:cNvSpPr>
                  <a:spLocks noChangeArrowheads="1"/>
                </p:cNvSpPr>
                <p:nvPr/>
              </p:nvSpPr>
              <p:spPr bwMode="auto">
                <a:xfrm>
                  <a:off x="295" y="3475"/>
                  <a:ext cx="1407" cy="14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gamma/>
                        <a:shade val="81961"/>
                        <a:invGamma/>
                        <a:alpha val="1200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" name="Group 552"/>
                <p:cNvGrpSpPr/>
                <p:nvPr/>
              </p:nvGrpSpPr>
              <p:grpSpPr bwMode="auto">
                <a:xfrm>
                  <a:off x="473" y="3657"/>
                  <a:ext cx="1057" cy="1055"/>
                  <a:chOff x="-6057" y="-2209"/>
                  <a:chExt cx="2219" cy="2219"/>
                </a:xfrm>
              </p:grpSpPr>
              <p:sp>
                <p:nvSpPr>
                  <p:cNvPr id="15" name="Oval 553"/>
                  <p:cNvSpPr>
                    <a:spLocks noChangeArrowheads="1"/>
                  </p:cNvSpPr>
                  <p:nvPr/>
                </p:nvSpPr>
                <p:spPr bwMode="auto">
                  <a:xfrm>
                    <a:off x="-6056" y="-2132"/>
                    <a:ext cx="2132" cy="213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tx1"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1pPr>
                    <a:lvl2pPr marL="742950" indent="-28575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2pPr>
                    <a:lvl3pPr marL="11430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3pPr>
                    <a:lvl4pPr marL="16002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4pPr>
                    <a:lvl5pPr marL="20574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9pPr>
                  </a:lstStyle>
                  <a:p>
                    <a:pPr eaLnBrk="1" hangingPunct="1"/>
                    <a:endParaRPr lang="zh-CN" altLang="en-US" sz="24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6" name="Group 554"/>
                  <p:cNvGrpSpPr/>
                  <p:nvPr/>
                </p:nvGrpSpPr>
                <p:grpSpPr bwMode="auto">
                  <a:xfrm>
                    <a:off x="-6057" y="-2209"/>
                    <a:ext cx="2219" cy="2219"/>
                    <a:chOff x="-4061" y="-880"/>
                    <a:chExt cx="2219" cy="2219"/>
                  </a:xfrm>
                </p:grpSpPr>
                <p:grpSp>
                  <p:nvGrpSpPr>
                    <p:cNvPr id="17" name="Group 555"/>
                    <p:cNvGrpSpPr/>
                    <p:nvPr/>
                  </p:nvGrpSpPr>
                  <p:grpSpPr bwMode="auto">
                    <a:xfrm>
                      <a:off x="-4061" y="-880"/>
                      <a:ext cx="2219" cy="2219"/>
                      <a:chOff x="-3925" y="-789"/>
                      <a:chExt cx="2219" cy="2219"/>
                    </a:xfrm>
                  </p:grpSpPr>
                  <p:grpSp>
                    <p:nvGrpSpPr>
                      <p:cNvPr id="33" name="Group 556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" name="Group 55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5" name="AutoShape 55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6" name="AutoShape 55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2" name="Group 560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3" name="AutoShape 56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AutoShape 562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" name="Group 563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11" name="Group 564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18" name="AutoShape 565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19" name="AutoShape 56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" name="Group 56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37" name="AutoShape 56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8" name="AutoShape 56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1" name="Group 570"/>
                    <p:cNvGrpSpPr/>
                    <p:nvPr/>
                  </p:nvGrpSpPr>
                  <p:grpSpPr bwMode="auto">
                    <a:xfrm rot="1320000">
                      <a:off x="-3746" y="-522"/>
                      <a:ext cx="1555" cy="1554"/>
                      <a:chOff x="-3925" y="-789"/>
                      <a:chExt cx="2219" cy="2219"/>
                    </a:xfrm>
                  </p:grpSpPr>
                  <p:grpSp>
                    <p:nvGrpSpPr>
                      <p:cNvPr id="22" name="Group 571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27" name="Group 57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3" name="AutoShape 57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2" name="AutoShape 57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8" name="Group 575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4" name="AutoShape 57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25" name="AutoShape 577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7" name="Group 578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8" name="Group 579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9" name="AutoShape 580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0" name="AutoShape 58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1" name="Group 58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52" name="AutoShape 58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3" name="AutoShape 58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  <p:sp>
        <p:nvSpPr>
          <p:cNvPr id="58" name="文本框 57"/>
          <p:cNvSpPr txBox="1"/>
          <p:nvPr/>
        </p:nvSpPr>
        <p:spPr>
          <a:xfrm>
            <a:off x="7520305" y="1695450"/>
            <a:ext cx="536575" cy="2214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3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2</a:t>
            </a:r>
            <a:endParaRPr lang="en-US" altLang="zh-CN" sz="138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730750" y="3398520"/>
            <a:ext cx="6589395" cy="0"/>
          </a:xfrm>
          <a:prstGeom prst="line">
            <a:avLst/>
          </a:prstGeom>
          <a:ln w="28575" cmpd="thickThin">
            <a:solidFill>
              <a:srgbClr val="C00000"/>
            </a:soli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47"/>
          <p:cNvSpPr txBox="1"/>
          <p:nvPr/>
        </p:nvSpPr>
        <p:spPr>
          <a:xfrm>
            <a:off x="5869940" y="3705225"/>
            <a:ext cx="4310380" cy="3987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“不忘初心</a:t>
            </a:r>
            <a:r>
              <a:rPr 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 </a:t>
            </a: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牢记使命”的深刻内涵</a:t>
            </a:r>
            <a:endParaRPr lang="zh-CN" altLang="en-US" sz="2000" b="0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pic>
        <p:nvPicPr>
          <p:cNvPr id="61" name="图片"/>
          <p:cNvPicPr>
            <a:picLocks noChangeAspect="1"/>
          </p:cNvPicPr>
          <p:nvPr/>
        </p:nvPicPr>
        <p:blipFill rotWithShape="1">
          <a:blip r:embed="rId2" cstate="screen"/>
          <a:srcRect t="28373" b="16234"/>
          <a:stretch>
            <a:fillRect/>
          </a:stretch>
        </p:blipFill>
        <p:spPr>
          <a:xfrm rot="16200000" flipH="1" flipV="1">
            <a:off x="-3025775" y="2983230"/>
            <a:ext cx="7068820" cy="1067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2710" y="184150"/>
            <a:ext cx="716915" cy="581025"/>
            <a:chOff x="7160" y="900"/>
            <a:chExt cx="4220" cy="374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7160" y="900"/>
              <a:ext cx="4220" cy="3743"/>
            </a:xfrm>
            <a:prstGeom prst="rect">
              <a:avLst/>
            </a:prstGeom>
          </p:spPr>
        </p:pic>
        <p:grpSp>
          <p:nvGrpSpPr>
            <p:cNvPr id="12" name="Group 550"/>
            <p:cNvGrpSpPr/>
            <p:nvPr/>
          </p:nvGrpSpPr>
          <p:grpSpPr bwMode="auto">
            <a:xfrm>
              <a:off x="8120" y="1770"/>
              <a:ext cx="2977" cy="2318"/>
              <a:chOff x="295" y="3475"/>
              <a:chExt cx="1407" cy="1407"/>
            </a:xfrm>
          </p:grpSpPr>
          <p:sp>
            <p:nvSpPr>
              <p:cNvPr id="13" name="Oval 551"/>
              <p:cNvSpPr>
                <a:spLocks noChangeArrowheads="1"/>
              </p:cNvSpPr>
              <p:nvPr/>
            </p:nvSpPr>
            <p:spPr bwMode="auto">
              <a:xfrm>
                <a:off x="295" y="3475"/>
                <a:ext cx="1407" cy="1407"/>
              </a:xfrm>
              <a:prstGeom prst="ellipse">
                <a:avLst/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gamma/>
                      <a:shade val="81961"/>
                      <a:invGamma/>
                      <a:alpha val="12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" name="Group 552"/>
              <p:cNvGrpSpPr/>
              <p:nvPr/>
            </p:nvGrpSpPr>
            <p:grpSpPr bwMode="auto">
              <a:xfrm>
                <a:off x="473" y="3657"/>
                <a:ext cx="1057" cy="1055"/>
                <a:chOff x="-6057" y="-2209"/>
                <a:chExt cx="2219" cy="2219"/>
              </a:xfrm>
            </p:grpSpPr>
            <p:sp>
              <p:nvSpPr>
                <p:cNvPr id="15" name="Oval 553"/>
                <p:cNvSpPr>
                  <a:spLocks noChangeArrowheads="1"/>
                </p:cNvSpPr>
                <p:nvPr/>
              </p:nvSpPr>
              <p:spPr bwMode="auto">
                <a:xfrm>
                  <a:off x="-6056" y="-2132"/>
                  <a:ext cx="2132" cy="213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9pPr>
                </a:lstStyle>
                <a:p>
                  <a:pPr eaLnBrk="1" hangingPunct="1"/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6" name="Group 554"/>
                <p:cNvGrpSpPr/>
                <p:nvPr/>
              </p:nvGrpSpPr>
              <p:grpSpPr bwMode="auto">
                <a:xfrm>
                  <a:off x="-6057" y="-2209"/>
                  <a:ext cx="2219" cy="2219"/>
                  <a:chOff x="-4061" y="-880"/>
                  <a:chExt cx="2219" cy="2219"/>
                </a:xfrm>
              </p:grpSpPr>
              <p:grpSp>
                <p:nvGrpSpPr>
                  <p:cNvPr id="17" name="Group 555"/>
                  <p:cNvGrpSpPr/>
                  <p:nvPr/>
                </p:nvGrpSpPr>
                <p:grpSpPr bwMode="auto">
                  <a:xfrm>
                    <a:off x="-4061" y="-880"/>
                    <a:ext cx="2219" cy="2219"/>
                    <a:chOff x="-3925" y="-789"/>
                    <a:chExt cx="2219" cy="2219"/>
                  </a:xfrm>
                </p:grpSpPr>
                <p:grpSp>
                  <p:nvGrpSpPr>
                    <p:cNvPr id="33" name="Group 55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41" name="Group 55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5" name="AutoShape 55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6" name="AutoShape 55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2" name="Group 56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3" name="AutoShape 56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4" name="AutoShape 562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" name="Group 563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35" name="Group 564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9" name="AutoShape 565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" name="AutoShape 56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6" name="Group 56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7" name="AutoShape 56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8" name="AutoShape 56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8" name="Group 570"/>
                  <p:cNvGrpSpPr/>
                  <p:nvPr/>
                </p:nvGrpSpPr>
                <p:grpSpPr bwMode="auto">
                  <a:xfrm rot="1320000">
                    <a:off x="-3746" y="-522"/>
                    <a:ext cx="1555" cy="1554"/>
                    <a:chOff x="-3925" y="-789"/>
                    <a:chExt cx="2219" cy="2219"/>
                  </a:xfrm>
                </p:grpSpPr>
                <p:grpSp>
                  <p:nvGrpSpPr>
                    <p:cNvPr id="19" name="Group 57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7" name="Group 57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1" name="AutoShape 57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" name="AutoShape 57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8" name="Group 575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9" name="AutoShape 57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" name="AutoShape 577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0" name="Group 578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1" name="Group 579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5" name="AutoShape 580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" name="AutoShape 58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2" name="Group 58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3" name="AutoShape 58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4" name="AutoShape 58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7" name="五边形 46"/>
          <p:cNvSpPr/>
          <p:nvPr/>
        </p:nvSpPr>
        <p:spPr>
          <a:xfrm>
            <a:off x="0" y="890905"/>
            <a:ext cx="5181600" cy="75565"/>
          </a:xfrm>
          <a:prstGeom prst="homePlate">
            <a:avLst/>
          </a:prstGeom>
          <a:gradFill>
            <a:gsLst>
              <a:gs pos="0">
                <a:srgbClr val="E30000">
                  <a:alpha val="50000"/>
                </a:srgbClr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64005" y="206375"/>
            <a:ext cx="2049780" cy="6451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深刻内涵</a:t>
            </a:r>
            <a:endParaRPr lang="zh-CN" altLang="en-US" sz="36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20460000">
            <a:off x="9164320" y="-271780"/>
            <a:ext cx="2807970" cy="1852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35965" y="3275330"/>
            <a:ext cx="419671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 smtClean="0">
                <a:latin typeface="方正粗黑宋简体" panose="02000000000000000000" charset="-122"/>
                <a:ea typeface="方正粗黑宋简体" panose="02000000000000000000" charset="-122"/>
              </a:rPr>
              <a:t>为中国人民谋幸福</a:t>
            </a:r>
            <a:endParaRPr lang="en-US" altLang="zh-CN" sz="3600" b="1" dirty="0" smtClean="0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endParaRPr lang="en-US" altLang="zh-CN" sz="3600" b="1" dirty="0" smtClean="0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endParaRPr lang="en-US" altLang="zh-CN" sz="3600" b="1" dirty="0" smtClean="0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r>
              <a:rPr lang="zh-CN" altLang="en-US" sz="3200" b="1" dirty="0" smtClean="0">
                <a:latin typeface="方正粗黑宋简体" panose="02000000000000000000" charset="-122"/>
                <a:ea typeface="方正粗黑宋简体" panose="02000000000000000000" charset="-122"/>
              </a:rPr>
              <a:t>为中华民族谋复兴</a:t>
            </a:r>
            <a:endParaRPr lang="zh-CN" altLang="en-US" sz="3200" b="1" dirty="0" smtClean="0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endParaRPr lang="zh-CN" altLang="en-US" sz="3200" b="1" spc="300" dirty="0" smtClean="0">
              <a:solidFill>
                <a:schemeClr val="tx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4" name="Freeform 6"/>
          <p:cNvSpPr/>
          <p:nvPr/>
        </p:nvSpPr>
        <p:spPr bwMode="auto">
          <a:xfrm rot="5400000">
            <a:off x="4321810" y="3159760"/>
            <a:ext cx="557530" cy="900430"/>
          </a:xfrm>
          <a:custGeom>
            <a:avLst/>
            <a:gdLst>
              <a:gd name="T0" fmla="*/ 102 w 536"/>
              <a:gd name="T1" fmla="*/ 240 h 835"/>
              <a:gd name="T2" fmla="*/ 25 w 536"/>
              <a:gd name="T3" fmla="*/ 284 h 835"/>
              <a:gd name="T4" fmla="*/ 25 w 536"/>
              <a:gd name="T5" fmla="*/ 285 h 835"/>
              <a:gd name="T6" fmla="*/ 4 w 536"/>
              <a:gd name="T7" fmla="*/ 271 h 835"/>
              <a:gd name="T8" fmla="*/ 8 w 536"/>
              <a:gd name="T9" fmla="*/ 246 h 835"/>
              <a:gd name="T10" fmla="*/ 239 w 536"/>
              <a:gd name="T11" fmla="*/ 14 h 835"/>
              <a:gd name="T12" fmla="*/ 268 w 536"/>
              <a:gd name="T13" fmla="*/ 0 h 835"/>
              <a:gd name="T14" fmla="*/ 297 w 536"/>
              <a:gd name="T15" fmla="*/ 14 h 835"/>
              <a:gd name="T16" fmla="*/ 528 w 536"/>
              <a:gd name="T17" fmla="*/ 246 h 835"/>
              <a:gd name="T18" fmla="*/ 532 w 536"/>
              <a:gd name="T19" fmla="*/ 271 h 835"/>
              <a:gd name="T20" fmla="*/ 511 w 536"/>
              <a:gd name="T21" fmla="*/ 285 h 835"/>
              <a:gd name="T22" fmla="*/ 511 w 536"/>
              <a:gd name="T23" fmla="*/ 285 h 835"/>
              <a:gd name="T24" fmla="*/ 433 w 536"/>
              <a:gd name="T25" fmla="*/ 240 h 835"/>
              <a:gd name="T26" fmla="*/ 433 w 536"/>
              <a:gd name="T27" fmla="*/ 504 h 835"/>
              <a:gd name="T28" fmla="*/ 102 w 536"/>
              <a:gd name="T29" fmla="*/ 835 h 835"/>
              <a:gd name="T30" fmla="*/ 102 w 536"/>
              <a:gd name="T31" fmla="*/ 240 h 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36" h="835">
                <a:moveTo>
                  <a:pt x="102" y="240"/>
                </a:moveTo>
                <a:cubicBezTo>
                  <a:pt x="25" y="284"/>
                  <a:pt x="25" y="284"/>
                  <a:pt x="25" y="284"/>
                </a:cubicBezTo>
                <a:cubicBezTo>
                  <a:pt x="25" y="285"/>
                  <a:pt x="25" y="285"/>
                  <a:pt x="25" y="285"/>
                </a:cubicBezTo>
                <a:cubicBezTo>
                  <a:pt x="15" y="284"/>
                  <a:pt x="7" y="279"/>
                  <a:pt x="4" y="271"/>
                </a:cubicBezTo>
                <a:cubicBezTo>
                  <a:pt x="0" y="263"/>
                  <a:pt x="2" y="254"/>
                  <a:pt x="8" y="246"/>
                </a:cubicBezTo>
                <a:cubicBezTo>
                  <a:pt x="239" y="14"/>
                  <a:pt x="239" y="14"/>
                  <a:pt x="239" y="14"/>
                </a:cubicBezTo>
                <a:cubicBezTo>
                  <a:pt x="247" y="5"/>
                  <a:pt x="257" y="0"/>
                  <a:pt x="268" y="0"/>
                </a:cubicBezTo>
                <a:cubicBezTo>
                  <a:pt x="279" y="0"/>
                  <a:pt x="290" y="5"/>
                  <a:pt x="297" y="14"/>
                </a:cubicBezTo>
                <a:cubicBezTo>
                  <a:pt x="528" y="246"/>
                  <a:pt x="528" y="246"/>
                  <a:pt x="528" y="246"/>
                </a:cubicBezTo>
                <a:cubicBezTo>
                  <a:pt x="534" y="254"/>
                  <a:pt x="536" y="263"/>
                  <a:pt x="532" y="271"/>
                </a:cubicBezTo>
                <a:cubicBezTo>
                  <a:pt x="528" y="279"/>
                  <a:pt x="520" y="284"/>
                  <a:pt x="511" y="285"/>
                </a:cubicBezTo>
                <a:cubicBezTo>
                  <a:pt x="511" y="285"/>
                  <a:pt x="511" y="285"/>
                  <a:pt x="511" y="285"/>
                </a:cubicBezTo>
                <a:cubicBezTo>
                  <a:pt x="433" y="240"/>
                  <a:pt x="433" y="240"/>
                  <a:pt x="433" y="240"/>
                </a:cubicBezTo>
                <a:cubicBezTo>
                  <a:pt x="433" y="504"/>
                  <a:pt x="433" y="504"/>
                  <a:pt x="433" y="504"/>
                </a:cubicBezTo>
                <a:cubicBezTo>
                  <a:pt x="102" y="835"/>
                  <a:pt x="102" y="835"/>
                  <a:pt x="102" y="835"/>
                </a:cubicBezTo>
                <a:lnTo>
                  <a:pt x="102" y="24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  <a:effectLst>
            <a:outerShdw blurRad="254000" dist="38100" dir="13500000" sx="101000" sy="101000" algn="b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lt1"/>
              </a:solidFill>
            </a:endParaRPr>
          </a:p>
        </p:txBody>
      </p:sp>
      <p:sp>
        <p:nvSpPr>
          <p:cNvPr id="5" name="Freeform 6"/>
          <p:cNvSpPr/>
          <p:nvPr/>
        </p:nvSpPr>
        <p:spPr bwMode="auto">
          <a:xfrm rot="5400000">
            <a:off x="4297045" y="4768850"/>
            <a:ext cx="605790" cy="901065"/>
          </a:xfrm>
          <a:custGeom>
            <a:avLst/>
            <a:gdLst>
              <a:gd name="T0" fmla="*/ 102 w 536"/>
              <a:gd name="T1" fmla="*/ 240 h 835"/>
              <a:gd name="T2" fmla="*/ 25 w 536"/>
              <a:gd name="T3" fmla="*/ 284 h 835"/>
              <a:gd name="T4" fmla="*/ 25 w 536"/>
              <a:gd name="T5" fmla="*/ 285 h 835"/>
              <a:gd name="T6" fmla="*/ 4 w 536"/>
              <a:gd name="T7" fmla="*/ 271 h 835"/>
              <a:gd name="T8" fmla="*/ 8 w 536"/>
              <a:gd name="T9" fmla="*/ 246 h 835"/>
              <a:gd name="T10" fmla="*/ 239 w 536"/>
              <a:gd name="T11" fmla="*/ 14 h 835"/>
              <a:gd name="T12" fmla="*/ 268 w 536"/>
              <a:gd name="T13" fmla="*/ 0 h 835"/>
              <a:gd name="T14" fmla="*/ 297 w 536"/>
              <a:gd name="T15" fmla="*/ 14 h 835"/>
              <a:gd name="T16" fmla="*/ 528 w 536"/>
              <a:gd name="T17" fmla="*/ 246 h 835"/>
              <a:gd name="T18" fmla="*/ 532 w 536"/>
              <a:gd name="T19" fmla="*/ 271 h 835"/>
              <a:gd name="T20" fmla="*/ 511 w 536"/>
              <a:gd name="T21" fmla="*/ 285 h 835"/>
              <a:gd name="T22" fmla="*/ 511 w 536"/>
              <a:gd name="T23" fmla="*/ 285 h 835"/>
              <a:gd name="T24" fmla="*/ 433 w 536"/>
              <a:gd name="T25" fmla="*/ 240 h 835"/>
              <a:gd name="T26" fmla="*/ 433 w 536"/>
              <a:gd name="T27" fmla="*/ 504 h 835"/>
              <a:gd name="T28" fmla="*/ 102 w 536"/>
              <a:gd name="T29" fmla="*/ 835 h 835"/>
              <a:gd name="T30" fmla="*/ 102 w 536"/>
              <a:gd name="T31" fmla="*/ 240 h 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36" h="835">
                <a:moveTo>
                  <a:pt x="102" y="240"/>
                </a:moveTo>
                <a:cubicBezTo>
                  <a:pt x="25" y="284"/>
                  <a:pt x="25" y="284"/>
                  <a:pt x="25" y="284"/>
                </a:cubicBezTo>
                <a:cubicBezTo>
                  <a:pt x="25" y="285"/>
                  <a:pt x="25" y="285"/>
                  <a:pt x="25" y="285"/>
                </a:cubicBezTo>
                <a:cubicBezTo>
                  <a:pt x="15" y="284"/>
                  <a:pt x="7" y="279"/>
                  <a:pt x="4" y="271"/>
                </a:cubicBezTo>
                <a:cubicBezTo>
                  <a:pt x="0" y="263"/>
                  <a:pt x="2" y="254"/>
                  <a:pt x="8" y="246"/>
                </a:cubicBezTo>
                <a:cubicBezTo>
                  <a:pt x="239" y="14"/>
                  <a:pt x="239" y="14"/>
                  <a:pt x="239" y="14"/>
                </a:cubicBezTo>
                <a:cubicBezTo>
                  <a:pt x="247" y="5"/>
                  <a:pt x="257" y="0"/>
                  <a:pt x="268" y="0"/>
                </a:cubicBezTo>
                <a:cubicBezTo>
                  <a:pt x="279" y="0"/>
                  <a:pt x="290" y="5"/>
                  <a:pt x="297" y="14"/>
                </a:cubicBezTo>
                <a:cubicBezTo>
                  <a:pt x="528" y="246"/>
                  <a:pt x="528" y="246"/>
                  <a:pt x="528" y="246"/>
                </a:cubicBezTo>
                <a:cubicBezTo>
                  <a:pt x="534" y="254"/>
                  <a:pt x="536" y="263"/>
                  <a:pt x="532" y="271"/>
                </a:cubicBezTo>
                <a:cubicBezTo>
                  <a:pt x="528" y="279"/>
                  <a:pt x="520" y="284"/>
                  <a:pt x="511" y="285"/>
                </a:cubicBezTo>
                <a:cubicBezTo>
                  <a:pt x="511" y="285"/>
                  <a:pt x="511" y="285"/>
                  <a:pt x="511" y="285"/>
                </a:cubicBezTo>
                <a:cubicBezTo>
                  <a:pt x="433" y="240"/>
                  <a:pt x="433" y="240"/>
                  <a:pt x="433" y="240"/>
                </a:cubicBezTo>
                <a:cubicBezTo>
                  <a:pt x="433" y="504"/>
                  <a:pt x="433" y="504"/>
                  <a:pt x="433" y="504"/>
                </a:cubicBezTo>
                <a:cubicBezTo>
                  <a:pt x="102" y="835"/>
                  <a:pt x="102" y="835"/>
                  <a:pt x="102" y="835"/>
                </a:cubicBezTo>
                <a:lnTo>
                  <a:pt x="102" y="24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  <a:effectLst>
            <a:outerShdw blurRad="254000" dist="38100" dir="13500000" sx="101000" sy="101000" algn="b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51425" y="2880360"/>
            <a:ext cx="6325235" cy="163004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sx="105000" sy="105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just"/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不断满足人民群众对美好生活的向往，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为人民提供更好的教育、更稳定的工作、更满意的收入、更可靠的社会保障、更高水平的医疗卫生服务、更舒适的居住条件、更优美的环境、更丰富的精神文化生活，增强人民的获得感、幸福感、安全感。</a:t>
            </a:r>
            <a:endParaRPr lang="zh-CN" altLang="en-US" sz="2000" b="1" dirty="0" smtClean="0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5127625" y="4916805"/>
            <a:ext cx="6248400" cy="70675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sx="105000" sy="105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just">
              <a:buClrTx/>
              <a:buSzTx/>
              <a:buFontTx/>
            </a:pPr>
            <a:r>
              <a:rPr lang="zh-CN" altLang="en-US" sz="2000" b="1" dirty="0" smtClean="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实现国家富强、民族振兴、人民幸福，是近代以来中国人民最伟大的梦想。</a:t>
            </a:r>
            <a:endParaRPr lang="zh-CN" altLang="en-US" sz="2000" b="1" dirty="0" smtClean="0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6430" y="1633220"/>
            <a:ext cx="11083925" cy="82994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4000" sy="104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indent="0" algn="just" fontAlgn="auto"/>
            <a:r>
              <a:rPr lang="zh-CN" altLang="en-US" sz="2400" b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十九大报告中提出：</a:t>
            </a:r>
            <a:endParaRPr lang="zh-CN" altLang="en-US" sz="2400" b="1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indent="0" algn="just" fontAlgn="auto"/>
            <a:r>
              <a:rPr lang="zh-CN" altLang="en-US" sz="2400" b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中国共产党人的初心和使命就是</a:t>
            </a:r>
            <a:r>
              <a:rPr lang="en-US" altLang="zh-CN" sz="2400" b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“</a:t>
            </a:r>
            <a:r>
              <a:rPr lang="zh-CN" altLang="en-US" sz="2400" b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为中国人民谋幸福，为中华民族谋复兴。</a:t>
            </a:r>
            <a:r>
              <a:rPr lang="en-US" altLang="zh-CN" sz="2400" b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”</a:t>
            </a:r>
            <a:endParaRPr lang="en-US" altLang="zh-CN" sz="2400" b="1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  <p:bldLst>
      <p:bldP spid="2" grpId="0"/>
      <p:bldP spid="4" grpId="0" bldLvl="0" animBg="1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1431925" y="2114550"/>
            <a:ext cx="2641600" cy="2307590"/>
            <a:chOff x="4389" y="3044"/>
            <a:chExt cx="4160" cy="3634"/>
          </a:xfrm>
        </p:grpSpPr>
        <p:sp>
          <p:nvSpPr>
            <p:cNvPr id="55" name="五角星 54"/>
            <p:cNvSpPr/>
            <p:nvPr/>
          </p:nvSpPr>
          <p:spPr>
            <a:xfrm>
              <a:off x="4389" y="3044"/>
              <a:ext cx="4161" cy="3635"/>
            </a:xfrm>
            <a:prstGeom prst="star5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x="108000" sy="10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605" y="4100"/>
              <a:ext cx="1585" cy="1601"/>
              <a:chOff x="7160" y="900"/>
              <a:chExt cx="4220" cy="3742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>
                <a:off x="7160" y="900"/>
                <a:ext cx="4220" cy="3743"/>
              </a:xfrm>
              <a:prstGeom prst="rect">
                <a:avLst/>
              </a:prstGeom>
            </p:spPr>
          </p:pic>
          <p:grpSp>
            <p:nvGrpSpPr>
              <p:cNvPr id="2" name="Group 550"/>
              <p:cNvGrpSpPr/>
              <p:nvPr/>
            </p:nvGrpSpPr>
            <p:grpSpPr bwMode="auto">
              <a:xfrm>
                <a:off x="8120" y="1770"/>
                <a:ext cx="2977" cy="2318"/>
                <a:chOff x="295" y="3475"/>
                <a:chExt cx="1407" cy="1407"/>
              </a:xfrm>
            </p:grpSpPr>
            <p:sp>
              <p:nvSpPr>
                <p:cNvPr id="13" name="Oval 551"/>
                <p:cNvSpPr>
                  <a:spLocks noChangeArrowheads="1"/>
                </p:cNvSpPr>
                <p:nvPr/>
              </p:nvSpPr>
              <p:spPr bwMode="auto">
                <a:xfrm>
                  <a:off x="295" y="3475"/>
                  <a:ext cx="1407" cy="14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gamma/>
                        <a:shade val="81961"/>
                        <a:invGamma/>
                        <a:alpha val="1200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" name="Group 552"/>
                <p:cNvGrpSpPr/>
                <p:nvPr/>
              </p:nvGrpSpPr>
              <p:grpSpPr bwMode="auto">
                <a:xfrm>
                  <a:off x="473" y="3657"/>
                  <a:ext cx="1057" cy="1055"/>
                  <a:chOff x="-6057" y="-2209"/>
                  <a:chExt cx="2219" cy="2219"/>
                </a:xfrm>
              </p:grpSpPr>
              <p:sp>
                <p:nvSpPr>
                  <p:cNvPr id="15" name="Oval 553"/>
                  <p:cNvSpPr>
                    <a:spLocks noChangeArrowheads="1"/>
                  </p:cNvSpPr>
                  <p:nvPr/>
                </p:nvSpPr>
                <p:spPr bwMode="auto">
                  <a:xfrm>
                    <a:off x="-6056" y="-2132"/>
                    <a:ext cx="2132" cy="213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tx1"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1pPr>
                    <a:lvl2pPr marL="742950" indent="-28575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2pPr>
                    <a:lvl3pPr marL="11430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3pPr>
                    <a:lvl4pPr marL="16002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4pPr>
                    <a:lvl5pPr marL="20574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9pPr>
                  </a:lstStyle>
                  <a:p>
                    <a:pPr eaLnBrk="1" hangingPunct="1"/>
                    <a:endParaRPr lang="zh-CN" altLang="en-US" sz="24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6" name="Group 554"/>
                  <p:cNvGrpSpPr/>
                  <p:nvPr/>
                </p:nvGrpSpPr>
                <p:grpSpPr bwMode="auto">
                  <a:xfrm>
                    <a:off x="-6057" y="-2209"/>
                    <a:ext cx="2219" cy="2219"/>
                    <a:chOff x="-4061" y="-880"/>
                    <a:chExt cx="2219" cy="2219"/>
                  </a:xfrm>
                </p:grpSpPr>
                <p:grpSp>
                  <p:nvGrpSpPr>
                    <p:cNvPr id="17" name="Group 555"/>
                    <p:cNvGrpSpPr/>
                    <p:nvPr/>
                  </p:nvGrpSpPr>
                  <p:grpSpPr bwMode="auto">
                    <a:xfrm>
                      <a:off x="-4061" y="-880"/>
                      <a:ext cx="2219" cy="2219"/>
                      <a:chOff x="-3925" y="-789"/>
                      <a:chExt cx="2219" cy="2219"/>
                    </a:xfrm>
                  </p:grpSpPr>
                  <p:grpSp>
                    <p:nvGrpSpPr>
                      <p:cNvPr id="33" name="Group 556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" name="Group 55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5" name="AutoShape 55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6" name="AutoShape 55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2" name="Group 560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3" name="AutoShape 56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AutoShape 562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" name="Group 563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11" name="Group 564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18" name="AutoShape 565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19" name="AutoShape 56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" name="Group 56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37" name="AutoShape 56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8" name="AutoShape 56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1" name="Group 570"/>
                    <p:cNvGrpSpPr/>
                    <p:nvPr/>
                  </p:nvGrpSpPr>
                  <p:grpSpPr bwMode="auto">
                    <a:xfrm rot="1320000">
                      <a:off x="-3746" y="-522"/>
                      <a:ext cx="1555" cy="1554"/>
                      <a:chOff x="-3925" y="-789"/>
                      <a:chExt cx="2219" cy="2219"/>
                    </a:xfrm>
                  </p:grpSpPr>
                  <p:grpSp>
                    <p:nvGrpSpPr>
                      <p:cNvPr id="22" name="Group 571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27" name="Group 57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3" name="AutoShape 57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2" name="AutoShape 57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8" name="Group 575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4" name="AutoShape 57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25" name="AutoShape 577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7" name="Group 578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8" name="Group 579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9" name="AutoShape 580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0" name="AutoShape 58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1" name="Group 58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52" name="AutoShape 58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3" name="AutoShape 58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  <p:sp>
        <p:nvSpPr>
          <p:cNvPr id="58" name="文本框 57"/>
          <p:cNvSpPr txBox="1"/>
          <p:nvPr/>
        </p:nvSpPr>
        <p:spPr>
          <a:xfrm>
            <a:off x="7520305" y="1709420"/>
            <a:ext cx="536575" cy="2214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3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3</a:t>
            </a:r>
            <a:endParaRPr lang="en-US" altLang="zh-CN" sz="138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730750" y="3412490"/>
            <a:ext cx="6589395" cy="0"/>
          </a:xfrm>
          <a:prstGeom prst="line">
            <a:avLst/>
          </a:prstGeom>
          <a:ln w="28575" cmpd="thickThin">
            <a:solidFill>
              <a:srgbClr val="C00000"/>
            </a:soli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47"/>
          <p:cNvSpPr txBox="1"/>
          <p:nvPr/>
        </p:nvSpPr>
        <p:spPr>
          <a:xfrm>
            <a:off x="6138545" y="3732530"/>
            <a:ext cx="3773805" cy="3987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 </a:t>
            </a:r>
            <a:r>
              <a:rPr lang="en-US" altLang="zh-CN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xx</a:t>
            </a:r>
            <a:r>
              <a:rPr lang="zh-CN" altLang="en-US" sz="2000" dirty="0" smtClean="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系统干部如何守初心担使命</a:t>
            </a:r>
            <a:endParaRPr lang="zh-CN" altLang="en-US" sz="2000" b="0" dirty="0" smtClean="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pic>
        <p:nvPicPr>
          <p:cNvPr id="61" name="图片"/>
          <p:cNvPicPr>
            <a:picLocks noChangeAspect="1"/>
          </p:cNvPicPr>
          <p:nvPr/>
        </p:nvPicPr>
        <p:blipFill rotWithShape="1">
          <a:blip r:embed="rId2" cstate="screen"/>
          <a:srcRect t="28373" b="16234"/>
          <a:stretch>
            <a:fillRect/>
          </a:stretch>
        </p:blipFill>
        <p:spPr>
          <a:xfrm rot="16200000" flipH="1" flipV="1">
            <a:off x="-3025775" y="2983230"/>
            <a:ext cx="7068820" cy="1067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2710" y="184150"/>
            <a:ext cx="716915" cy="581025"/>
            <a:chOff x="7160" y="900"/>
            <a:chExt cx="4220" cy="374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7160" y="900"/>
              <a:ext cx="4220" cy="3743"/>
            </a:xfrm>
            <a:prstGeom prst="rect">
              <a:avLst/>
            </a:prstGeom>
          </p:spPr>
        </p:pic>
        <p:grpSp>
          <p:nvGrpSpPr>
            <p:cNvPr id="12" name="Group 550"/>
            <p:cNvGrpSpPr/>
            <p:nvPr/>
          </p:nvGrpSpPr>
          <p:grpSpPr bwMode="auto">
            <a:xfrm>
              <a:off x="8120" y="1770"/>
              <a:ext cx="2977" cy="2318"/>
              <a:chOff x="295" y="3475"/>
              <a:chExt cx="1407" cy="1407"/>
            </a:xfrm>
          </p:grpSpPr>
          <p:sp>
            <p:nvSpPr>
              <p:cNvPr id="13" name="Oval 551"/>
              <p:cNvSpPr>
                <a:spLocks noChangeArrowheads="1"/>
              </p:cNvSpPr>
              <p:nvPr/>
            </p:nvSpPr>
            <p:spPr bwMode="auto">
              <a:xfrm>
                <a:off x="295" y="3475"/>
                <a:ext cx="1407" cy="1407"/>
              </a:xfrm>
              <a:prstGeom prst="ellipse">
                <a:avLst/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gamma/>
                      <a:shade val="81961"/>
                      <a:invGamma/>
                      <a:alpha val="12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" name="Group 552"/>
              <p:cNvGrpSpPr/>
              <p:nvPr/>
            </p:nvGrpSpPr>
            <p:grpSpPr bwMode="auto">
              <a:xfrm>
                <a:off x="473" y="3657"/>
                <a:ext cx="1057" cy="1055"/>
                <a:chOff x="-6057" y="-2209"/>
                <a:chExt cx="2219" cy="2219"/>
              </a:xfrm>
            </p:grpSpPr>
            <p:sp>
              <p:nvSpPr>
                <p:cNvPr id="15" name="Oval 553"/>
                <p:cNvSpPr>
                  <a:spLocks noChangeArrowheads="1"/>
                </p:cNvSpPr>
                <p:nvPr/>
              </p:nvSpPr>
              <p:spPr bwMode="auto">
                <a:xfrm>
                  <a:off x="-6056" y="-2132"/>
                  <a:ext cx="2132" cy="213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9pPr>
                </a:lstStyle>
                <a:p>
                  <a:pPr eaLnBrk="1" hangingPunct="1"/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6" name="Group 554"/>
                <p:cNvGrpSpPr/>
                <p:nvPr/>
              </p:nvGrpSpPr>
              <p:grpSpPr bwMode="auto">
                <a:xfrm>
                  <a:off x="-6057" y="-2209"/>
                  <a:ext cx="2219" cy="2219"/>
                  <a:chOff x="-4061" y="-880"/>
                  <a:chExt cx="2219" cy="2219"/>
                </a:xfrm>
              </p:grpSpPr>
              <p:grpSp>
                <p:nvGrpSpPr>
                  <p:cNvPr id="17" name="Group 555"/>
                  <p:cNvGrpSpPr/>
                  <p:nvPr/>
                </p:nvGrpSpPr>
                <p:grpSpPr bwMode="auto">
                  <a:xfrm>
                    <a:off x="-4061" y="-880"/>
                    <a:ext cx="2219" cy="2219"/>
                    <a:chOff x="-3925" y="-789"/>
                    <a:chExt cx="2219" cy="2219"/>
                  </a:xfrm>
                </p:grpSpPr>
                <p:grpSp>
                  <p:nvGrpSpPr>
                    <p:cNvPr id="33" name="Group 55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41" name="Group 55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5" name="AutoShape 55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6" name="AutoShape 55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2" name="Group 56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3" name="AutoShape 56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4" name="AutoShape 562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" name="Group 563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35" name="Group 564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9" name="AutoShape 565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" name="AutoShape 56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6" name="Group 56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7" name="AutoShape 56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8" name="AutoShape 56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8" name="Group 570"/>
                  <p:cNvGrpSpPr/>
                  <p:nvPr/>
                </p:nvGrpSpPr>
                <p:grpSpPr bwMode="auto">
                  <a:xfrm rot="1320000">
                    <a:off x="-3746" y="-522"/>
                    <a:ext cx="1555" cy="1554"/>
                    <a:chOff x="-3925" y="-789"/>
                    <a:chExt cx="2219" cy="2219"/>
                  </a:xfrm>
                </p:grpSpPr>
                <p:grpSp>
                  <p:nvGrpSpPr>
                    <p:cNvPr id="19" name="Group 57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7" name="Group 57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1" name="AutoShape 57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" name="AutoShape 57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8" name="Group 575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9" name="AutoShape 57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" name="AutoShape 577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0" name="Group 578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1" name="Group 579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5" name="AutoShape 580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" name="AutoShape 58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2" name="Group 58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3" name="AutoShape 58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4" name="AutoShape 58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7" name="五边形 46"/>
          <p:cNvSpPr/>
          <p:nvPr/>
        </p:nvSpPr>
        <p:spPr>
          <a:xfrm>
            <a:off x="0" y="890905"/>
            <a:ext cx="5181600" cy="75565"/>
          </a:xfrm>
          <a:prstGeom prst="homePlate">
            <a:avLst/>
          </a:prstGeom>
          <a:gradFill>
            <a:gsLst>
              <a:gs pos="0">
                <a:srgbClr val="E30000">
                  <a:alpha val="50000"/>
                </a:srgbClr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9625" y="206375"/>
            <a:ext cx="5416550" cy="6451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如何做到守初心 担使命</a:t>
            </a:r>
            <a:endParaRPr lang="zh-CN" altLang="en-US" sz="36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20460000">
            <a:off x="9164320" y="-271780"/>
            <a:ext cx="2807970" cy="1852295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616585" y="1926590"/>
            <a:ext cx="10928985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第一，要持续深化理论武装，坚定理想信念，做政治上的明白人。</a:t>
            </a:r>
            <a:endParaRPr lang="zh-CN" altLang="en-US" sz="32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16585" y="3418840"/>
            <a:ext cx="10929620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第二，要恪守为民情怀，积极履职尽责，做服务群众的贴心人。</a:t>
            </a:r>
            <a:endParaRPr lang="zh-CN" altLang="en-US" sz="28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46430" y="4918075"/>
            <a:ext cx="10939145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第三，要聚焦全市大局，主动担当作为，做助推发展的奠基人。</a:t>
            </a:r>
            <a:endParaRPr lang="zh-CN" altLang="en-US" sz="32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2710" y="184150"/>
            <a:ext cx="716915" cy="581025"/>
            <a:chOff x="7160" y="900"/>
            <a:chExt cx="4220" cy="374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7160" y="900"/>
              <a:ext cx="4220" cy="3743"/>
            </a:xfrm>
            <a:prstGeom prst="rect">
              <a:avLst/>
            </a:prstGeom>
          </p:spPr>
        </p:pic>
        <p:grpSp>
          <p:nvGrpSpPr>
            <p:cNvPr id="12" name="Group 550"/>
            <p:cNvGrpSpPr/>
            <p:nvPr/>
          </p:nvGrpSpPr>
          <p:grpSpPr bwMode="auto">
            <a:xfrm>
              <a:off x="8120" y="1770"/>
              <a:ext cx="2977" cy="2318"/>
              <a:chOff x="295" y="3475"/>
              <a:chExt cx="1407" cy="1407"/>
            </a:xfrm>
          </p:grpSpPr>
          <p:sp>
            <p:nvSpPr>
              <p:cNvPr id="13" name="Oval 551"/>
              <p:cNvSpPr>
                <a:spLocks noChangeArrowheads="1"/>
              </p:cNvSpPr>
              <p:nvPr/>
            </p:nvSpPr>
            <p:spPr bwMode="auto">
              <a:xfrm>
                <a:off x="295" y="3475"/>
                <a:ext cx="1407" cy="1407"/>
              </a:xfrm>
              <a:prstGeom prst="ellipse">
                <a:avLst/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gamma/>
                      <a:shade val="81961"/>
                      <a:invGamma/>
                      <a:alpha val="12000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" name="Group 552"/>
              <p:cNvGrpSpPr/>
              <p:nvPr/>
            </p:nvGrpSpPr>
            <p:grpSpPr bwMode="auto">
              <a:xfrm>
                <a:off x="473" y="3657"/>
                <a:ext cx="1057" cy="1055"/>
                <a:chOff x="-6057" y="-2209"/>
                <a:chExt cx="2219" cy="2219"/>
              </a:xfrm>
            </p:grpSpPr>
            <p:sp>
              <p:nvSpPr>
                <p:cNvPr id="15" name="Oval 553"/>
                <p:cNvSpPr>
                  <a:spLocks noChangeArrowheads="1"/>
                </p:cNvSpPr>
                <p:nvPr/>
              </p:nvSpPr>
              <p:spPr bwMode="auto">
                <a:xfrm>
                  <a:off x="-6056" y="-2132"/>
                  <a:ext cx="2132" cy="213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9pPr>
                </a:lstStyle>
                <a:p>
                  <a:pPr eaLnBrk="1" hangingPunct="1"/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6" name="Group 554"/>
                <p:cNvGrpSpPr/>
                <p:nvPr/>
              </p:nvGrpSpPr>
              <p:grpSpPr bwMode="auto">
                <a:xfrm>
                  <a:off x="-6057" y="-2209"/>
                  <a:ext cx="2219" cy="2219"/>
                  <a:chOff x="-4061" y="-880"/>
                  <a:chExt cx="2219" cy="2219"/>
                </a:xfrm>
              </p:grpSpPr>
              <p:grpSp>
                <p:nvGrpSpPr>
                  <p:cNvPr id="17" name="Group 555"/>
                  <p:cNvGrpSpPr/>
                  <p:nvPr/>
                </p:nvGrpSpPr>
                <p:grpSpPr bwMode="auto">
                  <a:xfrm>
                    <a:off x="-4061" y="-880"/>
                    <a:ext cx="2219" cy="2219"/>
                    <a:chOff x="-3925" y="-789"/>
                    <a:chExt cx="2219" cy="2219"/>
                  </a:xfrm>
                </p:grpSpPr>
                <p:grpSp>
                  <p:nvGrpSpPr>
                    <p:cNvPr id="33" name="Group 55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41" name="Group 55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5" name="AutoShape 55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6" name="AutoShape 55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2" name="Group 56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43" name="AutoShape 56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4" name="AutoShape 562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" name="Group 563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35" name="Group 564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9" name="AutoShape 565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" name="AutoShape 56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6" name="Group 567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7" name="AutoShape 568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8" name="AutoShape 569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8" name="Group 570"/>
                  <p:cNvGrpSpPr/>
                  <p:nvPr/>
                </p:nvGrpSpPr>
                <p:grpSpPr bwMode="auto">
                  <a:xfrm rot="1320000">
                    <a:off x="-3746" y="-522"/>
                    <a:ext cx="1555" cy="1554"/>
                    <a:chOff x="-3925" y="-789"/>
                    <a:chExt cx="2219" cy="2219"/>
                  </a:xfrm>
                </p:grpSpPr>
                <p:grpSp>
                  <p:nvGrpSpPr>
                    <p:cNvPr id="19" name="Group 57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3925" y="-788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7" name="Group 57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31" name="AutoShape 57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" name="AutoShape 57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8" name="Group 575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9" name="AutoShape 576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" name="AutoShape 577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0" name="Group 578"/>
                    <p:cNvGrpSpPr>
                      <a:grpSpLocks noChangeAspect="1"/>
                    </p:cNvGrpSpPr>
                    <p:nvPr/>
                  </p:nvGrpSpPr>
                  <p:grpSpPr bwMode="auto">
                    <a:xfrm rot="2700000">
                      <a:off x="-3928" y="-780"/>
                      <a:ext cx="2219" cy="2202"/>
                      <a:chOff x="168" y="696"/>
                      <a:chExt cx="1429" cy="1429"/>
                    </a:xfrm>
                  </p:grpSpPr>
                  <p:grpSp>
                    <p:nvGrpSpPr>
                      <p:cNvPr id="21" name="Group 579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854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5" name="AutoShape 580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" name="AutoShape 581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eaVert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2" name="Group 582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5400000">
                        <a:off x="855" y="696"/>
                        <a:ext cx="56" cy="1429"/>
                        <a:chOff x="845" y="696"/>
                        <a:chExt cx="56" cy="1429"/>
                      </a:xfrm>
                    </p:grpSpPr>
                    <p:sp>
                      <p:nvSpPr>
                        <p:cNvPr id="23" name="AutoShape 583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845" y="696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4" name="AutoShape 584"/>
                        <p:cNvSpPr>
                          <a:spLocks noChangeAspect="1" noChangeArrowheads="1"/>
                        </p:cNvSpPr>
                        <p:nvPr/>
                      </p:nvSpPr>
                      <p:spPr bwMode="auto">
                        <a:xfrm flipV="1">
                          <a:off x="845" y="1410"/>
                          <a:ext cx="56" cy="715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bg1">
                            <a:alpha val="18823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1pPr>
                          <a:lvl2pPr marL="742950" indent="-28575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2pPr>
                          <a:lvl3pPr marL="11430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3pPr>
                          <a:lvl4pPr marL="16002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4pPr>
                          <a:lvl5pPr marL="2057400" indent="-228600" eaLnBrk="0" hangingPunct="0"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微软雅黑" panose="020B0503020204020204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 sz="2400"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7" name="五边形 46"/>
          <p:cNvSpPr/>
          <p:nvPr/>
        </p:nvSpPr>
        <p:spPr>
          <a:xfrm>
            <a:off x="0" y="890905"/>
            <a:ext cx="5181600" cy="75565"/>
          </a:xfrm>
          <a:prstGeom prst="homePlate">
            <a:avLst/>
          </a:prstGeom>
          <a:gradFill>
            <a:gsLst>
              <a:gs pos="0">
                <a:srgbClr val="E30000">
                  <a:alpha val="50000"/>
                </a:srgbClr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9625" y="206375"/>
            <a:ext cx="5416550" cy="6451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如何做到守初心 担使命</a:t>
            </a:r>
            <a:endParaRPr lang="zh-CN" altLang="en-US" sz="36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20460000">
            <a:off x="9164320" y="-271780"/>
            <a:ext cx="2807970" cy="1852295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616585" y="1926590"/>
            <a:ext cx="10928985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第一，要持续深化理论武装，坚定理想信念，做政治上的明白人。</a:t>
            </a:r>
            <a:endParaRPr lang="zh-CN" altLang="en-US" sz="32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16585" y="3418840"/>
            <a:ext cx="10929620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第二，要恪守为民情怀，积极履职尽责，做服务群众的贴心人。</a:t>
            </a:r>
            <a:endParaRPr lang="zh-CN" altLang="en-US" sz="28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46430" y="4918075"/>
            <a:ext cx="10939145" cy="10763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marL="457200" indent="0" algn="just" fontAlgn="auto">
              <a:buFont typeface="Wingdings" panose="05000000000000000000" charset="0"/>
              <a:buNone/>
            </a:pPr>
            <a:r>
              <a:rPr lang="zh-CN" altLang="en-US" sz="3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第三，要聚焦全市大局，主动担当作为，做助推发展的奠基人。</a:t>
            </a:r>
            <a:endParaRPr lang="zh-CN" altLang="en-US" sz="32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"/>
          <p:cNvPicPr>
            <a:picLocks noChangeAspect="1"/>
          </p:cNvPicPr>
          <p:nvPr/>
        </p:nvPicPr>
        <p:blipFill rotWithShape="1">
          <a:blip r:embed="rId1" cstate="screen"/>
          <a:srcRect t="28373" b="16234"/>
          <a:stretch>
            <a:fillRect/>
          </a:stretch>
        </p:blipFill>
        <p:spPr>
          <a:xfrm flipH="1">
            <a:off x="-15205" y="4785686"/>
            <a:ext cx="12193200" cy="213771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33795" y="1912620"/>
            <a:ext cx="2293620" cy="23069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7200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谢谢聆听</a:t>
            </a:r>
            <a:endParaRPr lang="zh-CN" altLang="en-US" sz="7200">
              <a:gradFill>
                <a:gsLst>
                  <a:gs pos="0">
                    <a:srgbClr val="FECF40"/>
                  </a:gs>
                  <a:gs pos="100000">
                    <a:srgbClr val="846C21"/>
                  </a:gs>
                </a:gsLst>
                <a:lin scaled="0"/>
              </a:gradFill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330325" y="1169035"/>
            <a:ext cx="3929380" cy="3412490"/>
            <a:chOff x="819" y="1247"/>
            <a:chExt cx="6188" cy="5374"/>
          </a:xfrm>
        </p:grpSpPr>
        <p:sp>
          <p:nvSpPr>
            <p:cNvPr id="55" name="五角星 54"/>
            <p:cNvSpPr/>
            <p:nvPr/>
          </p:nvSpPr>
          <p:spPr>
            <a:xfrm>
              <a:off x="2847" y="2987"/>
              <a:ext cx="4161" cy="3635"/>
            </a:xfrm>
            <a:prstGeom prst="star5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x="108000" sy="10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 rot="0">
              <a:off x="4063" y="4043"/>
              <a:ext cx="1585" cy="1601"/>
              <a:chOff x="7160" y="900"/>
              <a:chExt cx="4220" cy="3742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7160" y="900"/>
                <a:ext cx="4220" cy="3743"/>
              </a:xfrm>
              <a:prstGeom prst="rect">
                <a:avLst/>
              </a:prstGeom>
            </p:spPr>
          </p:pic>
          <p:grpSp>
            <p:nvGrpSpPr>
              <p:cNvPr id="5" name="Group 550"/>
              <p:cNvGrpSpPr/>
              <p:nvPr/>
            </p:nvGrpSpPr>
            <p:grpSpPr bwMode="auto">
              <a:xfrm>
                <a:off x="8120" y="1770"/>
                <a:ext cx="2977" cy="2318"/>
                <a:chOff x="295" y="3475"/>
                <a:chExt cx="1407" cy="1407"/>
              </a:xfrm>
            </p:grpSpPr>
            <p:sp>
              <p:nvSpPr>
                <p:cNvPr id="13" name="Oval 551"/>
                <p:cNvSpPr>
                  <a:spLocks noChangeArrowheads="1"/>
                </p:cNvSpPr>
                <p:nvPr/>
              </p:nvSpPr>
              <p:spPr bwMode="auto">
                <a:xfrm>
                  <a:off x="295" y="3475"/>
                  <a:ext cx="1407" cy="140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gamma/>
                        <a:shade val="81961"/>
                        <a:invGamma/>
                        <a:alpha val="12000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" name="Group 552"/>
                <p:cNvGrpSpPr/>
                <p:nvPr/>
              </p:nvGrpSpPr>
              <p:grpSpPr bwMode="auto">
                <a:xfrm>
                  <a:off x="473" y="3657"/>
                  <a:ext cx="1057" cy="1055"/>
                  <a:chOff x="-6057" y="-2209"/>
                  <a:chExt cx="2219" cy="2219"/>
                </a:xfrm>
              </p:grpSpPr>
              <p:sp>
                <p:nvSpPr>
                  <p:cNvPr id="15" name="Oval 553"/>
                  <p:cNvSpPr>
                    <a:spLocks noChangeArrowheads="1"/>
                  </p:cNvSpPr>
                  <p:nvPr/>
                </p:nvSpPr>
                <p:spPr bwMode="auto">
                  <a:xfrm>
                    <a:off x="-6056" y="-2132"/>
                    <a:ext cx="2132" cy="213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tx1"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1pPr>
                    <a:lvl2pPr marL="742950" indent="-28575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2pPr>
                    <a:lvl3pPr marL="11430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3pPr>
                    <a:lvl4pPr marL="16002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4pPr>
                    <a:lvl5pPr marL="2057400" indent="-228600" eaLnBrk="0" hangingPunct="0"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defRPr>
                    </a:lvl9pPr>
                  </a:lstStyle>
                  <a:p>
                    <a:pPr eaLnBrk="1" hangingPunct="1"/>
                    <a:endParaRPr lang="zh-CN" altLang="en-US" sz="24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7" name="Group 554"/>
                  <p:cNvGrpSpPr/>
                  <p:nvPr/>
                </p:nvGrpSpPr>
                <p:grpSpPr bwMode="auto">
                  <a:xfrm>
                    <a:off x="-6057" y="-2209"/>
                    <a:ext cx="2219" cy="2219"/>
                    <a:chOff x="-4061" y="-880"/>
                    <a:chExt cx="2219" cy="2219"/>
                  </a:xfrm>
                </p:grpSpPr>
                <p:grpSp>
                  <p:nvGrpSpPr>
                    <p:cNvPr id="8" name="Group 555"/>
                    <p:cNvGrpSpPr/>
                    <p:nvPr/>
                  </p:nvGrpSpPr>
                  <p:grpSpPr bwMode="auto">
                    <a:xfrm>
                      <a:off x="-4061" y="-880"/>
                      <a:ext cx="2219" cy="2219"/>
                      <a:chOff x="-3925" y="-789"/>
                      <a:chExt cx="2219" cy="2219"/>
                    </a:xfrm>
                  </p:grpSpPr>
                  <p:grpSp>
                    <p:nvGrpSpPr>
                      <p:cNvPr id="33" name="Group 556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9" name="Group 55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5" name="AutoShape 55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6" name="AutoShape 55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2" name="Group 560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3" name="AutoShape 56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AutoShape 562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0" name="Group 563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11" name="Group 564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18" name="AutoShape 565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19" name="AutoShape 56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" name="Group 567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37" name="AutoShape 568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8" name="AutoShape 569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1" name="Group 570"/>
                    <p:cNvGrpSpPr/>
                    <p:nvPr/>
                  </p:nvGrpSpPr>
                  <p:grpSpPr bwMode="auto">
                    <a:xfrm rot="1320000">
                      <a:off x="-3746" y="-522"/>
                      <a:ext cx="1555" cy="1554"/>
                      <a:chOff x="-3925" y="-789"/>
                      <a:chExt cx="2219" cy="2219"/>
                    </a:xfrm>
                  </p:grpSpPr>
                  <p:grpSp>
                    <p:nvGrpSpPr>
                      <p:cNvPr id="22" name="Group 571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-3925" y="-788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27" name="Group 57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3" name="AutoShape 57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32" name="AutoShape 57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8" name="Group 575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24" name="AutoShape 576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25" name="AutoShape 577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7" name="Group 578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2700000">
                        <a:off x="-3928" y="-780"/>
                        <a:ext cx="2219" cy="2202"/>
                        <a:chOff x="168" y="696"/>
                        <a:chExt cx="1429" cy="1429"/>
                      </a:xfrm>
                    </p:grpSpPr>
                    <p:grpSp>
                      <p:nvGrpSpPr>
                        <p:cNvPr id="48" name="Group 579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>
                          <a:off x="854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49" name="AutoShape 580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0" name="AutoShape 581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eaVert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1" name="Group 582"/>
                        <p:cNvGrpSpPr>
                          <a:grpSpLocks noChangeAspect="1"/>
                        </p:cNvGrpSpPr>
                        <p:nvPr/>
                      </p:nvGrpSpPr>
                      <p:grpSpPr bwMode="auto">
                        <a:xfrm rot="5400000">
                          <a:off x="855" y="696"/>
                          <a:ext cx="56" cy="1429"/>
                          <a:chOff x="845" y="696"/>
                          <a:chExt cx="56" cy="1429"/>
                        </a:xfrm>
                      </p:grpSpPr>
                      <p:sp>
                        <p:nvSpPr>
                          <p:cNvPr id="52" name="AutoShape 583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845" y="696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10800000"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53" name="AutoShape 584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 flipV="1">
                            <a:off x="845" y="1410"/>
                            <a:ext cx="56" cy="715"/>
                          </a:xfrm>
                          <a:prstGeom prst="triangle">
                            <a:avLst>
                              <a:gd name="adj" fmla="val 50000"/>
                            </a:avLst>
                          </a:prstGeom>
                          <a:solidFill>
                            <a:schemeClr val="bg1">
                              <a:alpha val="18823"/>
                            </a:scheme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1pPr>
                            <a:lvl2pPr marL="742950" indent="-28575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2pPr>
                            <a:lvl3pPr marL="11430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3pPr>
                            <a:lvl4pPr marL="16002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4pPr>
                            <a:lvl5pPr marL="2057400" indent="-228600" eaLnBrk="0" hangingPunct="0"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b="1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微软雅黑" panose="020B0503020204020204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 sz="24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 rot="9120000">
              <a:off x="819" y="1247"/>
              <a:ext cx="6085" cy="3515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PECIAL_SOURCE" val="bdnull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WPS 演示</Application>
  <PresentationFormat>宽屏</PresentationFormat>
  <Paragraphs>70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方正粗黑宋简体</vt:lpstr>
      <vt:lpstr>叶根友毛笔行书2.0版</vt:lpstr>
      <vt:lpstr>Arial</vt:lpstr>
      <vt:lpstr>冬青黑体简体中文 W6</vt:lpstr>
      <vt:lpstr>黑体</vt:lpstr>
      <vt:lpstr>Wingdings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大象</cp:lastModifiedBy>
  <cp:revision>35</cp:revision>
  <dcterms:created xsi:type="dcterms:W3CDTF">2019-06-19T02:08:00Z</dcterms:created>
  <dcterms:modified xsi:type="dcterms:W3CDTF">2020-10-03T04:22:31Z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